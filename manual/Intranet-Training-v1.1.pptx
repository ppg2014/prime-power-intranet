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7fdc91e3-474c-c7c6-fea1-aa70580cc421}">
          <p14:sldIdLst>
            <p14:sldId id="256"/>
            <p14:sldId id="257"/>
            <p14:sldId id="258"/>
            <p14:sldId id="259"/>
          </p14:sldIdLst>
        </p14:section>
        <p14:section name="เริ่มต้นใช้งาน" id="{6c2582d7-c711-451c-9bbd-5bf0e141e3a0}">
          <p14:sldIdLst>
            <p14:sldId id="260"/>
            <p14:sldId id="261"/>
            <p14:sldId id="262"/>
          </p14:sldIdLst>
        </p14:section>
        <p14:section name="ยื่นคำขอและติดตามสถานะ" id="{fb77d55d-d05c-781b-4111-bed2f6cdda77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สำหรับผู้อนุมัติ" id="{48759f17-6cd2-cfe3-d436-1bdfafcae288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เมนูอื่น ๆ ที่ใช้ทุกวัน" id="{4fda34a9-3e6e-71bd-22aa-9bdbbbf5d367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ฟีเจอร์ใหม่ ฉบับ 1.1" id="{8f79e493-2a57-645e-21ca-12ae20fbf4c3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ฝึกปฏิบัติและทดสอบ" id="{a9c91b88-72f2-6c42-e079-b8269f1b9856}">
          <p14:sldIdLst>
            <p14:sldId id="294"/>
            <p14:sldId id="295"/>
            <p14:sldId id="296"/>
            <p14:sldId id="297"/>
          </p14:sldIdLst>
        </p14:section>
        <p14:section name="ปิด" id="{4ee6b60d-7cba-5d08-73d2-234da8946715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แนะนำตัวผู้สอน และบอกว่าวันนี้จะสอนใช้ระบบ Intranet ของบริษัท ตั้งแต่เข้าสู่ระบบ ยื่นคำขอ ติดตามสถานะ อนุมัติ จนถึงเมนูอื่น ๆ ทั้งหมด ใช้เวลาประมาณ 2 ชั่วโมง มีฝึกปฏิบัติและแบบทดสอบท้ายชั่วโมง ให้ผู้เรียนเปิดคอมหรือมือถือพร้อมบัญชี @primepower.co.th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อธิบายหัวข้อและเวลาคร่าว ๆ หัวหน้างานใหม่ให้อยู่ช่วงผู้อนุมัติด้วย ฝ่ายการเงินเน้นหัวข้อแนบสลิป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ไล่ให้ดูว่าระบบมีเมนูอะไรบ้าง ย้ำว่าทุกคำขอที่เคยเป็นกระดาษ ยื่นผ่านเมนูแบบฟอร์มทั้งหมด และระบบส่งต่อผู้อนุมัติให้เองพร้อมแจ้งเตือนทาง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เล่าเรื่องที่จะใช้เป็นตัวอย่างตลอดการอบรม: คุณชัยวัฒน์ซื้อสายไฟและอุปกรณ์ยึดรางเคเบิลเพิ่ม 12,500 บาท เบิกเงินทดรองจ่ายล่วงหน้า ผ่านผู้บังคับบัญชา ผู้บริหาร และการเงินโอนเงินพร้อมแนบสลิป ชื่อและตัวเลขเป็นข้อมูลสมมติ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ส่วนแรก 15 นาที ให้ทุกคนเข้าสู่ระบบพร้อมกัน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ให้ทุกคนเปิดลิงก์และเข้าสู่ระบบพร้อมกัน ใครเข้าไม่ได้ให้ตรวจว่าใช้อีเมลบริษัท ไม่ใช่อีเมลส่วนตัว ถ้าบัญชียังไม่พร้อมให้แจ้ง HR ระบบไม่เก็บรหัสผ่าน การพิมพ์รหัสผ่านทำบนหน้าของ Microsoft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ชี้ส่วนต่าง ๆ ตามตัวเลขสีส้ม เน้นตัวเลขแดงบนเมนูติดตามสถานะ = คำขอรอคุณอนุมัติหรือคำขอของคุณมีความเคลื่อนไหว และบนเมนูประเมินผล = ใบประเมินรอคุณ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ส่วนที่สำคัญที่สุด 40 นาที ให้ผู้เรียนทำตามไปพร้อมกัน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ภาพรวมเส้นทางของคำขอเบิกเงินทดรองจ่าย แต่ละฟอร์มมีเส้นทางต่างกัน ผู้ยื่นไม่ต้องเลือกผู้อนุมัติเอง ระบบหาให้จากข้อมูลบุคลากร ถ้าไปผิดคนแปลว่าข้อมูลหัวหน้าในทะเบียนไม่ถูก ให้แจ้ง 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ให้ผู้เรียนลองค้นหาฟอร์ม หรือกดปุ่มกรองตามฝ่าย แบบฟอร์มแยกตามฝ่ายเจ้าของ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ช่องที่มีดาวแดงต้องกรอก ข้อมูลรหัสพนักงาน ชื่อ ฝ่าย แผนก ระบบดึงจากทะเบียนบุคลากรอัตโนมัติ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เขียนเหตุผลให้ละเอียด ผู้อนุมัติจะได้ไม่ต้องส่งกลับมาถาม แนบหลักฐานทุกครั้ง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เซ็นด้วยเมาส์ให้กดค้างแล้วลาก บนมือถือใช้นิ้ว เซ็นผิดกดล้างลายเซ็น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หลังกดส่ง ระบบส่งการ์ดขออนุมัติใน Teams ให้ผู้อนุมัติลำดับแรกทันที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เมนูติดตามสถานะ กล่องคำขอของฉัน กดเพื่อเปิดรายละเอียด ถ้าค้างนาน ดูชื่อผู้อนุมัติที่รออยู่แล้วติดต่อโดยตรง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ไล่ทีละสถานะ เน้นส่งกลับแก้ไขกับไม่อนุมัติ ต่างกันตรงที่ส่งกลับแก้ไขยังยื่นใหม่ด้วยเลขเดิมได้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ตัวอย่าง: ขอเบิกค่าเช่ารถเครน 8,000 บาท ไม่ได้แนบใบเสนอราคา ผู้จัดการแผนกส่งกลับให้แนบใบเสนอราคา 2 เจ้า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สำหรับหัวหน้างานและฝ่ายการเงิน 20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ตัวอย่างความเห็นที่ดี: อนุมัติ ตรวจใบเสนอราคาแล้ว / กรุณาแนบใบเสนอราคาอย่างน้อย 2 เจ้า / งบโครงการนี้ใช้ครบแล้ว ให้เบิกผ่านงบส่วนกลาง ถ้าขึ้นว่ามีคนดำเนินการไปแล้ว ไม่ต้องกดซ้ำ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สาธิตบนแอป Teams จริงของผู้สอน ให้หัวหน้างานลองเปิดเมนู Approvals ในเครื่องตัวเอง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สาธิตการแคปหน้าจอสลิปจากแอปธนาคารแล้วกด Ctrl+V วาง ถ้าแถบด้านล่างขึ้นสีแดง แปลว่าส่ง Teams ไม่สำเร็จ แต่การอนุมัติบันทึกแล้ว ให้แจ้งผู้ยื่นทางอื่น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ความเห็นอาจบอกว่าอนุมัติไม่เต็มจำนวน จึงต้องอ่านทุกครั้ง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เปิดคำขอแล้วกดส่งออกเป็นเอกสาร (PDF) ด้านล่างหน้าต่าง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4 ประมาณ 25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ดูตารางห้องว่างด้านล่างก่อนจอง ถ้าตารางไม่ขึ้นกดเปิดปฏิทินเต็มจอ หรือจองผ่าน Outlook แบบเดิมได้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หัวหน้า: เมนูประเมินผลบุคลากร → แท็บทีมของฉัน → ประเมิน → ให้คะแนน 1–10 ทุกข้อ (ดูเกณฑ์ที่แถบซ้าย) → เซ็นช่องผู้ประเมิน → บันทึกและส่ง ส่งแล้วคะแนนถูกล็อก ขั้นที่ 2 และ 3 ทำพร้อมกันได้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พนักงานใหม่ทุกคนต้องผ่านขั้นตอนนี้ในการประเมินทดลองงาน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ให้ผู้เรียนหาเบอร์ต่อของหัวหน้าตัวเอง และหาแผนกของตัวเองในผังองค์กร ข้อมูลผิดแจ้ง 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ความคิดเห็นส่งถึงฝ่ายบริหารโดยตรง เลือกไม่ระบุชื่อได้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ให้ทุกคนเพิ่มไอคอนลงหน้าจอหลักของมือถือ iPhone: ปุ่มแชร์ → เพิ่มไปยังหน้าจอโฮม · Android: ⋮ → ติดตั้งแอป / เพิ่มลงในหน้าจอหลัก จะได้ไอคอน Intranet เปิดเต็มจอเหมือนแอป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นาที · ผู้ขอซื้อ ผู้อนุมัติ PR และฝ่ายจัดซื้อควรอยู่ฟังส่วนนี้ (คู่มือบท N1–N5)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แบบฟอร์ม FM-PUR-004 เส้นทางมี 5 ขั้น เลข 0 คือผู้ขอซื้อ ขั้นผู้อำนวยการโครงการไม่บังคับ ถ้าโครงการไม่มีผู้อำนวยการ ระบบข้ามให้เอง ฝ่ายจัดซื้อได้รับแจ้งตั้งแต่ยื่นเพื่อเตรียมงาน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สาธิตการพิมพ์ชื่อโครงการแล้วเลือกจากรายการ ให้สังเกตข้อความใต้ช่องที่เปลี่ยนตามโครงการที่เลือก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ถ้าลืมเซ็นแล้วกดอนุมัติ ระบบจะเตือนว่า กรุณาลงลายเซ็นก่อนกดอนุมัติ ลายเซ็นอัปโหลดเป็นรูป PNG/JPG 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ฝ่ายจัดซื้อไม่มีปุ่มอนุมัติ ใช้กล่องอัปเดตสถานะ ทุกครั้งที่บันทึกจะขึ้นในเส้นทางอนุมัติให้ผู้ยื่นเห็น อย่ากดอนุมัติในการ์ด Teams ของขั้นจัดซื้อ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สาธิตเลือกส่งของแล้วแล้วกดบันทึก ให้เห็นกล่องยืนยัน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ให้ผู้เรียนลองค้นหาเบอร์ต่อของ HR ด้วยช่องค้นหา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คำขอที่ค้างก่อนวันลา แอดมินกดส่งแจ้งอนุมัติใหม่ในคำขอ เพื่อส่งให้ผู้ปฏิบัติแทน เมื่อพ้นวันที่กำหนดระบบกลับไปใช้ผู้อนุมัติตัวจริงเอง สำหรับแอดมิน: การตั้งเส้นทางอนุมัติแบบใหม่อยู่ในคู่มือบท N5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นาทีสุดท้าย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ผู้สอนเข้าระบบในฐานะผู้อนุมัติของ Memo เพื่อส่งกลับแก้ไขให้ผู้เรียนฝึก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ผู้ดูแลระบบ: งานเทคโนโลยีสารสนเทศ ต่อ 216 it@primepower.co.th จันทร์–ศุกร์ 08:30–17:30 น. แจ้งเลขที่คำขอและแคปหน้าจอทุกครั้ง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เฉลย: 1) บัญชี Microsoft 365 @primepower.co.th  2) คำขอที่รอคุณอนุมัติ หรือคำขอของคุณที่มีความเคลื่อนไหว  3) อ่านเหตุผล แล้วกดแก้ไขและยื่นใหม่  4) ทั้งเว็บ Intranet และ Teams → Approvals  5) 3 วิธี: เลือกไฟล์ ลากวาง Ctrl+V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ปิดการอบรม ย้ำว่าคู่มือฉบับเต็มและไฟล์ PDF อยู่ในหน้าแรกของระบบ ตรวจเช็กลิสต์สัปดาห์แรกในคู่มือบทที่ 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5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15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1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5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5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50" dirty="0"/>
          </a:p>
        </p:txBody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371600" cy="3040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อบรมการใช้งานระบบ Intranet · Prime Power Group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31520" y="8229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ime Power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87552"/>
            <a:ext cx="2834640" cy="62834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อบรมการใช้งานระบบ Intranet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สำหรับพนักงานใหม่และผู้ใช้งานทุกระดับ · พร้อมตัวอย่างงานจริงทีละขั้นตอน</a:t>
            </a:r>
            <a:endParaRPr lang="en-US" sz="2450" dirty="0"/>
          </a:p>
        </p:txBody>
      </p:sp>
      <p:sp>
        <p:nvSpPr>
          <p:cNvPr id="6" name="meta-0"/>
          <p:cNvSpPr/>
          <p:nvPr/>
        </p:nvSpPr>
        <p:spPr>
          <a:xfrm>
            <a:off x="73152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ใช้เวลา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ประมาณ 2 ชั่วโมง</a:t>
            </a:r>
            <a:endParaRPr lang="en-US" sz="1600" dirty="0"/>
          </a:p>
        </p:txBody>
      </p:sp>
      <p:sp>
        <p:nvSpPr>
          <p:cNvPr id="8" name="meta-1"/>
          <p:cNvSpPr/>
          <p:nvPr/>
        </p:nvSpPr>
        <p:spPr>
          <a:xfrm>
            <a:off x="434340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ฉบับที่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1.1 · 16 ต.ค. 2569</a:t>
            </a:r>
            <a:endParaRPr lang="en-US" sz="1600" dirty="0"/>
          </a:p>
        </p:txBody>
      </p:sp>
      <p:sp>
        <p:nvSpPr>
          <p:cNvPr id="10" name="meta-2"/>
          <p:cNvSpPr/>
          <p:nvPr/>
        </p:nvSpPr>
        <p:spPr>
          <a:xfrm>
            <a:off x="795528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คู่มือฉบับเต็ม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เมนูหน้าแรก → คู่มือการใช้งาน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วันนี้เราจะเรียนอะไรบ้าง</a:t>
            </a:r>
            <a:endParaRPr lang="en-US" sz="4050" dirty="0"/>
          </a:p>
        </p:txBody>
      </p:sp>
      <p:sp>
        <p:nvSpPr>
          <p:cNvPr id="3" name="agenda-0"/>
          <p:cNvSpPr/>
          <p:nvPr/>
        </p:nvSpPr>
        <p:spPr>
          <a:xfrm>
            <a:off x="457200" y="1280160"/>
            <a:ext cx="11274552" cy="768096"/>
          </a:xfrm>
          <a:prstGeom prst="roundRect">
            <a:avLst>
              <a:gd name="adj" fmla="val 1190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08176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08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1</a:t>
            </a:r>
            <a:endParaRPr lang="en-US" sz="245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28016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เริ่มต้นใช้งาน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8016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เข้าสู่ระบบ · PDPA · หน้าแรกและเมนู</a:t>
            </a:r>
            <a:endParaRPr lang="en-US" sz="2050" dirty="0"/>
          </a:p>
        </p:txBody>
      </p:sp>
      <p:sp>
        <p:nvSpPr>
          <p:cNvPr id="8" name="Text 6"/>
          <p:cNvSpPr txBox="1"/>
          <p:nvPr/>
        </p:nvSpPr>
        <p:spPr>
          <a:xfrm>
            <a:off x="10149840" y="128016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50" b="1" dirty="0">
                <a:solidFill>
                  <a:schemeClr val="accent1"/>
                </a:solidFill>
              </a:rPr>
              <a:t>15 นาที</a:t>
            </a:r>
            <a:endParaRPr lang="en-US" sz="2050" dirty="0"/>
          </a:p>
        </p:txBody>
      </p:sp>
      <p:sp>
        <p:nvSpPr>
          <p:cNvPr id="9" name="agenda-1"/>
          <p:cNvSpPr/>
          <p:nvPr/>
        </p:nvSpPr>
        <p:spPr>
          <a:xfrm>
            <a:off x="457200" y="2148840"/>
            <a:ext cx="11274552" cy="768096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276856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276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2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14884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ยื่นคำขอและติดตาม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4884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กรอกแบบฟอร์ม · ติดตามสถานะ · ส่งกลับแก้ไข · PDF</a:t>
            </a:r>
            <a:endParaRPr lang="en-US" sz="205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214884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50" b="1" dirty="0">
                <a:solidFill>
                  <a:schemeClr val="accent1"/>
                </a:solidFill>
              </a:rPr>
              <a:t>40 นาที</a:t>
            </a:r>
            <a:endParaRPr lang="en-US" sz="2050" dirty="0"/>
          </a:p>
        </p:txBody>
      </p:sp>
      <p:sp>
        <p:nvSpPr>
          <p:cNvPr id="15" name="agenda-2"/>
          <p:cNvSpPr/>
          <p:nvPr/>
        </p:nvSpPr>
        <p:spPr>
          <a:xfrm>
            <a:off x="457200" y="3017520"/>
            <a:ext cx="11274552" cy="768096"/>
          </a:xfrm>
          <a:prstGeom prst="roundRect">
            <a:avLst>
              <a:gd name="adj" fmla="val 1190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145536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145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3</a:t>
            </a:r>
            <a:endParaRPr lang="en-US" sz="24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01752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สำหรับผู้อนุมัติ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01752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อนุมัติในเว็บ · Teams · การเงินแนบสลิป</a:t>
            </a:r>
            <a:endParaRPr lang="en-US" sz="205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301752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50" b="1" dirty="0">
                <a:solidFill>
                  <a:schemeClr val="accent1"/>
                </a:solidFill>
              </a:rPr>
              <a:t>20 นาที</a:t>
            </a:r>
            <a:endParaRPr lang="en-US" sz="2050" dirty="0"/>
          </a:p>
        </p:txBody>
      </p:sp>
      <p:sp>
        <p:nvSpPr>
          <p:cNvPr id="21" name="agenda-3"/>
          <p:cNvSpPr/>
          <p:nvPr/>
        </p:nvSpPr>
        <p:spPr>
          <a:xfrm>
            <a:off x="457200" y="3886200"/>
            <a:ext cx="11274552" cy="768096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014216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4</a:t>
            </a:r>
            <a:endParaRPr lang="en-US" sz="245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388620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เมนูอื่น ๆ</a:t>
            </a:r>
            <a:endParaRPr lang="en-US" sz="27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88620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ห้องประชุม · ประเมินผล · บุคลากร · ติดต่อ · มือถือ</a:t>
            </a:r>
            <a:endParaRPr lang="en-US" sz="205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388620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50" b="1" dirty="0">
                <a:solidFill>
                  <a:schemeClr val="accent1"/>
                </a:solidFill>
              </a:rPr>
              <a:t>25 นาที</a:t>
            </a:r>
            <a:endParaRPr lang="en-US" sz="2050" dirty="0"/>
          </a:p>
        </p:txBody>
      </p:sp>
      <p:sp>
        <p:nvSpPr>
          <p:cNvPr id="27" name="agenda-4"/>
          <p:cNvSpPr/>
          <p:nvPr/>
        </p:nvSpPr>
        <p:spPr>
          <a:xfrm>
            <a:off x="457200" y="4754880"/>
            <a:ext cx="11274552" cy="768096"/>
          </a:xfrm>
          <a:prstGeom prst="roundRect">
            <a:avLst>
              <a:gd name="adj" fmla="val 1190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882896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882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5</a:t>
            </a:r>
            <a:endParaRPr lang="en-US" sz="245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475488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ฟีเจอร์ใหม่ ฉบับ 1.1</a:t>
            </a:r>
            <a:endParaRPr lang="en-US" sz="27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475488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ใบขอสั่งซื้อ (PR) · ฝ่ายจัดซื้อ · ค้นหาทั้งเว็บ · ผู้ปฏิบัติแทน</a:t>
            </a:r>
            <a:endParaRPr lang="en-US" sz="205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475488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50" b="1" dirty="0">
                <a:solidFill>
                  <a:schemeClr val="accent1"/>
                </a:solidFill>
              </a:rPr>
              <a:t>15 นาที</a:t>
            </a:r>
            <a:endParaRPr lang="en-US" sz="2050" dirty="0"/>
          </a:p>
        </p:txBody>
      </p:sp>
      <p:sp>
        <p:nvSpPr>
          <p:cNvPr id="33" name="agenda-5"/>
          <p:cNvSpPr/>
          <p:nvPr/>
        </p:nvSpPr>
        <p:spPr>
          <a:xfrm>
            <a:off x="457200" y="5623560"/>
            <a:ext cx="11274552" cy="768096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5751576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751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6</a:t>
            </a:r>
            <a:endParaRPr lang="en-US" sz="2450" dirty="0"/>
          </a:p>
        </p:txBody>
      </p:sp>
      <p:sp>
        <p:nvSpPr>
          <p:cNvPr id="36" name="Text 34"/>
          <p:cNvSpPr txBox="1"/>
          <p:nvPr/>
        </p:nvSpPr>
        <p:spPr>
          <a:xfrm>
            <a:off x="1463040" y="562356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chemeClr val="tx2"/>
                </a:solidFill>
              </a:rPr>
              <a:t>ฝึกปฏิบัติและทดสอบ</a:t>
            </a:r>
            <a:endParaRPr lang="en-US" sz="27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5623560"/>
            <a:ext cx="5394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แบบฝึก 3 ชุด · ปัญหาที่พบบ่อย · แบบทดสอบ</a:t>
            </a:r>
            <a:endParaRPr lang="en-US" sz="205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5623560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50" b="1" dirty="0">
                <a:solidFill>
                  <a:schemeClr val="accent1"/>
                </a:solidFill>
              </a:rPr>
              <a:t>20 นาที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Intranet: ทำงานเอกสารครบในที่เดียว</a:t>
            </a:r>
            <a:endParaRPr lang="en-US" sz="4050" dirty="0"/>
          </a:p>
        </p:txBody>
      </p:sp>
      <p:sp>
        <p:nvSpPr>
          <p:cNvPr id="3" name="menu-0"/>
          <p:cNvSpPr/>
          <p:nvPr/>
        </p:nvSpPr>
        <p:spPr>
          <a:xfrm>
            <a:off x="457200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2763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📋</a:t>
            </a:r>
            <a:endParaRPr lang="en-US" sz="3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แบบฟอร์มทั้งหมด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ยื่นคำขอแทนกระดาษ</a:t>
            </a:r>
            <a:endParaRPr lang="en-US" sz="1800" dirty="0"/>
          </a:p>
        </p:txBody>
      </p:sp>
      <p:sp>
        <p:nvSpPr>
          <p:cNvPr id="8" name="menu-1"/>
          <p:cNvSpPr/>
          <p:nvPr/>
        </p:nvSpPr>
        <p:spPr>
          <a:xfrm>
            <a:off x="3310128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🔎</a:t>
            </a:r>
            <a:endParaRPr lang="en-US" sz="325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ติดตามสถานะ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ดูว่าคำขอถึงใคร · อนุมัติ</a:t>
            </a:r>
            <a:endParaRPr lang="en-US" sz="1800" dirty="0"/>
          </a:p>
        </p:txBody>
      </p:sp>
      <p:sp>
        <p:nvSpPr>
          <p:cNvPr id="13" name="menu-2"/>
          <p:cNvSpPr/>
          <p:nvPr/>
        </p:nvSpPr>
        <p:spPr>
          <a:xfrm>
            <a:off x="6163056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162763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7376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📜</a:t>
            </a:r>
            <a:endParaRPr lang="en-US" sz="32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นโยบายบริษัท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ระเบียบที่บังคับใช้</a:t>
            </a:r>
            <a:endParaRPr lang="en-US" sz="1800" dirty="0"/>
          </a:p>
        </p:txBody>
      </p:sp>
      <p:sp>
        <p:nvSpPr>
          <p:cNvPr id="18" name="menu-3"/>
          <p:cNvSpPr/>
          <p:nvPr/>
        </p:nvSpPr>
        <p:spPr>
          <a:xfrm>
            <a:off x="9015984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90304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📅</a:t>
            </a:r>
            <a:endParaRPr lang="en-US" sz="3250" dirty="0"/>
          </a:p>
        </p:txBody>
      </p:sp>
      <p:sp>
        <p:nvSpPr>
          <p:cNvPr id="21" name="Text 19"/>
          <p:cNvSpPr txBox="1"/>
          <p:nvPr/>
        </p:nvSpPr>
        <p:spPr>
          <a:xfrm>
            <a:off x="9290304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จองห้องประชุม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นัดใน Outlook อัตโนมัติ</a:t>
            </a:r>
            <a:endParaRPr lang="en-US" sz="1800" dirty="0"/>
          </a:p>
        </p:txBody>
      </p:sp>
      <p:sp>
        <p:nvSpPr>
          <p:cNvPr id="23" name="menu-4"/>
          <p:cNvSpPr/>
          <p:nvPr/>
        </p:nvSpPr>
        <p:spPr>
          <a:xfrm>
            <a:off x="457200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0507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📚</a:t>
            </a:r>
            <a:endParaRPr lang="en-US" sz="32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เอกสาร/คู่มือ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คู่มือ ISO ไฟล์ต้นแบบ</a:t>
            </a:r>
            <a:endParaRPr lang="en-US" sz="1800" dirty="0"/>
          </a:p>
        </p:txBody>
      </p:sp>
      <p:sp>
        <p:nvSpPr>
          <p:cNvPr id="28" name="menu-5"/>
          <p:cNvSpPr/>
          <p:nvPr/>
        </p:nvSpPr>
        <p:spPr>
          <a:xfrm>
            <a:off x="3310128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84448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84448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⭐</a:t>
            </a:r>
            <a:endParaRPr lang="en-US" sz="3250" dirty="0"/>
          </a:p>
        </p:txBody>
      </p:sp>
      <p:sp>
        <p:nvSpPr>
          <p:cNvPr id="31" name="Text 29"/>
          <p:cNvSpPr txBox="1"/>
          <p:nvPr/>
        </p:nvSpPr>
        <p:spPr>
          <a:xfrm>
            <a:off x="3584448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ประเมินผลบุคลากร</a:t>
            </a:r>
            <a:endParaRPr lang="en-US" sz="2300" dirty="0"/>
          </a:p>
        </p:txBody>
      </p:sp>
      <p:sp>
        <p:nvSpPr>
          <p:cNvPr id="32" name="Text 30"/>
          <p:cNvSpPr txBox="1"/>
          <p:nvPr/>
        </p:nvSpPr>
        <p:spPr>
          <a:xfrm>
            <a:off x="3584448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ประเมิน ลงนาม ดูประวัติ</a:t>
            </a:r>
            <a:endParaRPr lang="en-US" sz="1800" dirty="0"/>
          </a:p>
        </p:txBody>
      </p:sp>
      <p:sp>
        <p:nvSpPr>
          <p:cNvPr id="33" name="menu-6"/>
          <p:cNvSpPr/>
          <p:nvPr/>
        </p:nvSpPr>
        <p:spPr>
          <a:xfrm>
            <a:off x="6163056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7376" y="400507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👥</a:t>
            </a:r>
            <a:endParaRPr lang="en-US" sz="3250" dirty="0"/>
          </a:p>
        </p:txBody>
      </p:sp>
      <p:sp>
        <p:nvSpPr>
          <p:cNvPr id="36" name="Text 34"/>
          <p:cNvSpPr txBox="1"/>
          <p:nvPr/>
        </p:nvSpPr>
        <p:spPr>
          <a:xfrm>
            <a:off x="6437376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บุคลากร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6437376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เบอร์ต่อ อีเมล ผังองค์กร</a:t>
            </a:r>
            <a:endParaRPr lang="en-US" sz="1800" dirty="0"/>
          </a:p>
        </p:txBody>
      </p:sp>
      <p:sp>
        <p:nvSpPr>
          <p:cNvPr id="38" name="menu-7"/>
          <p:cNvSpPr/>
          <p:nvPr/>
        </p:nvSpPr>
        <p:spPr>
          <a:xfrm>
            <a:off x="9015984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90304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90304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☎️</a:t>
            </a:r>
            <a:endParaRPr lang="en-US" sz="3250" dirty="0"/>
          </a:p>
        </p:txBody>
      </p:sp>
      <p:sp>
        <p:nvSpPr>
          <p:cNvPr id="41" name="Text 39"/>
          <p:cNvSpPr txBox="1"/>
          <p:nvPr/>
        </p:nvSpPr>
        <p:spPr>
          <a:xfrm>
            <a:off x="9290304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ติดต่อ</a:t>
            </a:r>
            <a:endParaRPr lang="en-US" sz="2300" dirty="0"/>
          </a:p>
        </p:txBody>
      </p:sp>
      <p:sp>
        <p:nvSpPr>
          <p:cNvPr id="42" name="Text 40"/>
          <p:cNvSpPr txBox="1"/>
          <p:nvPr/>
        </p:nvSpPr>
        <p:spPr>
          <a:xfrm>
            <a:off x="9290304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สมุดโทรศัพท์ · ความคิดเห็น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ตัวอย่างงานจริงที่จะเดินไปด้วยกันวันนี้</a:t>
            </a:r>
            <a:endParaRPr lang="en-US" sz="4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dirty="0">
                <a:solidFill>
                  <a:schemeClr val="accent5"/>
                </a:solidFill>
              </a:rPr>
              <a:t>คุณชัยวัฒน์ขอเบิกเงินทดรองจ่าย 12,500 บาท ค่าวัสดุติดตั้งหน้างานโครงการบางปะกง (ข้อมูลตัวอย่าง)</a:t>
            </a:r>
            <a:endParaRPr lang="en-US" sz="2150" dirty="0"/>
          </a:p>
        </p:txBody>
      </p:sp>
      <p:sp>
        <p:nvSpPr>
          <p:cNvPr id="4" name="cast-0"/>
          <p:cNvSpPr/>
          <p:nvPr/>
        </p:nvSpPr>
        <p:spPr>
          <a:xfrm>
            <a:off x="457200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ต</a:t>
            </a:r>
            <a:endParaRPr lang="en-US" sz="4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คุณชัยวัฒน์ พูนผล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วิศวกรออกแบบระบบไฟฟ้า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ผู้ยื่นคำขอ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3090672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12" name="cast-1"/>
          <p:cNvSpPr/>
          <p:nvPr/>
        </p:nvSpPr>
        <p:spPr>
          <a:xfrm>
            <a:off x="3310128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78808" y="214884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78808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ธ</a:t>
            </a:r>
            <a:endParaRPr lang="en-US" sz="405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คุณธีรพงศ์ สายทอง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ผู้จัดการแผนก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3721608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21608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อนุมัติลำดับ 1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20" name="cast-2"/>
          <p:cNvSpPr/>
          <p:nvPr/>
        </p:nvSpPr>
        <p:spPr>
          <a:xfrm>
            <a:off x="6163056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214884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3173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ส</a:t>
            </a:r>
            <a:endParaRPr lang="en-US" sz="405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คุณสมชาย วัฒนกิจ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กรรมการผู้จัดการ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574536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74536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อนุมัติลำดับ 2</a:t>
            </a:r>
            <a:endParaRPr lang="en-US" sz="175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28" name="cast-3"/>
          <p:cNvSpPr/>
          <p:nvPr/>
        </p:nvSpPr>
        <p:spPr>
          <a:xfrm>
            <a:off x="9015984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84664" y="21488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84664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อ</a:t>
            </a:r>
            <a:endParaRPr lang="en-US" sz="4050" dirty="0"/>
          </a:p>
        </p:txBody>
      </p:sp>
      <p:sp>
        <p:nvSpPr>
          <p:cNvPr id="31" name="Text 29"/>
          <p:cNvSpPr txBox="1"/>
          <p:nvPr/>
        </p:nvSpPr>
        <p:spPr>
          <a:xfrm>
            <a:off x="9107424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คุณอรวรรณ พงษ์เจริญ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153144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ฝ่ายบัญชีและการเงิน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9427464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27464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โอนเงิน + แนบสลิป</a:t>
            </a:r>
            <a:endParaRPr lang="en-US" sz="1750" dirty="0"/>
          </a:p>
        </p:txBody>
      </p:sp>
      <p:sp>
        <p:nvSpPr>
          <p:cNvPr id="35" name="callout-note"/>
          <p:cNvSpPr/>
          <p:nvPr/>
        </p:nvSpPr>
        <p:spPr>
          <a:xfrm>
            <a:off x="457200" y="507492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5074920"/>
            <a:ext cx="10945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ภาพหน้าจอทุกภาพในสไลด์ถ่ายจากระบบจริง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วงกลมสีส้มพร้อมตัวเลข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ชี้จุดที่ต้องดูหรือกด ตรงกับคำอธิบายข้างภาพ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เริ่มต้นใช้งาน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เข้าสู่ระบบ · นโยบาย PDPA · หน้าแรกและเมนู</a:t>
            </a:r>
            <a:endParaRPr lang="en-US" sz="2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เข้าสู่ระบบด้วยบัญชี Microsoft 365</a:t>
            </a:r>
            <a:endParaRPr lang="en-US" sz="4050" dirty="0"/>
          </a:p>
        </p:txBody>
      </p:sp>
      <p:sp>
        <p:nvSpPr>
          <p:cNvPr id="3" name="frame-01-login"/>
          <p:cNvSpPr/>
          <p:nvPr/>
        </p:nvSpPr>
        <p:spPr>
          <a:xfrm>
            <a:off x="420624" y="155219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01-login" descr="01-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877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533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25880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เปิด Edge / Chrome ไปที่ลิงก์ระบบ แล้ว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กดดาวบันทึกไว้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7589520" y="219430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1943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166874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เข้าสู่ระบบด้วยบัญชี Microsoft 365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(หมายเลข 1 ในภาพ)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7589520" y="30353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0353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3007868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ใส่อีเมล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@primepower.co.th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และรหัสผ่านเดียวกับ Outlook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7589520" y="387629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8762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3848862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ครั้งแรก Microsoft ถามขออนุญาต 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Accept</a:t>
            </a:r>
            <a:endParaRPr lang="en-US" sz="1900" dirty="0"/>
          </a:p>
        </p:txBody>
      </p:sp>
      <p:sp>
        <p:nvSpPr>
          <p:cNvPr id="17" name="num-5"/>
          <p:cNvSpPr/>
          <p:nvPr/>
        </p:nvSpPr>
        <p:spPr>
          <a:xfrm>
            <a:off x="7589520" y="471728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471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065008" y="4689856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อ่านนโยบาย PDPA ที่ลิงก์ใต้ปุ่ม (หมายเลข 2)</a:t>
            </a:r>
            <a:endParaRPr lang="en-US" sz="1900" dirty="0"/>
          </a:p>
        </p:txBody>
      </p:sp>
      <p:sp>
        <p:nvSpPr>
          <p:cNvPr id="20" name="callout-warn"/>
          <p:cNvSpPr/>
          <p:nvPr/>
        </p:nvSpPr>
        <p:spPr>
          <a:xfrm>
            <a:off x="7589520" y="553212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54112" y="5532120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ไม่ใช้งาน 60 นาที ระบบออกให้เอง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หน้าแรก: ทุกอย่างที่ใช้บ่อยอยู่ตรงนี้</a:t>
            </a:r>
            <a:endParaRPr lang="en-US" sz="4050" dirty="0"/>
          </a:p>
        </p:txBody>
      </p:sp>
      <p:sp>
        <p:nvSpPr>
          <p:cNvPr id="3" name="frame-04-home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04-home" descr="04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เมนูหลัก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ตัวเลขแดง = งานที่รอคุณ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8366760" y="22400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12594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ภาพรวมโครงการ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ทั้งหมด / กำลังทำ / ล่าช้า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8366760" y="30810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053588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แบบฟอร์มที่ใช้บ่อย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กดแล้วกรอกได้เลย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8366760" y="3922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922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894582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ข่าวประกาศ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กดอ่านพร้อมรูปแนบ</a:t>
            </a:r>
            <a:endParaRPr lang="en-US" sz="1900" dirty="0"/>
          </a:p>
        </p:txBody>
      </p:sp>
      <p:sp>
        <p:nvSpPr>
          <p:cNvPr id="17" name="num-5"/>
          <p:cNvSpPr/>
          <p:nvPr/>
        </p:nvSpPr>
        <p:spPr>
          <a:xfrm>
            <a:off x="8366760" y="47630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476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842248" y="4735576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คู่มือการใช้งาน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รวมคู่มือฉบับเต็ม</a:t>
            </a:r>
            <a:endParaRPr lang="en-US" sz="1900" dirty="0"/>
          </a:p>
        </p:txBody>
      </p:sp>
      <p:sp>
        <p:nvSpPr>
          <p:cNvPr id="20" name="callout-tip"/>
          <p:cNvSpPr/>
          <p:nvPr/>
        </p:nvSpPr>
        <p:spPr>
          <a:xfrm>
            <a:off x="8366760" y="52578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31352" y="525780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ประกาศสำคัญจะเด้งขึ้นหลังเข้าสู่ระบบ 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รับทราบ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เพื่อปิด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2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ยื่นคำขอและติดตามสถานะ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ตัวอย่างจริง: ขอเบิกเงินทดรองจ่าย 12,500 บาท</a:t>
            </a:r>
            <a:endParaRPr lang="en-US" sz="2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คำขอหนึ่งใบเดินทางอย่างไร</a:t>
            </a:r>
            <a:endParaRPr lang="en-US" sz="4050" dirty="0"/>
          </a:p>
        </p:txBody>
      </p:sp>
      <p:sp>
        <p:nvSpPr>
          <p:cNvPr id="3" name="flow-0"/>
          <p:cNvSpPr/>
          <p:nvPr/>
        </p:nvSpPr>
        <p:spPr>
          <a:xfrm>
            <a:off x="457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ยื่นคำขอ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ชัยวัฒน์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6" name="flow-1"/>
          <p:cNvSpPr/>
          <p:nvPr/>
        </p:nvSpPr>
        <p:spPr>
          <a:xfrm>
            <a:off x="2743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1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ผู้บังคับบัญชา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9" name="flow-2"/>
          <p:cNvSpPr/>
          <p:nvPr/>
        </p:nvSpPr>
        <p:spPr>
          <a:xfrm>
            <a:off x="5029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2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ผู้บริหาร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12" name="flow-3"/>
          <p:cNvSpPr/>
          <p:nvPr/>
        </p:nvSpPr>
        <p:spPr>
          <a:xfrm>
            <a:off x="7315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3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การเงินแนบสลิป</a:t>
            </a:r>
            <a:endParaRPr lang="en-US" sz="255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15" name="flow-4"/>
          <p:cNvSpPr/>
          <p:nvPr/>
        </p:nvSpPr>
        <p:spPr>
          <a:xfrm>
            <a:off x="9601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เสร็จสิ้น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แจ้ง Teams + สลิป</a:t>
            </a:r>
            <a:endParaRPr lang="en-US" sz="2550" dirty="0"/>
          </a:p>
        </p:txBody>
      </p:sp>
      <p:sp>
        <p:nvSpPr>
          <p:cNvPr id="17" name="fact-0"/>
          <p:cNvSpPr/>
          <p:nvPr/>
        </p:nvSpPr>
        <p:spPr>
          <a:xfrm>
            <a:off x="45720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🤖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ระบบหาผู้อนุมัติให้เอง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จากหัวหน้าในทะเบียนบุคลากร และเส้นทางอนุมัติของแต่ละฟอร์ม</a:t>
            </a:r>
            <a:endParaRPr lang="en-US" sz="1900" dirty="0"/>
          </a:p>
        </p:txBody>
      </p:sp>
      <p:sp>
        <p:nvSpPr>
          <p:cNvPr id="21" name="fact-1"/>
          <p:cNvSpPr/>
          <p:nvPr/>
        </p:nvSpPr>
        <p:spPr>
          <a:xfrm>
            <a:off x="425196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🔔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แจ้งเตือนทาง Teams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ผู้อนุมัติได้การ์ดใน Teams → Approvals ทุกครั้งที่ถึงคิว</a:t>
            </a:r>
            <a:endParaRPr lang="en-US" sz="1900" dirty="0"/>
          </a:p>
        </p:txBody>
      </p:sp>
      <p:sp>
        <p:nvSpPr>
          <p:cNvPr id="25" name="fact-2"/>
          <p:cNvSpPr/>
          <p:nvPr/>
        </p:nvSpPr>
        <p:spPr>
          <a:xfrm>
            <a:off x="804672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↩️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ส่งกลับได้ทุกลำดับ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ผู้ยื่นแก้แล้วยื่นใหม่ เริ่มอนุมัติจากลำดับแรก เลขที่เดิม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1: หาแบบฟอร์ม</a:t>
            </a:r>
            <a:endParaRPr lang="en-US" sz="4050" dirty="0"/>
          </a:p>
        </p:txBody>
      </p:sp>
      <p:sp>
        <p:nvSpPr>
          <p:cNvPr id="3" name="frame-10-forms-search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-forms-search" descr="10-forms-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เมนู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แบบฟอร์มทั้งหมด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พิมพ์ในช่องค้นหา เช่น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เบิกเงิน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85083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823401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กดการ์ด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แบบฟอร์มขอเบิกเงินทดรองจ่าย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8366760" y="45262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1352" y="452628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ป้าย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ใช้บ่อย / ต้องอนุมัติ / ใหม่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บนการ์ด ช่วยให้หาง่าย · การ์ด “เปิดระบบ ↗” คือระบบภายนอก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2: กรอกข้อมูลทั่วไป</a:t>
            </a:r>
            <a:endParaRPr lang="en-US" sz="4050" dirty="0"/>
          </a:p>
        </p:txBody>
      </p:sp>
      <p:sp>
        <p:nvSpPr>
          <p:cNvPr id="3" name="frame-12-form-fill1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2-form-fill1" descr="12-form-fill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ชื่อเรื่อง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สั้นและสื่อความ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วันที่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ระบบใส่วันนี้ให้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497963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ชื่อโครงการ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พิมพ์บางคำแล้วเลือกจากรายการ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836676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386582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วันที่ขอใช้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วันที่ต้องใช้เงิน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8366760" y="5074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31352" y="50749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ข้อมูลผู้ยื่น (ช่องสีเทา) ระบบดึงมาให้ ถ้าผิดแจ้ง HR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3: รายละเอียดและไฟล์แนบ</a:t>
            </a:r>
            <a:endParaRPr lang="en-US" sz="4050" dirty="0"/>
          </a:p>
        </p:txBody>
      </p:sp>
      <p:sp>
        <p:nvSpPr>
          <p:cNvPr id="3" name="frame-13-form-fill2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3-form-fill2" descr="13-form-fill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5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เหตุผล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ซื้ออะไร ใช้ที่ไหน ทำไม</a:t>
            </a:r>
            <a:endParaRPr lang="en-US" sz="2050" dirty="0"/>
          </a:p>
        </p:txBody>
      </p:sp>
      <p:sp>
        <p:nvSpPr>
          <p:cNvPr id="8" name="num-6"/>
          <p:cNvSpPr/>
          <p:nvPr/>
        </p:nvSpPr>
        <p:spPr>
          <a:xfrm>
            <a:off x="836676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60219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จำนวนเงิน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ตัวเลขอย่างเดียว เช่น 12500</a:t>
            </a:r>
            <a:endParaRPr lang="en-US" sz="2050" dirty="0"/>
          </a:p>
        </p:txBody>
      </p:sp>
      <p:sp>
        <p:nvSpPr>
          <p:cNvPr id="11" name="num-7"/>
          <p:cNvSpPr/>
          <p:nvPr/>
        </p:nvSpPr>
        <p:spPr>
          <a:xfrm>
            <a:off x="836676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7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148838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+ แนบไฟล์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ใบเสนอราคา / ใบเสร็จ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8366760" y="44805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1352" y="4480560"/>
            <a:ext cx="30540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สูงสุด 5 ไฟล์ ไฟล์ละไม่เกิน 10 MB · รูปภาพหรือ PDF · มือถือถ่ายรูปแนบได้ทันที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4: ลงลายเซ็นและส่งคำขอ</a:t>
            </a:r>
            <a:endParaRPr lang="en-US" sz="4050" dirty="0"/>
          </a:p>
        </p:txBody>
      </p:sp>
      <p:sp>
        <p:nvSpPr>
          <p:cNvPr id="3" name="frame-14-form-sign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4-form-sign" descr="14-form-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8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8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อ่าน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หมายเหตุ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กรอบเหลือง (เงื่อนไขเวลา)</a:t>
            </a:r>
            <a:endParaRPr lang="en-US" sz="2050" dirty="0"/>
          </a:p>
        </p:txBody>
      </p:sp>
      <p:sp>
        <p:nvSpPr>
          <p:cNvPr id="8" name="num-9"/>
          <p:cNvSpPr/>
          <p:nvPr/>
        </p:nvSpPr>
        <p:spPr>
          <a:xfrm>
            <a:off x="836676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9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60219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เซ็น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ในกรอบ หรืออัปโหลดรูปลายเซ็น</a:t>
            </a:r>
            <a:endParaRPr lang="en-US" sz="2050" dirty="0"/>
          </a:p>
        </p:txBody>
      </p:sp>
      <p:sp>
        <p:nvSpPr>
          <p:cNvPr id="11" name="num-10"/>
          <p:cNvSpPr/>
          <p:nvPr/>
        </p:nvSpPr>
        <p:spPr>
          <a:xfrm>
            <a:off x="836676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10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148838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ดาวน์โหลดตัวอย่างเอกสาร (ไม่บังคับ)</a:t>
            </a:r>
            <a:endParaRPr lang="en-US" sz="2050" dirty="0"/>
          </a:p>
        </p:txBody>
      </p:sp>
      <p:sp>
        <p:nvSpPr>
          <p:cNvPr id="14" name="num-11"/>
          <p:cNvSpPr/>
          <p:nvPr/>
        </p:nvSpPr>
        <p:spPr>
          <a:xfrm>
            <a:off x="8366760" y="406488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40648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11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4037457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ส่งคำขอ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5: ตรวจทาน ยืนยัน ได้เลขที่คำขอ</a:t>
            </a:r>
            <a:endParaRPr lang="en-US" sz="4050" dirty="0"/>
          </a:p>
        </p:txBody>
      </p:sp>
      <p:sp>
        <p:nvSpPr>
          <p:cNvPr id="3" name="frame-15-form-confirm"/>
          <p:cNvSpPr/>
          <p:nvPr/>
        </p:nvSpPr>
        <p:spPr>
          <a:xfrm>
            <a:off x="42062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5-form-confirm" descr="15-form-confi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1613"/>
            <a:ext cx="5532120" cy="3457575"/>
          </a:xfrm>
          <a:prstGeom prst="rect">
            <a:avLst/>
          </a:prstGeom>
        </p:spPr>
      </p:pic>
      <p:sp>
        <p:nvSpPr>
          <p:cNvPr id="5" name="frame-16-form-sent"/>
          <p:cNvSpPr/>
          <p:nvPr/>
        </p:nvSpPr>
        <p:spPr>
          <a:xfrm>
            <a:off x="618134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16-form-sent" descr="16-form-s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1613"/>
            <a:ext cx="5532120" cy="34575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349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ตรวจข้อมูลทั้งหมดในหน้าต่างสรุป → ถูกต้องกด ยืนยันส่งคำขอ · ผิดกด กลับไปแก้ไข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ส่งสำเร็จได้ เลขที่คำขอ เช่น FM-ACC-002-001-2026 จดไว้อ้างอิง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ติดตามสถานะ: คำขอถึงใครแล้ว</a:t>
            </a:r>
            <a:endParaRPr lang="en-US" sz="4050" dirty="0"/>
          </a:p>
        </p:txBody>
      </p:sp>
      <p:sp>
        <p:nvSpPr>
          <p:cNvPr id="3" name="frame-18-request-detail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8-request-detail" descr="18-request-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สถานะ ผู้ยื่น เวลายื่น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ข้อมูลที่กรอก · กดไฟล์แนบเพื่อเปิด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เส้นทางอนุมัติ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เขียว = ผ่าน · น้ำเงิน = กำลังรอ (บอกเวลาที่รอ)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แก้ไข / ยกเลิก ได้ก่อนมีคนอนุมัติ</a:t>
            </a:r>
            <a:endParaRPr lang="en-US" sz="2050" dirty="0"/>
          </a:p>
        </p:txBody>
      </p:sp>
      <p:sp>
        <p:nvSpPr>
          <p:cNvPr id="17" name="num-5"/>
          <p:cNvSpPr/>
          <p:nvPr/>
        </p:nvSpPr>
        <p:spPr>
          <a:xfrm>
            <a:off x="7132320" y="39771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3977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3949764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ส่งออกเป็นเอกสาร PDF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ความหมายของสถานะ</a:t>
            </a:r>
            <a:endParaRPr lang="en-US" sz="4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4165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สถานะ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ความหมาย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ต้องทำอะไร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0B5CAD"/>
                          </a:solidFill>
                        </a:rPr>
                        <a:t>รออนุมัติ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อยู่ระหว่างรอผู้อนุมัติ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รอ · ค้างนานติดต่อผู้อนุมัติ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9A5B00"/>
                          </a:solidFill>
                        </a:rPr>
                        <a:t>ส่งกลับแก้ไข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ผู้อนุมัติขอให้แก้หรือเพิ่มข้อมูล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อ่านเหตุผล → แก้ไขและยื่นใหม่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B42318"/>
                          </a:solidFill>
                        </a:rPr>
                        <a:t>ไม่อนุมัติ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ถูกปฏิเสธ จบการพิจารณา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อ่านเหตุผล · ยื่นใหม่ถ้าจำเป็น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E7F4F"/>
                          </a:solidFill>
                        </a:rPr>
                        <a:t>อนุมัติแล้ว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ผ่านครบทุกลำดับ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ดำเนินการตามที่ขอ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E7F4F"/>
                          </a:solidFill>
                        </a:rPr>
                        <a:t>เสร็จสิ้น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ปิดงานแล้ว เช่น โอนเงินแล้ว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ตรวจสลิป · เก็บ PDF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5C6A7A"/>
                          </a:solidFill>
                        </a:rPr>
                        <a:t>ยกเลิก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ผู้ยื่นยกเลิกเอง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ถูกส่งกลับแก้ไข: แก้แล้วยื่นใหม่ได้เลย</a:t>
            </a:r>
            <a:endParaRPr lang="en-US" sz="4050" dirty="0"/>
          </a:p>
        </p:txBody>
      </p:sp>
      <p:sp>
        <p:nvSpPr>
          <p:cNvPr id="3" name="frame-31-sentback-view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31-sentback-view" descr="31-sentback-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สถานะ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ส่งกลับแก้ไข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อ่าน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เหตุผล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ในกรอบสีแดง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แก้ไขและยื่นใหม่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· ข้อมูลเดิมถูกใส่ไว้ให้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หรือ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ยกเลิกคำขอ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(ถาวร)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7132320" y="5120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512064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ยื่นใหม่ใช้เลขที่เดิม และเริ่มอนุมัติจากลำดับแรก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3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สำหรับผู้อนุมัติ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อนุมัติในเว็บ · อนุมัติผ่าน Teams · การเงินแนบสลิปและปิดงาน</a:t>
            </a:r>
            <a:endParaRPr lang="en-US" sz="2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อนุมัติในเว็บ: 3 ปุ่มตัดสินใจ</a:t>
            </a:r>
            <a:endParaRPr lang="en-US" sz="4050" dirty="0"/>
          </a:p>
        </p:txBody>
      </p:sp>
      <p:sp>
        <p:nvSpPr>
          <p:cNvPr id="3" name="frame-20-approver-action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0-approver-action" descr="20-approver-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พิมพ์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ความเห็น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(บังคับเมื่อส่งกลับ/ไม่อนุมัติ) · ผู้ยื่นเห็นเป็นกรอบแดง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✓ 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ส่งต่อลำดับถัดไป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850833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823401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↩ ส่งกลับแก้ไข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คืนให้ผู้ยื่นแก้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✗ ไม่อนุมัติ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ปฏิเสธและจบคำขอ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7132320" y="5120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512064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ตัวเลขแดงที่เมนู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ติดตามสถานะ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คำขอที่ถึงคิวคุณ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อนุมัติผ่าน Microsoft Teams</a:t>
            </a:r>
            <a:endParaRPr lang="en-US" sz="4050" dirty="0"/>
          </a:p>
        </p:txBody>
      </p:sp>
      <p:sp>
        <p:nvSpPr>
          <p:cNvPr id="3" name="num-1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371600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เปิดแอป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Teams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→ แถบซ้าย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Approvals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(ไม่เห็นกด “…” แล้วค้นหา)</a:t>
            </a:r>
            <a:endParaRPr lang="en-US" sz="2150" dirty="0"/>
          </a:p>
        </p:txBody>
      </p:sp>
      <p:sp>
        <p:nvSpPr>
          <p:cNvPr id="6" name="num-2"/>
          <p:cNvSpPr/>
          <p:nvPr/>
        </p:nvSpPr>
        <p:spPr>
          <a:xfrm>
            <a:off x="457200" y="231940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194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291969"/>
            <a:ext cx="6108192" cy="4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แท็บ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Received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→ การ์ด “ขออนุมัติ FM-xxx จาก …”</a:t>
            </a:r>
            <a:endParaRPr lang="en-US" sz="2150" dirty="0"/>
          </a:p>
        </p:txBody>
      </p:sp>
      <p:sp>
        <p:nvSpPr>
          <p:cNvPr id="9" name="num-3"/>
          <p:cNvSpPr/>
          <p:nvPr/>
        </p:nvSpPr>
        <p:spPr>
          <a:xfrm>
            <a:off x="457200" y="289845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984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871026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กดการ์ด อ่านรายละเอียด · ลิงก์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เปิดดูรายละเอียดคำขอ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ไปเว็บ</a:t>
            </a:r>
            <a:endParaRPr lang="en-US" sz="2150" dirty="0"/>
          </a:p>
        </p:txBody>
      </p:sp>
      <p:sp>
        <p:nvSpPr>
          <p:cNvPr id="12" name="num-4"/>
          <p:cNvSpPr/>
          <p:nvPr/>
        </p:nvSpPr>
        <p:spPr>
          <a:xfrm>
            <a:off x="457200" y="381882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81882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791394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เลือก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อนุมัติ / ส่งกลับแก้ไข / ไม่อนุมัติ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· พิมพ์เหตุผลใน Comments</a:t>
            </a:r>
            <a:endParaRPr lang="en-US" sz="2150" dirty="0"/>
          </a:p>
        </p:txBody>
      </p:sp>
      <p:sp>
        <p:nvSpPr>
          <p:cNvPr id="15" name="num-5"/>
          <p:cNvSpPr/>
          <p:nvPr/>
        </p:nvSpPr>
        <p:spPr>
          <a:xfrm>
            <a:off x="457200" y="47391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739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711764"/>
            <a:ext cx="6108192" cy="4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Submit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· สถานะในเว็บเปลี่ยนภายในไม่กี่นาที</a:t>
            </a:r>
            <a:endParaRPr lang="en-US" sz="2150" dirty="0"/>
          </a:p>
        </p:txBody>
      </p:sp>
      <p:sp>
        <p:nvSpPr>
          <p:cNvPr id="18" name="callout-warn"/>
          <p:cNvSpPr/>
          <p:nvPr/>
        </p:nvSpPr>
        <p:spPr>
          <a:xfrm>
            <a:off x="7406640" y="1371600"/>
            <a:ext cx="4343400" cy="1463040"/>
          </a:xfrm>
          <a:prstGeom prst="roundRect">
            <a:avLst>
              <a:gd name="adj" fmla="val 5000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71232" y="1371600"/>
            <a:ext cx="4014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เป็นผู้อนุมัติหลายลำดับในคำขอเดียว จะมีการ์ดชื่อเดียวกัน 2 ใบ — กด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ใบล่าสุด</a:t>
            </a:r>
            <a:endParaRPr lang="en-US" sz="1900" dirty="0"/>
          </a:p>
        </p:txBody>
      </p:sp>
      <p:sp>
        <p:nvSpPr>
          <p:cNvPr id="20" name="callout-note"/>
          <p:cNvSpPr/>
          <p:nvPr/>
        </p:nvSpPr>
        <p:spPr>
          <a:xfrm>
            <a:off x="7406640" y="306324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3063240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อนุมัติในเว็บไปแล้ว การ์ดเก่าใน Teams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ไม่มีผล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ไม่ต้องกดซ้ำ</a:t>
            </a:r>
            <a:endParaRPr lang="en-US" sz="1900" dirty="0"/>
          </a:p>
        </p:txBody>
      </p:sp>
      <p:sp>
        <p:nvSpPr>
          <p:cNvPr id="22" name="callout-tip"/>
          <p:cNvSpPr/>
          <p:nvPr/>
        </p:nvSpPr>
        <p:spPr>
          <a:xfrm>
            <a:off x="7406640" y="457200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71232" y="4572000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เกิน 10 นาทีเว็บยังไม่เปลี่ยน ให้อนุมัติในเว็บและแจ้งผู้ดูแลระบบ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การเงิน: อนุมัติโอนเงิน + แนบสลิป</a:t>
            </a:r>
            <a:endParaRPr lang="en-US" sz="4050" dirty="0"/>
          </a:p>
        </p:txBody>
      </p:sp>
      <p:sp>
        <p:nvSpPr>
          <p:cNvPr id="3" name="frame-22-slip-empty"/>
          <p:cNvSpPr/>
          <p:nvPr/>
        </p:nvSpPr>
        <p:spPr>
          <a:xfrm>
            <a:off x="420624" y="1915097"/>
            <a:ext cx="3776472" cy="2387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2-slip-empty" descr="22-slip-emp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1673"/>
            <a:ext cx="3703320" cy="2314575"/>
          </a:xfrm>
          <a:prstGeom prst="rect">
            <a:avLst/>
          </a:prstGeom>
        </p:spPr>
      </p:pic>
      <p:sp>
        <p:nvSpPr>
          <p:cNvPr id="5" name="frame-23-slip-ready"/>
          <p:cNvSpPr/>
          <p:nvPr/>
        </p:nvSpPr>
        <p:spPr>
          <a:xfrm>
            <a:off x="4306824" y="1915097"/>
            <a:ext cx="3776472" cy="2387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23-slip-ready" descr="23-slip-read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51673"/>
            <a:ext cx="3703320" cy="2314575"/>
          </a:xfrm>
          <a:prstGeom prst="rect">
            <a:avLst/>
          </a:prstGeom>
        </p:spPr>
      </p:pic>
      <p:sp>
        <p:nvSpPr>
          <p:cNvPr id="7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8842248" y="1371600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✓ อนุมัติ (แนบสลิปโอนเงิน)</a:t>
            </a:r>
            <a:endParaRPr lang="en-US" sz="1900" dirty="0"/>
          </a:p>
        </p:txBody>
      </p:sp>
      <p:sp>
        <p:nvSpPr>
          <p:cNvPr id="10" name="num-2"/>
          <p:cNvSpPr/>
          <p:nvPr/>
        </p:nvSpPr>
        <p:spPr>
          <a:xfrm>
            <a:off x="8366760" y="224002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8842248" y="2212594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แนบสลิป: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คลิกเลือกไฟล์ · ลากวาง · Ctrl+V</a:t>
            </a:r>
            <a:endParaRPr lang="en-US" sz="1900" dirty="0"/>
          </a:p>
        </p:txBody>
      </p:sp>
      <p:sp>
        <p:nvSpPr>
          <p:cNvPr id="13" name="num-3"/>
          <p:cNvSpPr/>
          <p:nvPr/>
        </p:nvSpPr>
        <p:spPr>
          <a:xfrm>
            <a:off x="8366760" y="308102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6676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5" name="Text 11"/>
          <p:cNvSpPr txBox="1"/>
          <p:nvPr/>
        </p:nvSpPr>
        <p:spPr>
          <a:xfrm>
            <a:off x="8842248" y="3053588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รอ “✓ แนบแล้ว” แล้วกด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ยืนยันอนุมัติและปิดงาน</a:t>
            </a:r>
            <a:endParaRPr lang="en-US" sz="1900" dirty="0"/>
          </a:p>
        </p:txBody>
      </p:sp>
      <p:sp>
        <p:nvSpPr>
          <p:cNvPr id="16" name="num-4"/>
          <p:cNvSpPr/>
          <p:nvPr/>
        </p:nvSpPr>
        <p:spPr>
          <a:xfrm>
            <a:off x="8366760" y="39220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66760" y="3922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8" name="Text 14"/>
          <p:cNvSpPr txBox="1"/>
          <p:nvPr/>
        </p:nvSpPr>
        <p:spPr>
          <a:xfrm>
            <a:off x="8842248" y="3894582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ระบบปิดงานและ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แจ้งผู้ยื่นทาง Teams พร้อมรูปสลิป</a:t>
            </a:r>
            <a:endParaRPr lang="en-US" sz="1900" dirty="0"/>
          </a:p>
        </p:txBody>
      </p:sp>
      <p:sp>
        <p:nvSpPr>
          <p:cNvPr id="19" name="callout-note"/>
          <p:cNvSpPr/>
          <p:nvPr/>
        </p:nvSpPr>
        <p:spPr>
          <a:xfrm>
            <a:off x="457200" y="521208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1792" y="5212080"/>
            <a:ext cx="7260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ใช้กับ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แบบฟอร์มขอเบิกเงินทดรองจ่าย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และ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แบบฟอร์มเบิกเงินสำรองโครงการ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กดยกเลิก = ยังไม่อนุมัติ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ผู้ยื่นเห็นผล: ความเห็นกรอบแดงและสลิป</a:t>
            </a:r>
            <a:endParaRPr lang="en-US" sz="4050" dirty="0"/>
          </a:p>
        </p:txBody>
      </p:sp>
      <p:sp>
        <p:nvSpPr>
          <p:cNvPr id="3" name="frame-26-request-done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6-request-done" descr="26-request-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ทุกลำดับเป็นจุดเขียว พร้อมชื่อ เวลา และเวลาที่ใช้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ความเห็นผู้อนุมัติ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ในกรอบสีแดง อ่านทุกครั้ง</a:t>
            </a:r>
            <a:endParaRPr lang="en-US" sz="2050" dirty="0"/>
          </a:p>
        </p:txBody>
      </p:sp>
      <p:sp>
        <p:nvSpPr>
          <p:cNvPr id="11" name="callout-tip"/>
          <p:cNvSpPr/>
          <p:nvPr/>
        </p:nvSpPr>
        <p:spPr>
          <a:xfrm>
            <a:off x="7132320" y="324612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24612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ตัวเลขแดงบนเมนูและป้าย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ใหม่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บอกว่าคำขอมีความเคลื่อนไหว เปิดดูแล้วป้ายจะหายไป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66344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663440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เลื่อนลงจะเห็น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หลักฐานการโอนเงิน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กดรูปดูขนาดเต็ม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ส่งออกเอกสาร PDF</a:t>
            </a:r>
            <a:endParaRPr lang="en-US" sz="4050" dirty="0"/>
          </a:p>
        </p:txBody>
      </p:sp>
      <p:sp>
        <p:nvSpPr>
          <p:cNvPr id="3" name="frame-28-export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8-export" descr="28-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ลายเซ็นผู้ยื่น เปลี่ยนได้ →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ใส่ลายเซ็นนี้ในเอกสาร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ตัวอย่างเอกสารมีหัวกระดาษ ข้อมูล และผลอนุมัติจากระบบ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48838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พิมพ์ / บันทึกเป็น PDF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→ เลือก Save as PDF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ฟอร์ม PR, Memo, เบิกค่าเดินทาง และใบรับรองแทนใบเสร็จ ส่งออกเหมือนต้นฉบับกระดาษ ISO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4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เมนูอื่น ๆ ที่ใช้ทุกวัน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ห้องประชุม · ประเมินผล · บุคลากร · ติดต่อ · มือถือ</a:t>
            </a:r>
            <a:endParaRPr lang="en-US" sz="2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จองห้องประชุม: นัดใน Outlook อัตโนมัติ</a:t>
            </a:r>
            <a:endParaRPr lang="en-US" sz="4050" dirty="0"/>
          </a:p>
        </p:txBody>
      </p:sp>
      <p:sp>
        <p:nvSpPr>
          <p:cNvPr id="3" name="frame-50-rooms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0-rooms" descr="50-roo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เลือกห้อง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0735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073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879918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หัวข้อการประชุม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41566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4156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38823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วันที่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8366760" y="292398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9239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2896553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เวลาเริ่ม–สิ้นสุด</a:t>
            </a:r>
            <a:endParaRPr lang="en-US" sz="2050" dirty="0"/>
          </a:p>
        </p:txBody>
      </p:sp>
      <p:sp>
        <p:nvSpPr>
          <p:cNvPr id="17" name="num-5"/>
          <p:cNvSpPr/>
          <p:nvPr/>
        </p:nvSpPr>
        <p:spPr>
          <a:xfrm>
            <a:off x="8366760" y="343230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343230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842248" y="340487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อีเมลผู้เข้าร่วม คั่นด้วย ,</a:t>
            </a:r>
            <a:endParaRPr lang="en-US" sz="2050" dirty="0"/>
          </a:p>
        </p:txBody>
      </p:sp>
      <p:sp>
        <p:nvSpPr>
          <p:cNvPr id="20" name="num-6"/>
          <p:cNvSpPr/>
          <p:nvPr/>
        </p:nvSpPr>
        <p:spPr>
          <a:xfrm>
            <a:off x="8366760" y="426605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42660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22" name="Text 19"/>
          <p:cNvSpPr txBox="1"/>
          <p:nvPr/>
        </p:nvSpPr>
        <p:spPr>
          <a:xfrm>
            <a:off x="8842248" y="423862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จองห้อง</a:t>
            </a:r>
            <a:endParaRPr lang="en-US" sz="2050" dirty="0"/>
          </a:p>
        </p:txBody>
      </p:sp>
      <p:sp>
        <p:nvSpPr>
          <p:cNvPr id="23" name="callout-tip"/>
          <p:cNvSpPr/>
          <p:nvPr/>
        </p:nvSpPr>
        <p:spPr>
          <a:xfrm>
            <a:off x="83667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31352" y="48920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ครั้งแรกอาจขออนุญาตปฏิทิน กดยอมรับ · ยกเลิก/เลื่อนนัดทำใน Outlook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ประเมินผลบุคลากร: หัวหน้าประเมิน</a:t>
            </a:r>
            <a:endParaRPr lang="en-US" sz="4050" dirty="0"/>
          </a:p>
        </p:txBody>
      </p:sp>
      <p:sp>
        <p:nvSpPr>
          <p:cNvPr id="3" name="frame-43-ap-scoring"/>
          <p:cNvSpPr/>
          <p:nvPr/>
        </p:nvSpPr>
        <p:spPr>
          <a:xfrm>
            <a:off x="420624" y="1312164"/>
            <a:ext cx="5559552" cy="35021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43-ap-scoring" descr="43-ap-sc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8740"/>
            <a:ext cx="5486400" cy="3429000"/>
          </a:xfrm>
          <a:prstGeom prst="rect">
            <a:avLst/>
          </a:prstGeom>
        </p:spPr>
      </p:pic>
      <p:sp>
        <p:nvSpPr>
          <p:cNvPr id="5" name="frame-44-ap-sign-submit"/>
          <p:cNvSpPr/>
          <p:nvPr/>
        </p:nvSpPr>
        <p:spPr>
          <a:xfrm>
            <a:off x="6227064" y="1312164"/>
            <a:ext cx="5559552" cy="35021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44-ap-sign-submit" descr="44-ap-sign-subm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48740"/>
            <a:ext cx="5486400" cy="3429000"/>
          </a:xfrm>
          <a:prstGeom prst="rect">
            <a:avLst/>
          </a:prstGeom>
        </p:spPr>
      </p:pic>
      <p:sp>
        <p:nvSpPr>
          <p:cNvPr id="7" name="ap-step-0"/>
          <p:cNvSpPr/>
          <p:nvPr/>
        </p:nvSpPr>
        <p:spPr>
          <a:xfrm>
            <a:off x="457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1. หัวหน้าประเมินและลงนาม</a:t>
            </a:r>
            <a:endParaRPr lang="en-US" sz="1750" dirty="0"/>
          </a:p>
        </p:txBody>
      </p:sp>
      <p:sp>
        <p:nvSpPr>
          <p:cNvPr id="9" name="ap-step-1"/>
          <p:cNvSpPr/>
          <p:nvPr/>
        </p:nvSpPr>
        <p:spPr>
          <a:xfrm>
            <a:off x="2743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834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2. พนักงานรับทราบ</a:t>
            </a:r>
            <a:endParaRPr lang="en-US" sz="1750" dirty="0"/>
          </a:p>
        </p:txBody>
      </p:sp>
      <p:sp>
        <p:nvSpPr>
          <p:cNvPr id="11" name="ap-step-2"/>
          <p:cNvSpPr/>
          <p:nvPr/>
        </p:nvSpPr>
        <p:spPr>
          <a:xfrm>
            <a:off x="5029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20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3. ฝ่ายบุคคลตรวจสอบ</a:t>
            </a:r>
            <a:endParaRPr lang="en-US" sz="1750" dirty="0"/>
          </a:p>
        </p:txBody>
      </p:sp>
      <p:sp>
        <p:nvSpPr>
          <p:cNvPr id="13" name="ap-step-3"/>
          <p:cNvSpPr/>
          <p:nvPr/>
        </p:nvSpPr>
        <p:spPr>
          <a:xfrm>
            <a:off x="7315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6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4. ส่งผู้บริหาร</a:t>
            </a:r>
            <a:endParaRPr lang="en-US" sz="1750" dirty="0"/>
          </a:p>
        </p:txBody>
      </p:sp>
      <p:sp>
        <p:nvSpPr>
          <p:cNvPr id="15" name="ap-step-4"/>
          <p:cNvSpPr/>
          <p:nvPr/>
        </p:nvSpPr>
        <p:spPr>
          <a:xfrm>
            <a:off x="9601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92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5. ผู้บริหารรับทราบ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ประเมินผล: พนักงานรับทราบและลงนาม</a:t>
            </a:r>
            <a:endParaRPr lang="en-US" sz="4050" dirty="0"/>
          </a:p>
        </p:txBody>
      </p:sp>
      <p:sp>
        <p:nvSpPr>
          <p:cNvPr id="3" name="frame-47-ap-ack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47-ap-ack" descr="47-ap-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แท็บ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การประเมินของฉัน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· เห็นคะแนนและเกรด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เปิดใบเพื่อลงนามรับทราบ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85083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823401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ใส่ความเห็น (ถ้ามี) และ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เซ็นในกรอบ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ลงนามรับทราบ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7132320" y="4526280"/>
            <a:ext cx="4617720" cy="164592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526280"/>
            <a:ext cx="4288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ลงนามรับทราบ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ไม่ได้แปลว่าเห็นด้วยทุกข้อ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เขียนความเห็นได้ · ดาวน์โหลดใบประเมินและดูประวัติได้ทุกเมื่อ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บุคลากรและแผนผังองค์กร</a:t>
            </a:r>
            <a:endParaRPr lang="en-US" sz="4050" dirty="0"/>
          </a:p>
        </p:txBody>
      </p:sp>
      <p:sp>
        <p:nvSpPr>
          <p:cNvPr id="3" name="frame-52-directory"/>
          <p:cNvSpPr/>
          <p:nvPr/>
        </p:nvSpPr>
        <p:spPr>
          <a:xfrm>
            <a:off x="42062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2-directory" descr="52-direc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1613"/>
            <a:ext cx="5532120" cy="3457575"/>
          </a:xfrm>
          <a:prstGeom prst="rect">
            <a:avLst/>
          </a:prstGeom>
        </p:spPr>
      </p:pic>
      <p:sp>
        <p:nvSpPr>
          <p:cNvPr id="5" name="frame-54-orgchart"/>
          <p:cNvSpPr/>
          <p:nvPr/>
        </p:nvSpPr>
        <p:spPr>
          <a:xfrm>
            <a:off x="618134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54-orgchart" descr="54-org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1613"/>
            <a:ext cx="5532120" cy="34575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ค้นหาชื่อจริง ชื่อเล่น ตำแหน่ง ฝ่าย · กดการ์ดดูข้อมูลเต็ม · กดอีเมลเพื่อส่งเมล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แท็บแผนผังองค์กร ตามฉบับประกาศ · กดฝ่าย/แผนกเพื่อดูรายชื่อคนในหน่วย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ติดต่อและกล่องรับฟังความคิดเห็น</a:t>
            </a:r>
            <a:endParaRPr lang="en-US" sz="4050" dirty="0"/>
          </a:p>
        </p:txBody>
      </p:sp>
      <p:sp>
        <p:nvSpPr>
          <p:cNvPr id="3" name="frame-57-feedback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7-feedback" descr="57-feed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3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เลือกเรื่องที่เสนอ</a:t>
            </a:r>
            <a:endParaRPr lang="en-US" sz="2050" dirty="0"/>
          </a:p>
        </p:txBody>
      </p:sp>
      <p:sp>
        <p:nvSpPr>
          <p:cNvPr id="8" name="num-4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เล่ารายละเอียด</a:t>
            </a:r>
            <a:endParaRPr lang="en-US" sz="2050" dirty="0"/>
          </a:p>
        </p:txBody>
      </p:sp>
      <p:sp>
        <p:nvSpPr>
          <p:cNvPr id="11" name="num-5"/>
          <p:cNvSpPr/>
          <p:nvPr/>
        </p:nvSpPr>
        <p:spPr>
          <a:xfrm>
            <a:off x="836676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497963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ติ๊กถ้า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ไม่ต้องการระบุชื่อ</a:t>
            </a:r>
            <a:endParaRPr lang="en-US" sz="2050" dirty="0"/>
          </a:p>
        </p:txBody>
      </p:sp>
      <p:sp>
        <p:nvSpPr>
          <p:cNvPr id="14" name="num-6"/>
          <p:cNvSpPr/>
          <p:nvPr/>
        </p:nvSpPr>
        <p:spPr>
          <a:xfrm>
            <a:off x="8366760" y="308857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0885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06114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ส่งความคิดเห็น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83667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31352" y="48920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หน้าติดต่อมีสมุดโทรศัพท์ทุกหน่วยงาน และผู้ดูแลระบบ ต่อ 216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ใช้งานบนมือถือ</a:t>
            </a:r>
            <a:endParaRPr lang="en-US" sz="4050" dirty="0"/>
          </a:p>
        </p:txBody>
      </p:sp>
      <p:sp>
        <p:nvSpPr>
          <p:cNvPr id="3" name="frame-60-m-home"/>
          <p:cNvSpPr/>
          <p:nvPr/>
        </p:nvSpPr>
        <p:spPr>
          <a:xfrm>
            <a:off x="42062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60-m-home" descr="60-m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1025"/>
            <a:ext cx="2148840" cy="4650310"/>
          </a:xfrm>
          <a:prstGeom prst="rect">
            <a:avLst/>
          </a:prstGeom>
        </p:spPr>
      </p:pic>
      <p:sp>
        <p:nvSpPr>
          <p:cNvPr id="5" name="frame-61-m-menu"/>
          <p:cNvSpPr/>
          <p:nvPr/>
        </p:nvSpPr>
        <p:spPr>
          <a:xfrm>
            <a:off x="275234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61-m-menu" descr="61-m-men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401025"/>
            <a:ext cx="2148840" cy="4650310"/>
          </a:xfrm>
          <a:prstGeom prst="rect">
            <a:avLst/>
          </a:prstGeom>
        </p:spPr>
      </p:pic>
      <p:sp>
        <p:nvSpPr>
          <p:cNvPr id="7" name="frame-62-m-form"/>
          <p:cNvSpPr/>
          <p:nvPr/>
        </p:nvSpPr>
        <p:spPr>
          <a:xfrm>
            <a:off x="508406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8" name="shot-62-m-form" descr="62-m-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01025"/>
            <a:ext cx="2148840" cy="4650310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76809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809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1" name="Text 6"/>
          <p:cNvSpPr txBox="1"/>
          <p:nvPr/>
        </p:nvSpPr>
        <p:spPr>
          <a:xfrm>
            <a:off x="8156448" y="1371600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เปิดลิงก์ด้วย Safari / Chrome แล้วเข้าสู่ระบบ</a:t>
            </a:r>
            <a:endParaRPr lang="en-US" sz="2050" dirty="0"/>
          </a:p>
        </p:txBody>
      </p:sp>
      <p:sp>
        <p:nvSpPr>
          <p:cNvPr id="12" name="num-2"/>
          <p:cNvSpPr/>
          <p:nvPr/>
        </p:nvSpPr>
        <p:spPr>
          <a:xfrm>
            <a:off x="7680960" y="228765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809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8156448" y="2260219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ติดตั้งเป็นแอป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: เพิ่มไปยังหน้าจอโฮม / ติดตั้งแอป</a:t>
            </a:r>
            <a:endParaRPr lang="en-US" sz="2050" dirty="0"/>
          </a:p>
        </p:txBody>
      </p:sp>
      <p:sp>
        <p:nvSpPr>
          <p:cNvPr id="15" name="num-3"/>
          <p:cNvSpPr/>
          <p:nvPr/>
        </p:nvSpPr>
        <p:spPr>
          <a:xfrm>
            <a:off x="7680960" y="317627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809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7" name="Text 12"/>
          <p:cNvSpPr txBox="1"/>
          <p:nvPr/>
        </p:nvSpPr>
        <p:spPr>
          <a:xfrm>
            <a:off x="8156448" y="3148838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เมนูอยู่ที่ปุ่ม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☰ เมนู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มุมขวาบน · เลือกแล้วปิดเอง</a:t>
            </a:r>
            <a:endParaRPr lang="en-US" sz="2050" dirty="0"/>
          </a:p>
        </p:txBody>
      </p:sp>
      <p:sp>
        <p:nvSpPr>
          <p:cNvPr id="18" name="num-4"/>
          <p:cNvSpPr/>
          <p:nvPr/>
        </p:nvSpPr>
        <p:spPr>
          <a:xfrm>
            <a:off x="7680960" y="4064889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680960" y="40648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20" name="Text 15"/>
          <p:cNvSpPr txBox="1"/>
          <p:nvPr/>
        </p:nvSpPr>
        <p:spPr>
          <a:xfrm>
            <a:off x="8156448" y="4037457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แนบไฟล์เลือก “ถ่ายรูป” · เซ็นด้วยนิ้ว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5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ฟีเจอร์ใหม่ ฉบับ 1.1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ใบขอสั่งซื้อ (PR) · ฝ่ายจัดซื้อ · ค้นหาทั้งเว็บ · ผู้ปฏิบัติแทน</a:t>
            </a:r>
            <a:endParaRPr lang="en-US" sz="2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ใบขอสั่งซื้อ (PR): เซ็นชื่อทุกขั้น</a:t>
            </a:r>
            <a:endParaRPr lang="en-US" sz="4050" dirty="0"/>
          </a:p>
        </p:txBody>
      </p:sp>
      <p:sp>
        <p:nvSpPr>
          <p:cNvPr id="3" name="pr-step-0"/>
          <p:cNvSpPr/>
          <p:nvPr/>
        </p:nvSpPr>
        <p:spPr>
          <a:xfrm>
            <a:off x="457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0</a:t>
            </a:r>
            <a:endParaRPr lang="en-US" sz="2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ผู้ขอซื้อ</a:t>
            </a:r>
            <a:endParaRPr lang="en-US" sz="2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กรอก เลือกโครงการ เซ็น แล้วส่ง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9" name="pr-step-1"/>
          <p:cNvSpPr/>
          <p:nvPr/>
        </p:nvSpPr>
        <p:spPr>
          <a:xfrm>
            <a:off x="2743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1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ผู้ทบทวน</a:t>
            </a:r>
            <a:endParaRPr lang="en-US" sz="21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คนใดคนหนึ่งในฝ่ายที่กำหนด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15" name="pr-step-2"/>
          <p:cNvSpPr/>
          <p:nvPr/>
        </p:nvSpPr>
        <p:spPr>
          <a:xfrm>
            <a:off x="5029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2</a:t>
            </a:r>
            <a:endParaRPr lang="en-US" sz="24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ผู้อนุมัติ</a:t>
            </a:r>
            <a:endParaRPr lang="en-US" sz="215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ผจก.ฝ่าย / ผจก.โครงการ / ผู้รับผิดชอบโครงการ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21" name="pr-step-3"/>
          <p:cNvSpPr/>
          <p:nvPr/>
        </p:nvSpPr>
        <p:spPr>
          <a:xfrm>
            <a:off x="7315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1600200"/>
            <a:ext cx="548640" cy="548640"/>
          </a:xfrm>
          <a:prstGeom prst="ellipse">
            <a:avLst/>
          </a:prstGeom>
          <a:solidFill>
            <a:srgbClr val="8B96A3"/>
          </a:solidFill>
          <a:ln w="12700">
            <a:solidFill>
              <a:srgbClr val="8B96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3</a:t>
            </a:r>
            <a:endParaRPr lang="en-US" sz="245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ผู้อำนวยการโครงการ</a:t>
            </a:r>
            <a:endParaRPr lang="en-US" sz="215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ไม่บังคับ · กดข้ามได้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27" name="pr-step-4"/>
          <p:cNvSpPr/>
          <p:nvPr/>
        </p:nvSpPr>
        <p:spPr>
          <a:xfrm>
            <a:off x="9601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78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4</a:t>
            </a:r>
            <a:endParaRPr lang="en-US" sz="245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ฝ่ายจัดซื้อ</a:t>
            </a:r>
            <a:endParaRPr lang="en-US" sz="215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อัปเดตสถานะจนส่งของ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33" name="callout-note"/>
          <p:cNvSpPr/>
          <p:nvPr/>
        </p:nvSpPr>
        <p:spPr>
          <a:xfrm>
            <a:off x="457200" y="40690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4069080"/>
            <a:ext cx="10945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ไม่เกี่ยวกับโครงการ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→ ผู้บังคับบัญชาของคุณอนุมัติ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เลือกโครงการ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→ ทีมโครงการอนุมัติ · ไม่ได้อยู่ในทีมโครงการ → เพิ่มผู้บังคับบัญชาให้ด้วย</a:t>
            </a:r>
            <a:endParaRPr lang="en-US" sz="1900" dirty="0"/>
          </a:p>
        </p:txBody>
      </p:sp>
      <p:sp>
        <p:nvSpPr>
          <p:cNvPr id="35" name="callout-warn"/>
          <p:cNvSpPr/>
          <p:nvPr/>
        </p:nvSpPr>
        <p:spPr>
          <a:xfrm>
            <a:off x="457200" y="52120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5212080"/>
            <a:ext cx="10945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ทุกขั้นต้อง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วาดหรืออัปโหลดลายเซ็น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ก่อนกดอนุมัติ — ลายเซ็นลงช่องของขั้นนั้นในใบขอสั่งซื้อ PDF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PR ผู้ยื่น: เลือกโครงการและเซ็นชื่อ</a:t>
            </a:r>
            <a:endParaRPr lang="en-US" sz="4050" dirty="0"/>
          </a:p>
        </p:txBody>
      </p:sp>
      <p:sp>
        <p:nvSpPr>
          <p:cNvPr id="3" name="frame-71-pr-project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1-pr-project" descr="71-pr-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ช่อง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โครงการ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พิมพ์ชื่อ/รหัสแล้ว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เลือกจากรายการ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ข้อความใต้ช่องบอกว่า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ใครจะอนุมัติ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309067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06324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กรอกรายการ เหตุผล แนบใบเสนอราคา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80015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80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72726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เซ็นในกรอบ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ลายเซ็นผู้ยื่น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(จำเป็น) แล้วกด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ส่งคำขอ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ไม่ใช่งานโครงการ เลือก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“ไม่เกี่ยวกับโครงการ”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พิมพ์ชื่อที่ไม่มีในระบบจะส่งไม่ได้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PR ผู้อนุมัติ: เซ็นแล้วกดอนุมัติ</a:t>
            </a:r>
            <a:endParaRPr lang="en-US" sz="4050" dirty="0"/>
          </a:p>
        </p:txBody>
      </p:sp>
      <p:sp>
        <p:nvSpPr>
          <p:cNvPr id="3" name="frame-73-pr-approv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3-pr-approve" descr="73-pr-appr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เซ็นในกรอบ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✍ ลายเซ็นผู้อนุมัติ 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* ทุกขั้น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✓ 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· ส่งกลับ/ไม่อนุมัติไม่ต้องเซ็น แต่ต้องพิมพ์เหตุผล</a:t>
            </a:r>
            <a:endParaRPr lang="en-US" sz="2050" dirty="0"/>
          </a:p>
        </p:txBody>
      </p:sp>
      <p:sp>
        <p:nvSpPr>
          <p:cNvPr id="11" name="callout-warn"/>
          <p:cNvSpPr/>
          <p:nvPr/>
        </p:nvSpPr>
        <p:spPr>
          <a:xfrm>
            <a:off x="7132320" y="310896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10896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 ควรอนุมัติ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ในเว็บ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— การ์ด Teams/อีเมลเซ็นชื่อไม่ได้ กด “เปิดดูรายละเอียดคำขอ” ในการ์ด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52628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526280"/>
            <a:ext cx="4288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ผู้อำนวยการโครงการมีปุ่ม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⏭ ข้ามขั้นนี้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มีคนอนุมัติไปก่อน ปุ่มจะหายและบอกว่าใครอนุมัติ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ฝ่ายจัดซื้อ: อัปเดตสถานะแทนปุ่มอนุมัติ</a:t>
            </a:r>
            <a:endParaRPr lang="en-US" sz="4050" dirty="0"/>
          </a:p>
        </p:txBody>
      </p:sp>
      <p:sp>
        <p:nvSpPr>
          <p:cNvPr id="3" name="frame-74-pr-purchas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4-pr-purchase" descr="74-pr-purch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รอขั้นไม่บังคับอยู่ →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เริ่มงานได้เลย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ระบบข้ามให้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7132320" y="22400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12594"/>
            <a:ext cx="41422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เลือก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สถานะ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: เบิก Store · รับ PR · รับใบเสนอราคา · ออก PO แล้ว · ส่ง Sup แล้ว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7132320" y="30810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053588"/>
            <a:ext cx="4142232" cy="41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เซ็นครั้งแรกครั้งเดียว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ลงช่องฝ่ายจัดซื้อ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7132320" y="362038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6203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592957"/>
            <a:ext cx="4142232" cy="41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บันทึกสถานะ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อัปเดตซ้ำได้</a:t>
            </a:r>
            <a:endParaRPr lang="en-US" sz="1900" dirty="0"/>
          </a:p>
        </p:txBody>
      </p:sp>
      <p:sp>
        <p:nvSpPr>
          <p:cNvPr id="17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ได้รับแจ้ง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ตั้งแต่ผู้ยื่นกดส่ง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(ดูอย่างเดียว) และอีกครั้งเมื่อ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ถึงคิวคุณ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ปิดงานจัดซื้อ: ส่งของแล้ว / Cancel</a:t>
            </a:r>
            <a:endParaRPr lang="en-US" sz="4050" dirty="0"/>
          </a:p>
        </p:txBody>
      </p:sp>
      <p:sp>
        <p:nvSpPr>
          <p:cNvPr id="3" name="frame-75-pr-timeline"/>
          <p:cNvSpPr/>
          <p:nvPr/>
        </p:nvSpPr>
        <p:spPr>
          <a:xfrm>
            <a:off x="496627" y="1197864"/>
            <a:ext cx="321298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5-pr-timeline" descr="75-pr-tim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03" y="1234440"/>
            <a:ext cx="3139834" cy="4983480"/>
          </a:xfrm>
          <a:prstGeom prst="rect">
            <a:avLst/>
          </a:prstGeom>
        </p:spPr>
      </p:pic>
      <p:sp>
        <p:nvSpPr>
          <p:cNvPr id="5" name="frame-76-pr-done-box"/>
          <p:cNvSpPr/>
          <p:nvPr/>
        </p:nvSpPr>
        <p:spPr>
          <a:xfrm>
            <a:off x="4054785" y="1197864"/>
            <a:ext cx="7709549" cy="30449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76-pr-done-box" descr="76-pr-done-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361" y="1234440"/>
            <a:ext cx="7636397" cy="2971800"/>
          </a:xfrm>
          <a:prstGeom prst="rect">
            <a:avLst/>
          </a:prstGeom>
        </p:spPr>
      </p:pic>
      <p:sp>
        <p:nvSpPr>
          <p:cNvPr id="7" name="callout-warn"/>
          <p:cNvSpPr/>
          <p:nvPr/>
        </p:nvSpPr>
        <p:spPr>
          <a:xfrm>
            <a:off x="4069080" y="443484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233672" y="4434840"/>
            <a:ext cx="7351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ส่งของแล้ว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ปิดคำขอเป็น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เสร็จสิ้น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Cancel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ปิดเป็นยกเลิก · ระบบถามยืนยันก่อน แก้ไขต่อไม่ได้</a:t>
            </a:r>
            <a:endParaRPr lang="en-US" sz="1900" dirty="0"/>
          </a:p>
        </p:txBody>
      </p:sp>
      <p:sp>
        <p:nvSpPr>
          <p:cNvPr id="9" name="callout-note"/>
          <p:cNvSpPr/>
          <p:nvPr/>
        </p:nvSpPr>
        <p:spPr>
          <a:xfrm>
            <a:off x="4069080" y="544068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233672" y="5440680"/>
            <a:ext cx="7351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ผู้ยื่นเห็นสถานะจัดซื้อทุกครั้งเป็น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กรอบสีฟ้า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ในเส้นทางอนุมัติ (ภาพซ้าย)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ค้นหาทั้งเว็บ</a:t>
            </a:r>
            <a:endParaRPr lang="en-US" sz="4050" dirty="0"/>
          </a:p>
        </p:txBody>
      </p:sp>
      <p:sp>
        <p:nvSpPr>
          <p:cNvPr id="3" name="frame-70-search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0-search" descr="70-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ช่อง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ค้นหาทั้งเว็บ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แถบบน หรือกดปุ่ม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/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ผลแยกหมวด: บุคลากร · แบบฟอร์ม · นโยบาย · เอกสาร · โครงการ · คำขอ</a:t>
            </a:r>
            <a:endParaRPr lang="en-US" sz="2050" dirty="0"/>
          </a:p>
        </p:txBody>
      </p:sp>
      <p:sp>
        <p:nvSpPr>
          <p:cNvPr id="11" name="callout-tip"/>
          <p:cNvSpPr/>
          <p:nvPr/>
        </p:nvSpPr>
        <p:spPr>
          <a:xfrm>
            <a:off x="7132320" y="329184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29184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ค้นได้ทั้งชื่อเล่น เบอร์ต่อ รหัสแบบฟอร์ม เลขที่คำขอ · พิมพ์หลายคำเพื่อให้แคบลง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709160"/>
            <a:ext cx="4288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กดชื่อคนเพื่อดูการ์ดข้อมูลติดต่อทันที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ผู้ปฏิบัติแทนช่วงลา · ผู้บริหารดูคำขอ</a:t>
            </a:r>
            <a:endParaRPr lang="en-US" sz="4050" dirty="0"/>
          </a:p>
        </p:txBody>
      </p:sp>
      <p:sp>
        <p:nvSpPr>
          <p:cNvPr id="3" name="frame-77-delegat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7-delegate" descr="77-deleg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ไม่อยู่ตั้งแต่วันที่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ถึงวันที่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(ว่าง = วันเดียว)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ผู้ปฏิบัติแทน — คำขอช่วงนั้นไปหาคนนี้อัตโนมัติ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7132320" y="333756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3337560"/>
            <a:ext cx="4288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จะลา แจ้ง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HR / ผู้ดูแลระบบ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ให้ตั้งค่าในทะเบียนบุคลากร</a:t>
            </a:r>
            <a:endParaRPr lang="en-US" sz="1900" dirty="0"/>
          </a:p>
        </p:txBody>
      </p:sp>
      <p:sp>
        <p:nvSpPr>
          <p:cNvPr id="16" name="callout-note"/>
          <p:cNvSpPr/>
          <p:nvPr/>
        </p:nvSpPr>
        <p:spPr>
          <a:xfrm>
            <a:off x="7132320" y="45262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96912" y="45262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ผู้บริหาร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เห็นคำขอทุกใบ (ดูอย่างเดียว) อนุมัติได้เฉพาะใบที่มีชื่ออยู่ในเส้นทาง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6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ฝึกปฏิบัติและทดสอบ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แบบฝึก 3 ชุด · ปัญหาที่พบบ่อย · แบบทดสอบ 5 ข้อ</a:t>
            </a:r>
            <a:endParaRPr lang="en-US" sz="2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แบบฝึกปฏิบัติ 3 ชุด</a:t>
            </a:r>
            <a:endParaRPr lang="en-US" sz="4050" dirty="0"/>
          </a:p>
        </p:txBody>
      </p:sp>
      <p:sp>
        <p:nvSpPr>
          <p:cNvPr id="3" name="ex-1"/>
          <p:cNvSpPr/>
          <p:nvPr/>
        </p:nvSpPr>
        <p:spPr>
          <a:xfrm>
            <a:off x="45720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1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ยื่นคำขอ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ยื่น Memo บันทึกข้อความภายใน เรื่อง “ทดสอบการใช้งานระบบ – ชื่อคุณ” แนบรูป 1 รูป ลงลายเซ็น จดเลขที่คำขอ</a:t>
            </a:r>
            <a:endParaRPr lang="en-US" sz="2050" dirty="0"/>
          </a:p>
        </p:txBody>
      </p:sp>
      <p:sp>
        <p:nvSpPr>
          <p:cNvPr id="8" name="ex-2"/>
          <p:cNvSpPr/>
          <p:nvPr/>
        </p:nvSpPr>
        <p:spPr>
          <a:xfrm>
            <a:off x="425196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2</a:t>
            </a:r>
            <a:endParaRPr lang="en-US" sz="3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ติดตามและแก้ไข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ผู้สอนส่งกลับแก้ไข → อ่านเหตุผล แก้ชื่อเรื่องเป็น “(แก้ไขแล้ว)” ยื่นใหม่ → ส่งออกเป็น PDF</a:t>
            </a:r>
            <a:endParaRPr lang="en-US" sz="2050" dirty="0"/>
          </a:p>
        </p:txBody>
      </p:sp>
      <p:sp>
        <p:nvSpPr>
          <p:cNvPr id="13" name="ex-3"/>
          <p:cNvSpPr/>
          <p:nvPr/>
        </p:nvSpPr>
        <p:spPr>
          <a:xfrm>
            <a:off x="804672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3</a:t>
            </a:r>
            <a:endParaRPr lang="en-US" sz="3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ค้นหาข้อมูล</a:t>
            </a:r>
            <a:endParaRPr lang="en-US" sz="25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หาเบอร์ต่อ HR · หาหัวหน้าแผนกตัวเองในผังองค์กร · เปิดนโยบาย PDPA บอกวันที่ประกาศ</a:t>
            </a:r>
            <a:endParaRPr lang="en-US" sz="2050" dirty="0"/>
          </a:p>
        </p:txBody>
      </p:sp>
      <p:sp>
        <p:nvSpPr>
          <p:cNvPr id="18" name="callout-warn"/>
          <p:cNvSpPr/>
          <p:nvPr/>
        </p:nvSpPr>
        <p:spPr>
          <a:xfrm>
            <a:off x="457200" y="544068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5440680"/>
            <a:ext cx="1094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ผู้สอน: หลังอบรม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ยกเลิกคำขอทดสอบ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ทุกใบ เพื่อไม่ให้ปนกับรายงานจริง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ปัญหาที่พบบ่อยและวิธีแก้</a:t>
            </a:r>
            <a:endParaRPr lang="en-US" sz="4050" dirty="0"/>
          </a:p>
        </p:txBody>
      </p:sp>
      <p:sp>
        <p:nvSpPr>
          <p:cNvPr id="3" name="faq-0"/>
          <p:cNvSpPr/>
          <p:nvPr/>
        </p:nvSpPr>
        <p:spPr>
          <a:xfrm>
            <a:off x="457200" y="1325880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หน้าเว็บไม่อัปเดต ไม่เห็นปุ่มใหม่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กด Ctrl + F5 · มือถือปิดแท็บแล้วเปิดใหม่</a:t>
            </a:r>
            <a:endParaRPr lang="en-US" sz="2150" dirty="0"/>
          </a:p>
        </p:txBody>
      </p:sp>
      <p:sp>
        <p:nvSpPr>
          <p:cNvPr id="5" name="faq-1"/>
          <p:cNvSpPr/>
          <p:nvPr/>
        </p:nvSpPr>
        <p:spPr>
          <a:xfrm>
            <a:off x="6172200" y="1325880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325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ส่งคำขอไม่ได้ ขึ้นข้อความแดง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ข้อความบอกว่า “ยังขาด” ช่องไหน กรอกช่องที่มี * ให้ครบ</a:t>
            </a:r>
            <a:endParaRPr lang="en-US" sz="2150" dirty="0"/>
          </a:p>
        </p:txBody>
      </p:sp>
      <p:sp>
        <p:nvSpPr>
          <p:cNvPr id="7" name="faq-2"/>
          <p:cNvSpPr/>
          <p:nvPr/>
        </p:nvSpPr>
        <p:spPr>
          <a:xfrm>
            <a:off x="457200" y="2898648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986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คำขอค้างที่ผู้อนุมัติหลายวัน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ดูชื่อในเส้นทางอนุมัติ แล้วติดต่อผู้อนุมัติโดยตรง</a:t>
            </a:r>
            <a:endParaRPr lang="en-US" sz="2150" dirty="0"/>
          </a:p>
        </p:txBody>
      </p:sp>
      <p:sp>
        <p:nvSpPr>
          <p:cNvPr id="9" name="faq-3"/>
          <p:cNvSpPr/>
          <p:nvPr/>
        </p:nvSpPr>
        <p:spPr>
          <a:xfrm>
            <a:off x="6172200" y="2898648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8986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คำขอไปหาผู้อนุมัติผิดคน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ข้อมูลหัวหน้าในทะเบียนไม่ถูก แจ้ง HR พร้อมเลขที่คำขอ</a:t>
            </a:r>
            <a:endParaRPr lang="en-US" sz="2150" dirty="0"/>
          </a:p>
        </p:txBody>
      </p:sp>
      <p:sp>
        <p:nvSpPr>
          <p:cNvPr id="11" name="faq-4"/>
          <p:cNvSpPr/>
          <p:nvPr/>
        </p:nvSpPr>
        <p:spPr>
          <a:xfrm>
            <a:off x="457200" y="4471416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471416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อนุมัติใน Teams แล้วเว็บไม่เปลี่ยน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รอไม่เกิน 10 นาที แล้วอนุมัติในเว็บแทน</a:t>
            </a:r>
            <a:endParaRPr lang="en-US" sz="2150" dirty="0"/>
          </a:p>
        </p:txBody>
      </p:sp>
      <p:sp>
        <p:nvSpPr>
          <p:cNvPr id="13" name="faq-5"/>
          <p:cNvSpPr/>
          <p:nvPr/>
        </p:nvSpPr>
        <p:spPr>
          <a:xfrm>
            <a:off x="6172200" y="4471416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471416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ถูกออกจากระบบเอง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ไม่ได้ใช้งาน 60 นาที เข้าสู่ระบบใหม่ได้ทันที</a:t>
            </a:r>
            <a:endParaRPr lang="en-US" sz="2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แบบทดสอบท้ายการอบรม</a:t>
            </a:r>
            <a:endParaRPr lang="en-US" sz="4050" dirty="0"/>
          </a:p>
        </p:txBody>
      </p:sp>
      <p:sp>
        <p:nvSpPr>
          <p:cNvPr id="3" name="num-1"/>
          <p:cNvSpPr/>
          <p:nvPr/>
        </p:nvSpPr>
        <p:spPr>
          <a:xfrm>
            <a:off x="457200" y="144475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417320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เข้าสู่ระบบต้องใช้บัญชีใด</a:t>
            </a:r>
            <a:endParaRPr lang="en-US" sz="2450" dirty="0"/>
          </a:p>
        </p:txBody>
      </p:sp>
      <p:sp>
        <p:nvSpPr>
          <p:cNvPr id="6" name="num-2"/>
          <p:cNvSpPr/>
          <p:nvPr/>
        </p:nvSpPr>
        <p:spPr>
          <a:xfrm>
            <a:off x="457200" y="221773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1773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190306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ตัวเลขแดงบนเมนู “ติดตามสถานะ” หมายถึงอะไร</a:t>
            </a:r>
            <a:endParaRPr lang="en-US" sz="2450" dirty="0"/>
          </a:p>
        </p:txBody>
      </p:sp>
      <p:sp>
        <p:nvSpPr>
          <p:cNvPr id="9" name="num-3"/>
          <p:cNvSpPr/>
          <p:nvPr/>
        </p:nvSpPr>
        <p:spPr>
          <a:xfrm>
            <a:off x="457200" y="299072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9072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963291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คำขอถูก “ส่งกลับแก้ไข” ต้องทำอย่างไร</a:t>
            </a:r>
            <a:endParaRPr lang="en-US" sz="2450" dirty="0"/>
          </a:p>
        </p:txBody>
      </p:sp>
      <p:sp>
        <p:nvSpPr>
          <p:cNvPr id="12" name="num-4"/>
          <p:cNvSpPr/>
          <p:nvPr/>
        </p:nvSpPr>
        <p:spPr>
          <a:xfrm>
            <a:off x="457200" y="3763709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637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736277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ผู้อนุมัติอนุมัติได้ทางใดบ้าง</a:t>
            </a:r>
            <a:endParaRPr lang="en-US" sz="2450" dirty="0"/>
          </a:p>
        </p:txBody>
      </p:sp>
      <p:sp>
        <p:nvSpPr>
          <p:cNvPr id="15" name="num-5"/>
          <p:cNvSpPr/>
          <p:nvPr/>
        </p:nvSpPr>
        <p:spPr>
          <a:xfrm>
            <a:off x="457200" y="453669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5366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509262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การเงินแนบสลิปได้กี่วิธี อะไรบ้าง</a:t>
            </a:r>
            <a:endParaRPr lang="en-US" sz="2450" dirty="0"/>
          </a:p>
        </p:txBody>
      </p:sp>
      <p:sp>
        <p:nvSpPr>
          <p:cNvPr id="18" name="quiz-card"/>
          <p:cNvSpPr/>
          <p:nvPr/>
        </p:nvSpPr>
        <p:spPr>
          <a:xfrm>
            <a:off x="7680960" y="1417320"/>
            <a:ext cx="4069080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1417320"/>
            <a:ext cx="3474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B9CDE6"/>
                </a:solidFill>
              </a:rPr>
              <a:t>10 ข้อเต็ม</a:t>
            </a:r>
            <a:endParaRPr lang="en-US" sz="2050" dirty="0"/>
          </a:p>
          <a:p>
            <a:pPr indent="0" marL="0">
              <a:buNone/>
            </a:pPr>
            <a:r>
              <a:rPr lang="en-US" sz="2950" b="1" dirty="0">
                <a:solidFill>
                  <a:schemeClr val="bg1"/>
                </a:solidFill>
              </a:rPr>
              <a:t>อยู่ในคู่มือบทที่ 20</a:t>
            </a:r>
            <a:endParaRPr lang="en-US" sz="20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 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chemeClr val="bg1"/>
                </a:solidFill>
              </a:rPr>
              <a:t>เกณฑ์ผ่าน 8 ข้อ · มีเฉลยท้ายบท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31520" y="8229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ime Power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87552"/>
            <a:ext cx="2834640" cy="62834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ขอบคุณครับ / ค่ะ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มีคำถาม ติดต่อผู้ดูแลระบบได้ตลอด</a:t>
            </a:r>
            <a:endParaRPr lang="en-US" sz="2450" dirty="0"/>
          </a:p>
        </p:txBody>
      </p:sp>
      <p:sp>
        <p:nvSpPr>
          <p:cNvPr id="6" name="close-0"/>
          <p:cNvSpPr/>
          <p:nvPr/>
        </p:nvSpPr>
        <p:spPr>
          <a:xfrm>
            <a:off x="73152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คู่มือฉบับเต็ม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หน้าแรก → คู่มือการใช้งาน</a:t>
            </a:r>
            <a:endParaRPr lang="en-US" sz="1600" dirty="0"/>
          </a:p>
        </p:txBody>
      </p:sp>
      <p:sp>
        <p:nvSpPr>
          <p:cNvPr id="8" name="close-1"/>
          <p:cNvSpPr/>
          <p:nvPr/>
        </p:nvSpPr>
        <p:spPr>
          <a:xfrm>
            <a:off x="434340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ผู้ดูแลระบบ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ต่อ 216 · it@primepower.co.th</a:t>
            </a:r>
            <a:endParaRPr lang="en-US" sz="1600" dirty="0"/>
          </a:p>
        </p:txBody>
      </p:sp>
      <p:sp>
        <p:nvSpPr>
          <p:cNvPr id="10" name="close-2"/>
          <p:cNvSpPr/>
          <p:nvPr/>
        </p:nvSpPr>
        <p:spPr>
          <a:xfrm>
            <a:off x="795528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เวลาให้บริการ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จันทร์–ศุกร์ 08:30–17:30 น.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e Power Intranet">
  <a:themeElements>
    <a:clrScheme name="Prime Power Intranet">
      <a:dk1>
        <a:srgbClr val="1D2733"/>
      </a:dk1>
      <a:lt1>
        <a:srgbClr val="FFFFFF"/>
      </a:lt1>
      <a:dk2>
        <a:srgbClr val="00397A"/>
      </a:dk2>
      <a:lt2>
        <a:srgbClr val="F2F5F8"/>
      </a:lt2>
      <a:accent1>
        <a:srgbClr val="0067B8"/>
      </a:accent1>
      <a:accent2>
        <a:srgbClr val="00A94F"/>
      </a:accent2>
      <a:accent3>
        <a:srgbClr val="E8590C"/>
      </a:accent3>
      <a:accent4>
        <a:srgbClr val="4A9DE0"/>
      </a:accent4>
      <a:accent5>
        <a:srgbClr val="5C6A7A"/>
      </a:accent5>
      <a:accent6>
        <a:srgbClr val="F5B700"/>
      </a:accent6>
      <a:hlink>
        <a:srgbClr val="0067B8"/>
      </a:hlink>
      <a:folHlink>
        <a:srgbClr val="00397A"/>
      </a:folHlink>
    </a:clrScheme>
    <a:fontScheme name="Prime Power Intranet">
      <a:majorFont>
        <a:latin typeface="TH SarabunP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SarabunP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Prime Power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อบรมการใช้งานระบบ Intranet Prime Power Group</dc:title>
  <dc:subject>PptxGenJS Presentation</dc:subject>
  <dc:creator>Prime Power Group</dc:creator>
  <cp:lastModifiedBy>Prime Power Group</cp:lastModifiedBy>
  <cp:revision>1</cp:revision>
  <dcterms:created xsi:type="dcterms:W3CDTF">2026-10-16T06:34:39Z</dcterms:created>
  <dcterms:modified xsi:type="dcterms:W3CDTF">2026-10-16T06:34:39Z</dcterms:modified>
</cp:coreProperties>
</file>