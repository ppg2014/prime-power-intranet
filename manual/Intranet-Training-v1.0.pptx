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ปิด" id="{db8141ad-c532-d83b-4464-7e8733896b16}">
          <p14:sldIdLst>
            <p14:sldId id="256"/>
            <p14:sldId id="257"/>
            <p14:sldId id="258"/>
            <p14:sldId id="259"/>
          </p14:sldIdLst>
        </p14:section>
        <p14:section name="เริ่มต้นใช้งาน" id="{b72a34a4-2a53-f696-8c3e-6c7a5329c00c}">
          <p14:sldIdLst>
            <p14:sldId id="260"/>
            <p14:sldId id="261"/>
            <p14:sldId id="262"/>
          </p14:sldIdLst>
        </p14:section>
        <p14:section name="ยื่นคำขอและติดตามสถานะ" id="{69bfde4a-6b70-a427-bf6c-498989dee11e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สำหรับผู้อนุมัติ" id="{aebe23c4-4d3e-2493-e2a1-851fb21a179a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เมนูอื่น ๆ ที่ใช้ทุกวัน" id="{f701d3ab-3177-5ae3-d7f2-49680ede9bdd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ฝึกปฏิบัติและทดสอบ" id="{d296b68c-d4a4-65e6-9a69-1df81618070e}">
          <p14:sldIdLst>
            <p14:sldId id="286"/>
            <p14:sldId id="287"/>
            <p14:sldId id="288"/>
            <p14:sldId id="289"/>
          </p14:sldIdLst>
        </p14:section>
        <p14:section name="ปิด" id="{3d864fe1-40a6-8c1f-5ad1-fd053dc76ab7}">
          <p14:sldIdLst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แนะนำตัวผู้สอน และบอกว่าวันนี้จะสอนใช้ระบบ Intranet ของบริษัท ตั้งแต่เข้าสู่ระบบ ยื่นคำขอ ติดตามสถานะ อนุมัติ จนถึงเมนูอื่น ๆ ทั้งหมด ใช้เวลาประมาณ 2 ชั่วโมง มีฝึกปฏิบัติและแบบทดสอบท้ายชั่วโมง ให้ผู้เรียนเปิดคอมหรือมือถือพร้อมบัญชี @primepower.co.th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อธิบายหัวข้อและเวลาคร่าว ๆ หัวหน้างานใหม่ให้อยู่ช่วงผู้อนุมัติด้วย ฝ่ายการเงินเน้นหัวข้อแนบสลิป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ไล่ให้ดูว่าระบบมีเมนูอะไรบ้าง ย้ำว่าทุกคำขอที่เคยเป็นกระดาษ ยื่นผ่านเมนูแบบฟอร์มทั้งหมด และระบบส่งต่อผู้อนุมัติให้เองพร้อมแจ้งเตือนทาง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เล่าเรื่องที่จะใช้เป็นตัวอย่างตลอดการอบรม: คุณชัยวัฒน์ซื้อสายไฟและอุปกรณ์ยึดรางเคเบิลเพิ่ม 12,500 บาท เบิกเงินทดรองจ่ายล่วงหน้า ผ่านผู้บังคับบัญชา ผู้บริหาร และการเงินโอนเงินพร้อมแนบสลิป ชื่อและตัวเลขเป็นข้อมูลสมมติ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ส่วนแรก 15 นาที ให้ทุกคนเข้าสู่ระบบพร้อมกัน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ให้ทุกคนเปิดลิงก์และเข้าสู่ระบบพร้อมกัน ใครเข้าไม่ได้ให้ตรวจว่าใช้อีเมลบริษัท ไม่ใช่อีเมลส่วนตัว ถ้าบัญชียังไม่พร้อมให้แจ้ง HR ระบบไม่เก็บรหัสผ่าน การพิมพ์รหัสผ่านทำบนหน้าของ Microsoft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ชี้ส่วนต่าง ๆ ตามตัวเลขสีส้ม เน้นตัวเลขแดงบนเมนูติดตามสถานะ = คำขอรอคุณอนุมัติหรือคำขอของคุณมีความเคลื่อนไหว และบนเมนูประเมินผล = ใบประเมินรอคุณ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ส่วนที่สำคัญที่สุด 40 นาที ให้ผู้เรียนทำตามไปพร้อมกัน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ภาพรวมเส้นทางของคำขอเบิกเงินทดรองจ่าย แต่ละฟอร์มมีเส้นทางต่างกัน ผู้ยื่นไม่ต้องเลือกผู้อนุมัติเอง ระบบหาให้จากข้อมูลบุคลากร ถ้าไปผิดคนแปลว่าข้อมูลหัวหน้าในทะเบียนไม่ถูก ให้แจ้ง HR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ให้ผู้เรียนลองค้นหาฟอร์ม หรือกดปุ่มกรองตามฝ่าย แบบฟอร์มแยกตามฝ่ายเจ้าของ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ช่องที่มีดาวแดงต้องกรอก ข้อมูลรหัสพนักงาน ชื่อ ฝ่าย แผนก ระบบดึงจากทะเบียนบุคลากรอัตโนมัติ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เขียนเหตุผลให้ละเอียด ผู้อนุมัติจะได้ไม่ต้องส่งกลับมาถาม แนบหลักฐานทุกครั้ง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เซ็นด้วยเมาส์ให้กดค้างแล้วลาก บนมือถือใช้นิ้ว เซ็นผิดกดล้างลายเซ็น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หลังกดส่ง ระบบส่งการ์ดขออนุมัติใน Teams ให้ผู้อนุมัติลำดับแรกทันที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เมนูติดตามสถานะ กล่องคำขอของฉัน กดเพื่อเปิดรายละเอียด ถ้าค้างนาน ดูชื่อผู้อนุมัติที่รออยู่แล้วติดต่อโดยตรง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ไล่ทีละสถานะ เน้นส่งกลับแก้ไขกับไม่อนุมัติ ต่างกันตรงที่ส่งกลับแก้ไขยังยื่นใหม่ด้วยเลขเดิมได้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ตัวอย่าง: ขอเบิกค่าเช่ารถเครน 8,000 บาท ไม่ได้แนบใบเสนอราคา ผู้จัดการแผนกส่งกลับให้แนบใบเสนอราคา 2 เจ้า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สำหรับหัวหน้างานและฝ่ายการเงิน 20 นาที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ตัวอย่างความเห็นที่ดี: อนุมัติ ตรวจใบเสนอราคาแล้ว / กรุณาแนบใบเสนอราคาอย่างน้อย 2 เจ้า / งบโครงการนี้ใช้ครบแล้ว ให้เบิกผ่านงบส่วนกลาง ถ้าขึ้นว่ามีคนดำเนินการไปแล้ว ไม่ต้องกดซ้ำ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สาธิตบนแอป Teams จริงของผู้สอน ให้หัวหน้างานลองเปิดเมนู Approvals ในเครื่องตัวเอง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สาธิตการแคปหน้าจอสลิปจากแอปธนาคารแล้วกด Ctrl+V วาง ถ้าแถบด้านล่างขึ้นสีแดง แปลว่าส่ง Teams ไม่สำเร็จ แต่การอนุมัติบันทึกแล้ว ให้แจ้งผู้ยื่นทางอื่น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ความเห็นอาจบอกว่าอนุมัติไม่เต็มจำนวน จึงต้องอ่านทุกครั้ง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เปิดคำขอแล้วกดส่งออกเป็นเอกสาร (PDF) ด้านล่างหน้าต่าง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ส่วนที่ 4 ประมาณ 25 นาที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ดูตารางห้องว่างด้านล่างก่อนจอง ถ้าตารางไม่ขึ้นกดเปิดปฏิทินเต็มจอ หรือจองผ่าน Outlook แบบเดิมได้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หัวหน้า: เมนูประเมินผลบุคลากร → แท็บทีมของฉัน → ประเมิน → ให้คะแนน 1–10 ทุกข้อ (ดูเกณฑ์ที่แถบซ้าย) → เซ็นช่องผู้ประเมิน → บันทึกและส่ง ส่งแล้วคะแนนถูกล็อก ขั้นที่ 2 และ 3 ทำพร้อมกันได้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พนักงานใหม่ทุกคนต้องผ่านขั้นตอนนี้ในการประเมินทดลองงาน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ให้ผู้เรียนหาเบอร์ต่อของหัวหน้าตัวเอง และหาแผนกของตัวเองในผังองค์กร ข้อมูลผิดแจ้ง HR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ความคิดเห็นส่งถึงฝ่ายบริหารโดยตรง เลือกไม่ระบุชื่อได้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ให้ทุกคนเพิ่มไอคอนลงหน้าจอหลักของมือถือ iPhone: ปุ่มแชร์ → เพิ่มไปยังหน้าจอโฮม · Android: ⋮ → เพิ่มลงในหน้าจอหลัก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นาทีสุดท้าย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ผู้สอนเข้าระบบในฐานะผู้อนุมัติของ Memo เพื่อส่งกลับแก้ไขให้ผู้เรียนฝึก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ผู้ดูแลระบบ: งานเทคโนโลยีสารสนเทศ ต่อ 216 it@primepower.co.th จันทร์–ศุกร์ 08:30–17:30 น. แจ้งเลขที่คำขอและแคปหน้าจอทุกครั้ง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เฉลย: 1) บัญชี Microsoft 365 @primepower.co.th  2) คำขอที่รอคุณอนุมัติ หรือคำขอของคุณที่มีความเคลื่อนไหว  3) อ่านเหตุผล แล้วกดแก้ไขและยื่นใหม่  4) ทั้งเว็บ Intranet และ Teams → Approvals  5) 3 วิธี: เลือกไฟล์ ลากวาง Ctrl+V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ปิดการอบรม ย้ำว่าคู่มือฉบับเต็มและไฟล์ PDF อยู่ในหน้าแรกของระบบ ตรวจเช็กลิสต์สัปดาห์แรกในคู่มือบทที่ 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5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94560" y="2514600"/>
            <a:ext cx="93268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15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15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94560" y="3520440"/>
            <a:ext cx="9326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5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5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50" dirty="0"/>
          </a:p>
        </p:txBody>
      </p:sp>
      <p:pic>
        <p:nvPicPr>
          <p:cNvPr id="3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384048"/>
            <a:ext cx="1371600" cy="30403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อบรมการใช้งานระบบ Intranet · Prime Power Group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-card"/>
          <p:cNvSpPr/>
          <p:nvPr/>
        </p:nvSpPr>
        <p:spPr>
          <a:xfrm>
            <a:off x="731520" y="822960"/>
            <a:ext cx="32918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Image 0" descr="Prime Power 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987552"/>
            <a:ext cx="2834640" cy="62834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อบรมการใช้งานระบบ Intranet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8862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สำหรับพนักงานใหม่และผู้ใช้งานทุกระดับ · พร้อมตัวอย่างงานจริงทีละขั้นตอน</a:t>
            </a:r>
            <a:endParaRPr lang="en-US" sz="2450" dirty="0"/>
          </a:p>
        </p:txBody>
      </p:sp>
      <p:sp>
        <p:nvSpPr>
          <p:cNvPr id="6" name="meta-0"/>
          <p:cNvSpPr/>
          <p:nvPr/>
        </p:nvSpPr>
        <p:spPr>
          <a:xfrm>
            <a:off x="731520" y="507492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0E4A8F"/>
          </a:solidFill>
          <a:ln w="9525">
            <a:solidFill>
              <a:srgbClr val="2B64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DE6"/>
                </a:solidFill>
              </a:rPr>
              <a:t>ใช้เวลา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ประมาณ 2 ชั่วโมง</a:t>
            </a:r>
            <a:endParaRPr lang="en-US" sz="1600" dirty="0"/>
          </a:p>
        </p:txBody>
      </p:sp>
      <p:sp>
        <p:nvSpPr>
          <p:cNvPr id="8" name="meta-1"/>
          <p:cNvSpPr/>
          <p:nvPr/>
        </p:nvSpPr>
        <p:spPr>
          <a:xfrm>
            <a:off x="4343400" y="507492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0E4A8F"/>
          </a:solidFill>
          <a:ln w="9525">
            <a:solidFill>
              <a:srgbClr val="2B64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DE6"/>
                </a:solidFill>
              </a:rPr>
              <a:t>ฉบับที่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1.0 · ต.ค. 2569</a:t>
            </a:r>
            <a:endParaRPr lang="en-US" sz="1600" dirty="0"/>
          </a:p>
        </p:txBody>
      </p:sp>
      <p:sp>
        <p:nvSpPr>
          <p:cNvPr id="10" name="meta-2"/>
          <p:cNvSpPr/>
          <p:nvPr/>
        </p:nvSpPr>
        <p:spPr>
          <a:xfrm>
            <a:off x="7955280" y="507492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0E4A8F"/>
          </a:solidFill>
          <a:ln w="9525">
            <a:solidFill>
              <a:srgbClr val="2B64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DE6"/>
                </a:solidFill>
              </a:rPr>
              <a:t>คู่มือฉบับเต็ม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เมนูหน้าแรก → คู่มือการใช้งาน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วันนี้เราจะเรียนอะไรบ้าง</a:t>
            </a:r>
            <a:endParaRPr lang="en-US" sz="4050" dirty="0"/>
          </a:p>
        </p:txBody>
      </p:sp>
      <p:sp>
        <p:nvSpPr>
          <p:cNvPr id="3" name="agenda-0"/>
          <p:cNvSpPr/>
          <p:nvPr/>
        </p:nvSpPr>
        <p:spPr>
          <a:xfrm>
            <a:off x="457200" y="1325880"/>
            <a:ext cx="11274552" cy="841248"/>
          </a:xfrm>
          <a:prstGeom prst="roundRect">
            <a:avLst>
              <a:gd name="adj" fmla="val 10870"/>
            </a:avLst>
          </a:prstGeom>
          <a:solidFill>
            <a:srgbClr val="EEF4FB"/>
          </a:solidFill>
          <a:ln w="9525">
            <a:solidFill>
              <a:srgbClr val="E1E9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90472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904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b="1" dirty="0">
                <a:solidFill>
                  <a:schemeClr val="bg1"/>
                </a:solidFill>
              </a:rPr>
              <a:t>1</a:t>
            </a:r>
            <a:endParaRPr lang="en-US" sz="245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32588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</a:rPr>
              <a:t>เริ่มต้นใช้งาน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25880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เข้าสู่ระบบ · PDPA · หน้าแรกและเมนู</a:t>
            </a:r>
            <a:endParaRPr lang="en-US" sz="2050" dirty="0"/>
          </a:p>
        </p:txBody>
      </p:sp>
      <p:sp>
        <p:nvSpPr>
          <p:cNvPr id="8" name="Text 6"/>
          <p:cNvSpPr txBox="1"/>
          <p:nvPr/>
        </p:nvSpPr>
        <p:spPr>
          <a:xfrm>
            <a:off x="10149840" y="13258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50" b="1" dirty="0">
                <a:solidFill>
                  <a:schemeClr val="accent1"/>
                </a:solidFill>
              </a:rPr>
              <a:t>15 นาที</a:t>
            </a:r>
            <a:endParaRPr lang="en-US" sz="2050" dirty="0"/>
          </a:p>
        </p:txBody>
      </p:sp>
      <p:sp>
        <p:nvSpPr>
          <p:cNvPr id="9" name="agenda-1"/>
          <p:cNvSpPr/>
          <p:nvPr/>
        </p:nvSpPr>
        <p:spPr>
          <a:xfrm>
            <a:off x="457200" y="2313432"/>
            <a:ext cx="11274552" cy="841248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9525">
            <a:solidFill>
              <a:srgbClr val="E1E9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478024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4780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b="1" dirty="0">
                <a:solidFill>
                  <a:schemeClr val="bg1"/>
                </a:solidFill>
              </a:rPr>
              <a:t>2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313432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</a:rPr>
              <a:t>ยื่นคำขอและติดตาม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313432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กรอกแบบฟอร์ม · ติดตามสถานะ · ส่งกลับแก้ไข · PDF</a:t>
            </a:r>
            <a:endParaRPr lang="en-US" sz="205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0" y="2313432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50" b="1" dirty="0">
                <a:solidFill>
                  <a:schemeClr val="accent1"/>
                </a:solidFill>
              </a:rPr>
              <a:t>40 นาที</a:t>
            </a:r>
            <a:endParaRPr lang="en-US" sz="2050" dirty="0"/>
          </a:p>
        </p:txBody>
      </p:sp>
      <p:sp>
        <p:nvSpPr>
          <p:cNvPr id="15" name="agenda-2"/>
          <p:cNvSpPr/>
          <p:nvPr/>
        </p:nvSpPr>
        <p:spPr>
          <a:xfrm>
            <a:off x="457200" y="3300984"/>
            <a:ext cx="11274552" cy="841248"/>
          </a:xfrm>
          <a:prstGeom prst="roundRect">
            <a:avLst>
              <a:gd name="adj" fmla="val 10870"/>
            </a:avLst>
          </a:prstGeom>
          <a:solidFill>
            <a:srgbClr val="EEF4FB"/>
          </a:solidFill>
          <a:ln w="9525">
            <a:solidFill>
              <a:srgbClr val="E1E9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465576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4655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b="1" dirty="0">
                <a:solidFill>
                  <a:schemeClr val="bg1"/>
                </a:solidFill>
              </a:rPr>
              <a:t>3</a:t>
            </a:r>
            <a:endParaRPr lang="en-US" sz="24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300984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</a:rPr>
              <a:t>สำหรับผู้อนุมัติ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300984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อนุมัติในเว็บ · Teams · การเงินแนบสลิป</a:t>
            </a:r>
            <a:endParaRPr lang="en-US" sz="205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0" y="3300984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50" b="1" dirty="0">
                <a:solidFill>
                  <a:schemeClr val="accent1"/>
                </a:solidFill>
              </a:rPr>
              <a:t>20 นาที</a:t>
            </a:r>
            <a:endParaRPr lang="en-US" sz="2050" dirty="0"/>
          </a:p>
        </p:txBody>
      </p:sp>
      <p:sp>
        <p:nvSpPr>
          <p:cNvPr id="21" name="agenda-3"/>
          <p:cNvSpPr/>
          <p:nvPr/>
        </p:nvSpPr>
        <p:spPr>
          <a:xfrm>
            <a:off x="457200" y="4288536"/>
            <a:ext cx="11274552" cy="841248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9525">
            <a:solidFill>
              <a:srgbClr val="E1E9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445312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4453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b="1" dirty="0">
                <a:solidFill>
                  <a:schemeClr val="bg1"/>
                </a:solidFill>
              </a:rPr>
              <a:t>4</a:t>
            </a:r>
            <a:endParaRPr lang="en-US" sz="245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88536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</a:rPr>
              <a:t>เมนูอื่น ๆ</a:t>
            </a:r>
            <a:endParaRPr lang="en-US" sz="27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4288536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ห้องประชุม · ประเมินผล · บุคลากร · ติดต่อ · มือถือ</a:t>
            </a:r>
            <a:endParaRPr lang="en-US" sz="205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0" y="4288536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50" b="1" dirty="0">
                <a:solidFill>
                  <a:schemeClr val="accent1"/>
                </a:solidFill>
              </a:rPr>
              <a:t>25 นาที</a:t>
            </a:r>
            <a:endParaRPr lang="en-US" sz="2050" dirty="0"/>
          </a:p>
        </p:txBody>
      </p:sp>
      <p:sp>
        <p:nvSpPr>
          <p:cNvPr id="27" name="agenda-4"/>
          <p:cNvSpPr/>
          <p:nvPr/>
        </p:nvSpPr>
        <p:spPr>
          <a:xfrm>
            <a:off x="457200" y="5276088"/>
            <a:ext cx="11274552" cy="841248"/>
          </a:xfrm>
          <a:prstGeom prst="roundRect">
            <a:avLst>
              <a:gd name="adj" fmla="val 10870"/>
            </a:avLst>
          </a:prstGeom>
          <a:solidFill>
            <a:srgbClr val="EEF4FB"/>
          </a:solidFill>
          <a:ln w="9525">
            <a:solidFill>
              <a:srgbClr val="E1E9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544068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5440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b="1" dirty="0">
                <a:solidFill>
                  <a:schemeClr val="bg1"/>
                </a:solidFill>
              </a:rPr>
              <a:t>5</a:t>
            </a:r>
            <a:endParaRPr lang="en-US" sz="245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276088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</a:rPr>
              <a:t>ฝึกปฏิบัติและทดสอบ</a:t>
            </a:r>
            <a:endParaRPr lang="en-US" sz="2700" dirty="0"/>
          </a:p>
        </p:txBody>
      </p:sp>
      <p:sp>
        <p:nvSpPr>
          <p:cNvPr id="31" name="Text 29"/>
          <p:cNvSpPr txBox="1"/>
          <p:nvPr/>
        </p:nvSpPr>
        <p:spPr>
          <a:xfrm>
            <a:off x="4754880" y="5276088"/>
            <a:ext cx="5394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แบบฝึก 3 ชุด · ปัญหาที่พบบ่อย · แบบทดสอบ</a:t>
            </a:r>
            <a:endParaRPr lang="en-US" sz="205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0" y="5276088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50" b="1" dirty="0">
                <a:solidFill>
                  <a:schemeClr val="accent1"/>
                </a:solidFill>
              </a:rPr>
              <a:t>20 นาที</a:t>
            </a:r>
            <a:endParaRPr lang="en-US" sz="2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Intranet: ทำงานเอกสารครบในที่เดียว</a:t>
            </a:r>
            <a:endParaRPr lang="en-US" sz="4050" dirty="0"/>
          </a:p>
        </p:txBody>
      </p:sp>
      <p:sp>
        <p:nvSpPr>
          <p:cNvPr id="3" name="menu-0"/>
          <p:cNvSpPr/>
          <p:nvPr/>
        </p:nvSpPr>
        <p:spPr>
          <a:xfrm>
            <a:off x="457200" y="137160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2763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📋</a:t>
            </a:r>
            <a:endParaRPr lang="en-US" sz="32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แบบฟอร์มทั้งหมด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077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ยื่นคำขอแทนกระดาษ</a:t>
            </a:r>
            <a:endParaRPr lang="en-US" sz="1800" dirty="0"/>
          </a:p>
        </p:txBody>
      </p:sp>
      <p:sp>
        <p:nvSpPr>
          <p:cNvPr id="8" name="menu-1"/>
          <p:cNvSpPr/>
          <p:nvPr/>
        </p:nvSpPr>
        <p:spPr>
          <a:xfrm>
            <a:off x="3310128" y="137160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84448" y="1627632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6276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🔎</a:t>
            </a:r>
            <a:endParaRPr lang="en-US" sz="325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ติดตามสถานะ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9077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ดูว่าคำขอถึงใคร · อนุมัติ</a:t>
            </a:r>
            <a:endParaRPr lang="en-US" sz="1800" dirty="0"/>
          </a:p>
        </p:txBody>
      </p:sp>
      <p:sp>
        <p:nvSpPr>
          <p:cNvPr id="13" name="menu-2"/>
          <p:cNvSpPr/>
          <p:nvPr/>
        </p:nvSpPr>
        <p:spPr>
          <a:xfrm>
            <a:off x="6163056" y="137160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37376" y="162763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6276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📜</a:t>
            </a:r>
            <a:endParaRPr lang="en-US" sz="325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นโยบายบริษัท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9077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ระเบียบที่บังคับใช้</a:t>
            </a:r>
            <a:endParaRPr lang="en-US" sz="1800" dirty="0"/>
          </a:p>
        </p:txBody>
      </p:sp>
      <p:sp>
        <p:nvSpPr>
          <p:cNvPr id="18" name="menu-3"/>
          <p:cNvSpPr/>
          <p:nvPr/>
        </p:nvSpPr>
        <p:spPr>
          <a:xfrm>
            <a:off x="9015984" y="137160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90304" y="1627632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90304" y="16276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📅</a:t>
            </a:r>
            <a:endParaRPr lang="en-US" sz="325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จองห้องประชุม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29077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นัดใน Outlook อัตโนมัติ</a:t>
            </a:r>
            <a:endParaRPr lang="en-US" sz="1800" dirty="0"/>
          </a:p>
        </p:txBody>
      </p:sp>
      <p:sp>
        <p:nvSpPr>
          <p:cNvPr id="23" name="menu-4"/>
          <p:cNvSpPr/>
          <p:nvPr/>
        </p:nvSpPr>
        <p:spPr>
          <a:xfrm>
            <a:off x="457200" y="374904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0507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005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📚</a:t>
            </a:r>
            <a:endParaRPr lang="en-US" sz="32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4846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เอกสาร/คู่มือ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2852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คู่มือ ISO ไฟล์ต้นแบบ</a:t>
            </a:r>
            <a:endParaRPr lang="en-US" sz="1800" dirty="0"/>
          </a:p>
        </p:txBody>
      </p:sp>
      <p:sp>
        <p:nvSpPr>
          <p:cNvPr id="28" name="menu-5"/>
          <p:cNvSpPr/>
          <p:nvPr/>
        </p:nvSpPr>
        <p:spPr>
          <a:xfrm>
            <a:off x="3310128" y="374904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84448" y="4005072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84448" y="4005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⭐</a:t>
            </a:r>
            <a:endParaRPr lang="en-US" sz="325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846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ประเมินผลบุคลากร</a:t>
            </a:r>
            <a:endParaRPr lang="en-US" sz="2300" dirty="0"/>
          </a:p>
        </p:txBody>
      </p:sp>
      <p:sp>
        <p:nvSpPr>
          <p:cNvPr id="32" name="Text 30"/>
          <p:cNvSpPr txBox="1"/>
          <p:nvPr/>
        </p:nvSpPr>
        <p:spPr>
          <a:xfrm>
            <a:off x="3584448" y="52852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ประเมิน ลงนาม ดูประวัติ</a:t>
            </a:r>
            <a:endParaRPr lang="en-US" sz="1800" dirty="0"/>
          </a:p>
        </p:txBody>
      </p:sp>
      <p:sp>
        <p:nvSpPr>
          <p:cNvPr id="33" name="menu-6"/>
          <p:cNvSpPr/>
          <p:nvPr/>
        </p:nvSpPr>
        <p:spPr>
          <a:xfrm>
            <a:off x="6163056" y="374904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37376" y="400507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37376" y="4005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👥</a:t>
            </a:r>
            <a:endParaRPr lang="en-US" sz="3250" dirty="0"/>
          </a:p>
        </p:txBody>
      </p:sp>
      <p:sp>
        <p:nvSpPr>
          <p:cNvPr id="36" name="Text 34"/>
          <p:cNvSpPr txBox="1"/>
          <p:nvPr/>
        </p:nvSpPr>
        <p:spPr>
          <a:xfrm>
            <a:off x="6437376" y="4846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บุคลากร</a:t>
            </a:r>
            <a:endParaRPr lang="en-US" sz="2300" dirty="0"/>
          </a:p>
        </p:txBody>
      </p:sp>
      <p:sp>
        <p:nvSpPr>
          <p:cNvPr id="37" name="Text 35"/>
          <p:cNvSpPr txBox="1"/>
          <p:nvPr/>
        </p:nvSpPr>
        <p:spPr>
          <a:xfrm>
            <a:off x="6437376" y="52852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เบอร์ต่อ อีเมล ผังองค์กร</a:t>
            </a:r>
            <a:endParaRPr lang="en-US" sz="1800" dirty="0"/>
          </a:p>
        </p:txBody>
      </p:sp>
      <p:sp>
        <p:nvSpPr>
          <p:cNvPr id="38" name="menu-7"/>
          <p:cNvSpPr/>
          <p:nvPr/>
        </p:nvSpPr>
        <p:spPr>
          <a:xfrm>
            <a:off x="9015984" y="374904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290304" y="4005072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90304" y="4005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50" dirty="0">
                <a:solidFill>
                  <a:srgbClr val="000000"/>
                </a:solidFill>
              </a:rPr>
              <a:t>☎️</a:t>
            </a:r>
            <a:endParaRPr lang="en-US" sz="3250" dirty="0"/>
          </a:p>
        </p:txBody>
      </p:sp>
      <p:sp>
        <p:nvSpPr>
          <p:cNvPr id="41" name="Text 39"/>
          <p:cNvSpPr txBox="1"/>
          <p:nvPr/>
        </p:nvSpPr>
        <p:spPr>
          <a:xfrm>
            <a:off x="9290304" y="4846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ติดต่อ</a:t>
            </a:r>
            <a:endParaRPr lang="en-US" sz="2300" dirty="0"/>
          </a:p>
        </p:txBody>
      </p:sp>
      <p:sp>
        <p:nvSpPr>
          <p:cNvPr id="42" name="Text 40"/>
          <p:cNvSpPr txBox="1"/>
          <p:nvPr/>
        </p:nvSpPr>
        <p:spPr>
          <a:xfrm>
            <a:off x="9290304" y="528523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สมุดโทรศัพท์ · ความคิดเห็น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ตัวอย่างงานจริงที่จะเดินไปด้วยกันวันนี้</a:t>
            </a:r>
            <a:endParaRPr lang="en-US" sz="4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chemeClr val="accent5"/>
                </a:solidFill>
              </a:rPr>
              <a:t>คุณชัยวัฒน์ขอเบิกเงินทดรองจ่าย 12,500 บาท ค่าวัสดุติดตั้งหน้างานโครงการบางปะกง (ข้อมูลตัวอย่าง)</a:t>
            </a:r>
            <a:endParaRPr lang="en-US" sz="2150" dirty="0"/>
          </a:p>
        </p:txBody>
      </p:sp>
      <p:sp>
        <p:nvSpPr>
          <p:cNvPr id="4" name="cast-0"/>
          <p:cNvSpPr/>
          <p:nvPr/>
        </p:nvSpPr>
        <p:spPr>
          <a:xfrm>
            <a:off x="457200" y="187452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21488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b="1" dirty="0">
                <a:solidFill>
                  <a:schemeClr val="bg1"/>
                </a:solidFill>
              </a:rPr>
              <a:t>ต</a:t>
            </a:r>
            <a:endParaRPr lang="en-US" sz="4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คุณชัยวัฒน์ พูนผล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accent5"/>
                </a:solidFill>
              </a:rPr>
              <a:t>วิศวกรออกแบบระบบไฟฟ้า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868680" y="4114800"/>
            <a:ext cx="182880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4114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ผู้ยื่นคำขอ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3090672" y="297180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dirty="0">
                <a:solidFill>
                  <a:schemeClr val="accent5"/>
                </a:solidFill>
              </a:rPr>
              <a:t>➜</a:t>
            </a:r>
            <a:endParaRPr lang="en-US" sz="2450" dirty="0"/>
          </a:p>
        </p:txBody>
      </p:sp>
      <p:sp>
        <p:nvSpPr>
          <p:cNvPr id="12" name="cast-1"/>
          <p:cNvSpPr/>
          <p:nvPr/>
        </p:nvSpPr>
        <p:spPr>
          <a:xfrm>
            <a:off x="3310128" y="187452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78808" y="214884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78808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b="1" dirty="0">
                <a:solidFill>
                  <a:schemeClr val="bg1"/>
                </a:solidFill>
              </a:rPr>
              <a:t>ธ</a:t>
            </a:r>
            <a:endParaRPr lang="en-US" sz="405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คุณธีรพงศ์ สายทอง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accent5"/>
                </a:solidFill>
              </a:rPr>
              <a:t>ผู้จัดการแผนก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3721608" y="4114800"/>
            <a:ext cx="182880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21608" y="4114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อนุมัติลำดับ 1</a:t>
            </a:r>
            <a:endParaRPr lang="en-US" sz="17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97180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dirty="0">
                <a:solidFill>
                  <a:schemeClr val="accent5"/>
                </a:solidFill>
              </a:rPr>
              <a:t>➜</a:t>
            </a:r>
            <a:endParaRPr lang="en-US" sz="2450" dirty="0"/>
          </a:p>
        </p:txBody>
      </p:sp>
      <p:sp>
        <p:nvSpPr>
          <p:cNvPr id="20" name="cast-2"/>
          <p:cNvSpPr/>
          <p:nvPr/>
        </p:nvSpPr>
        <p:spPr>
          <a:xfrm>
            <a:off x="6163056" y="187452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31736" y="214884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31736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b="1" dirty="0">
                <a:solidFill>
                  <a:schemeClr val="bg1"/>
                </a:solidFill>
              </a:rPr>
              <a:t>ส</a:t>
            </a:r>
            <a:endParaRPr lang="en-US" sz="405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คุณสมชาย วัฒนกิจ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300216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accent5"/>
                </a:solidFill>
              </a:rPr>
              <a:t>กรรมการผู้จัดการ</a:t>
            </a:r>
            <a:endParaRPr lang="en-US" sz="1750" dirty="0"/>
          </a:p>
        </p:txBody>
      </p:sp>
      <p:sp>
        <p:nvSpPr>
          <p:cNvPr id="25" name="Shape 23"/>
          <p:cNvSpPr/>
          <p:nvPr/>
        </p:nvSpPr>
        <p:spPr>
          <a:xfrm>
            <a:off x="6574536" y="4114800"/>
            <a:ext cx="182880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74536" y="4114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อนุมัติลำดับ 2</a:t>
            </a:r>
            <a:endParaRPr lang="en-US" sz="17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97180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dirty="0">
                <a:solidFill>
                  <a:schemeClr val="accent5"/>
                </a:solidFill>
              </a:rPr>
              <a:t>➜</a:t>
            </a:r>
            <a:endParaRPr lang="en-US" sz="2450" dirty="0"/>
          </a:p>
        </p:txBody>
      </p:sp>
      <p:sp>
        <p:nvSpPr>
          <p:cNvPr id="28" name="cast-3"/>
          <p:cNvSpPr/>
          <p:nvPr/>
        </p:nvSpPr>
        <p:spPr>
          <a:xfrm>
            <a:off x="9015984" y="187452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84664" y="21488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84664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b="1" dirty="0">
                <a:solidFill>
                  <a:schemeClr val="bg1"/>
                </a:solidFill>
              </a:rPr>
              <a:t>อ</a:t>
            </a:r>
            <a:endParaRPr lang="en-US" sz="4050" dirty="0"/>
          </a:p>
        </p:txBody>
      </p:sp>
      <p:sp>
        <p:nvSpPr>
          <p:cNvPr id="31" name="Text 29"/>
          <p:cNvSpPr txBox="1"/>
          <p:nvPr/>
        </p:nvSpPr>
        <p:spPr>
          <a:xfrm>
            <a:off x="9107424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คุณอรวรรณ พงษ์เจริญ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9153144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accent5"/>
                </a:solidFill>
              </a:rPr>
              <a:t>ฝ่ายบัญชีและการเงิน</a:t>
            </a:r>
            <a:endParaRPr lang="en-US" sz="1750" dirty="0"/>
          </a:p>
        </p:txBody>
      </p:sp>
      <p:sp>
        <p:nvSpPr>
          <p:cNvPr id="33" name="Shape 31"/>
          <p:cNvSpPr/>
          <p:nvPr/>
        </p:nvSpPr>
        <p:spPr>
          <a:xfrm>
            <a:off x="9427464" y="4114800"/>
            <a:ext cx="182880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27464" y="4114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โอนเงิน + แนบสลิป</a:t>
            </a:r>
            <a:endParaRPr lang="en-US" sz="1750" dirty="0"/>
          </a:p>
        </p:txBody>
      </p:sp>
      <p:sp>
        <p:nvSpPr>
          <p:cNvPr id="35" name="callout-note"/>
          <p:cNvSpPr/>
          <p:nvPr/>
        </p:nvSpPr>
        <p:spPr>
          <a:xfrm>
            <a:off x="457200" y="5074920"/>
            <a:ext cx="11274552" cy="73152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1792" y="5074920"/>
            <a:ext cx="10945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ภาพหน้าจอทุกภาพในสไลด์ถ่ายจากระบบจริง ·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วงกลมสีส้มพร้อมตัวเลข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ชี้จุดที่ต้องดูหรือกด ตรงกับคำอธิบายข้างภาพ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/>
          <p:nvPr/>
        </p:nvSpPr>
        <p:spPr>
          <a:xfrm>
            <a:off x="731520" y="251460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514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5146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150" b="1" dirty="0">
                <a:solidFill>
                  <a:schemeClr val="bg1"/>
                </a:solidFill>
              </a:rPr>
              <a:t>เริ่มต้นใช้งาน</a:t>
            </a:r>
            <a:endParaRPr lang="en-US" sz="515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5204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เข้าสู่ระบบ · นโยบาย PDPA · หน้าแรกและเมนู</a:t>
            </a:r>
            <a:endParaRPr lang="en-US" sz="2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เข้าสู่ระบบด้วยบัญชี Microsoft 365</a:t>
            </a:r>
            <a:endParaRPr lang="en-US" sz="4050" dirty="0"/>
          </a:p>
        </p:txBody>
      </p:sp>
      <p:sp>
        <p:nvSpPr>
          <p:cNvPr id="3" name="frame-01-login"/>
          <p:cNvSpPr/>
          <p:nvPr/>
        </p:nvSpPr>
        <p:spPr>
          <a:xfrm>
            <a:off x="420624" y="1552194"/>
            <a:ext cx="6839712" cy="430225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01-login" descr="01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88770"/>
            <a:ext cx="6766560" cy="422910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589520" y="135331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8952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065008" y="1325880"/>
            <a:ext cx="368503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เปิด Edge / Chrome ไปที่ลิงก์ระบบ แล้ว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กดดาวบันทึกไว้</a:t>
            </a:r>
            <a:endParaRPr lang="en-US" sz="1900" dirty="0"/>
          </a:p>
        </p:txBody>
      </p:sp>
      <p:sp>
        <p:nvSpPr>
          <p:cNvPr id="8" name="num-2"/>
          <p:cNvSpPr/>
          <p:nvPr/>
        </p:nvSpPr>
        <p:spPr>
          <a:xfrm>
            <a:off x="7589520" y="219430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1943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065008" y="2166874"/>
            <a:ext cx="368503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เข้าสู่ระบบด้วยบัญชี Microsoft 365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(หมายเลข 1 ในภาพ)</a:t>
            </a:r>
            <a:endParaRPr lang="en-US" sz="1900" dirty="0"/>
          </a:p>
        </p:txBody>
      </p:sp>
      <p:sp>
        <p:nvSpPr>
          <p:cNvPr id="11" name="num-3"/>
          <p:cNvSpPr/>
          <p:nvPr/>
        </p:nvSpPr>
        <p:spPr>
          <a:xfrm>
            <a:off x="7589520" y="30353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3035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065008" y="3007868"/>
            <a:ext cx="368503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ใส่อีเมล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@primepower.co.th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และรหัสผ่านเดียวกับ Outlook</a:t>
            </a:r>
            <a:endParaRPr lang="en-US" sz="1900" dirty="0"/>
          </a:p>
        </p:txBody>
      </p:sp>
      <p:sp>
        <p:nvSpPr>
          <p:cNvPr id="14" name="num-4"/>
          <p:cNvSpPr/>
          <p:nvPr/>
        </p:nvSpPr>
        <p:spPr>
          <a:xfrm>
            <a:off x="7589520" y="387629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38762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8065008" y="3848862"/>
            <a:ext cx="368503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ครั้งแรก Microsoft ถามขออนุญาต กด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Accept</a:t>
            </a:r>
            <a:endParaRPr lang="en-US" sz="1900" dirty="0"/>
          </a:p>
        </p:txBody>
      </p:sp>
      <p:sp>
        <p:nvSpPr>
          <p:cNvPr id="17" name="num-5"/>
          <p:cNvSpPr/>
          <p:nvPr/>
        </p:nvSpPr>
        <p:spPr>
          <a:xfrm>
            <a:off x="7589520" y="47172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589520" y="4717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8065008" y="4689856"/>
            <a:ext cx="368503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อ่านนโยบาย PDPA ที่ลิงก์ใต้ปุ่ม (หมายเลข 2)</a:t>
            </a:r>
            <a:endParaRPr lang="en-US" sz="1900" dirty="0"/>
          </a:p>
        </p:txBody>
      </p:sp>
      <p:sp>
        <p:nvSpPr>
          <p:cNvPr id="20" name="callout-warn"/>
          <p:cNvSpPr/>
          <p:nvPr/>
        </p:nvSpPr>
        <p:spPr>
          <a:xfrm>
            <a:off x="7589520" y="5532120"/>
            <a:ext cx="4160520" cy="640080"/>
          </a:xfrm>
          <a:prstGeom prst="roundRect">
            <a:avLst>
              <a:gd name="adj" fmla="val 11429"/>
            </a:avLst>
          </a:prstGeom>
          <a:solidFill>
            <a:srgbClr val="FFF5E6"/>
          </a:solidFill>
          <a:ln w="12700">
            <a:solidFill>
              <a:srgbClr val="FFF5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54112" y="5532120"/>
            <a:ext cx="3831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ไม่ใช้งาน 60 นาที ระบบออกให้เอง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หน้าแรก: ทุกอย่างที่ใช้บ่อยอยู่ตรงนี้</a:t>
            </a:r>
            <a:endParaRPr lang="en-US" sz="4050" dirty="0"/>
          </a:p>
        </p:txBody>
      </p:sp>
      <p:sp>
        <p:nvSpPr>
          <p:cNvPr id="3" name="frame-04-home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04-home" descr="04-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เมนูหลัก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· ตัวเลขแดง = งานที่รอคุณ</a:t>
            </a:r>
            <a:endParaRPr lang="en-US" sz="1900" dirty="0"/>
          </a:p>
        </p:txBody>
      </p:sp>
      <p:sp>
        <p:nvSpPr>
          <p:cNvPr id="8" name="num-2"/>
          <p:cNvSpPr/>
          <p:nvPr/>
        </p:nvSpPr>
        <p:spPr>
          <a:xfrm>
            <a:off x="8366760" y="224002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2400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2212594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ภาพรวมโครงการ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· ทั้งหมด / กำลังทำ / ล่าช้า</a:t>
            </a:r>
            <a:endParaRPr lang="en-US" sz="1900" dirty="0"/>
          </a:p>
        </p:txBody>
      </p:sp>
      <p:sp>
        <p:nvSpPr>
          <p:cNvPr id="11" name="num-3"/>
          <p:cNvSpPr/>
          <p:nvPr/>
        </p:nvSpPr>
        <p:spPr>
          <a:xfrm>
            <a:off x="8366760" y="30810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30810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3053588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แบบฟอร์มที่ใช้บ่อย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· กดแล้วกรอกได้เลย</a:t>
            </a:r>
            <a:endParaRPr lang="en-US" sz="1900" dirty="0"/>
          </a:p>
        </p:txBody>
      </p:sp>
      <p:sp>
        <p:nvSpPr>
          <p:cNvPr id="14" name="num-4"/>
          <p:cNvSpPr/>
          <p:nvPr/>
        </p:nvSpPr>
        <p:spPr>
          <a:xfrm>
            <a:off x="8366760" y="39220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922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8842248" y="3894582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ข่าวประกาศ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· กดอ่านพร้อมรูปแนบ</a:t>
            </a:r>
            <a:endParaRPr lang="en-US" sz="1900" dirty="0"/>
          </a:p>
        </p:txBody>
      </p:sp>
      <p:sp>
        <p:nvSpPr>
          <p:cNvPr id="17" name="num-5"/>
          <p:cNvSpPr/>
          <p:nvPr/>
        </p:nvSpPr>
        <p:spPr>
          <a:xfrm>
            <a:off x="8366760" y="476300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66760" y="476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8842248" y="4735576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คู่มือการใช้งาน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· รวมคู่มือฉบับเต็ม</a:t>
            </a:r>
            <a:endParaRPr lang="en-US" sz="1900" dirty="0"/>
          </a:p>
        </p:txBody>
      </p:sp>
      <p:sp>
        <p:nvSpPr>
          <p:cNvPr id="20" name="callout-tip"/>
          <p:cNvSpPr/>
          <p:nvPr/>
        </p:nvSpPr>
        <p:spPr>
          <a:xfrm>
            <a:off x="8366760" y="52578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31352" y="5257800"/>
            <a:ext cx="3054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ประกาศสำคัญจะเด้งขึ้นหลังเข้าสู่ระบบ กด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รับทราบ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เพื่อปิด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/>
          <p:nvPr/>
        </p:nvSpPr>
        <p:spPr>
          <a:xfrm>
            <a:off x="731520" y="251460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514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2</a:t>
            </a:r>
            <a:endParaRPr lang="en-US" sz="5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5146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150" b="1" dirty="0">
                <a:solidFill>
                  <a:schemeClr val="bg1"/>
                </a:solidFill>
              </a:rPr>
              <a:t>ยื่นคำขอและติดตามสถานะ</a:t>
            </a:r>
            <a:endParaRPr lang="en-US" sz="515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5204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ตัวอย่างจริง: ขอเบิกเงินทดรองจ่าย 12,500 บาท</a:t>
            </a:r>
            <a:endParaRPr lang="en-US" sz="2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คำขอหนึ่งใบเดินทางอย่างไร</a:t>
            </a:r>
            <a:endParaRPr lang="en-US" sz="4050" dirty="0"/>
          </a:p>
        </p:txBody>
      </p:sp>
      <p:sp>
        <p:nvSpPr>
          <p:cNvPr id="3" name="flow-0"/>
          <p:cNvSpPr/>
          <p:nvPr/>
        </p:nvSpPr>
        <p:spPr>
          <a:xfrm>
            <a:off x="457200" y="1600200"/>
            <a:ext cx="1965960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ยื่นคำขอ</a:t>
            </a:r>
            <a:endParaRPr lang="en-US" sz="2550" dirty="0"/>
          </a:p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ชัยวัฒน์</a:t>
            </a:r>
            <a:endParaRPr lang="en-US" sz="2550" dirty="0"/>
          </a:p>
        </p:txBody>
      </p:sp>
      <p:sp>
        <p:nvSpPr>
          <p:cNvPr id="5" name="Text 3"/>
          <p:cNvSpPr txBox="1"/>
          <p:nvPr/>
        </p:nvSpPr>
        <p:spPr>
          <a:xfrm>
            <a:off x="2423160" y="2057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50" dirty="0">
                <a:solidFill>
                  <a:schemeClr val="accent5"/>
                </a:solidFill>
              </a:rPr>
              <a:t>➜</a:t>
            </a:r>
            <a:endParaRPr lang="en-US" sz="2950" dirty="0"/>
          </a:p>
        </p:txBody>
      </p:sp>
      <p:sp>
        <p:nvSpPr>
          <p:cNvPr id="6" name="flow-1"/>
          <p:cNvSpPr/>
          <p:nvPr/>
        </p:nvSpPr>
        <p:spPr>
          <a:xfrm>
            <a:off x="2743200" y="1600200"/>
            <a:ext cx="196596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34640" y="160020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ลำดับ 1</a:t>
            </a:r>
            <a:endParaRPr lang="en-US" sz="2550" dirty="0"/>
          </a:p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ผู้บังคับบัญชา</a:t>
            </a:r>
            <a:endParaRPr lang="en-US" sz="25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2057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50" dirty="0">
                <a:solidFill>
                  <a:schemeClr val="accent5"/>
                </a:solidFill>
              </a:rPr>
              <a:t>➜</a:t>
            </a:r>
            <a:endParaRPr lang="en-US" sz="2950" dirty="0"/>
          </a:p>
        </p:txBody>
      </p:sp>
      <p:sp>
        <p:nvSpPr>
          <p:cNvPr id="9" name="flow-2"/>
          <p:cNvSpPr/>
          <p:nvPr/>
        </p:nvSpPr>
        <p:spPr>
          <a:xfrm>
            <a:off x="5029200" y="1600200"/>
            <a:ext cx="196596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160020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ลำดับ 2</a:t>
            </a:r>
            <a:endParaRPr lang="en-US" sz="2550" dirty="0"/>
          </a:p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ผู้บริหาร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057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50" dirty="0">
                <a:solidFill>
                  <a:schemeClr val="accent5"/>
                </a:solidFill>
              </a:rPr>
              <a:t>➜</a:t>
            </a:r>
            <a:endParaRPr lang="en-US" sz="2950" dirty="0"/>
          </a:p>
        </p:txBody>
      </p:sp>
      <p:sp>
        <p:nvSpPr>
          <p:cNvPr id="12" name="flow-3"/>
          <p:cNvSpPr/>
          <p:nvPr/>
        </p:nvSpPr>
        <p:spPr>
          <a:xfrm>
            <a:off x="7315200" y="1600200"/>
            <a:ext cx="1965960" cy="146304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06640" y="160020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ลำดับ 3</a:t>
            </a:r>
            <a:endParaRPr lang="en-US" sz="2550" dirty="0"/>
          </a:p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การเงินแนบสลิป</a:t>
            </a:r>
            <a:endParaRPr lang="en-US" sz="25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057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50" dirty="0">
                <a:solidFill>
                  <a:schemeClr val="accent5"/>
                </a:solidFill>
              </a:rPr>
              <a:t>➜</a:t>
            </a:r>
            <a:endParaRPr lang="en-US" sz="2950" dirty="0"/>
          </a:p>
        </p:txBody>
      </p:sp>
      <p:sp>
        <p:nvSpPr>
          <p:cNvPr id="15" name="flow-4"/>
          <p:cNvSpPr/>
          <p:nvPr/>
        </p:nvSpPr>
        <p:spPr>
          <a:xfrm>
            <a:off x="9601200" y="1600200"/>
            <a:ext cx="1965960" cy="146304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92640" y="160020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chemeClr val="bg1"/>
                </a:solidFill>
              </a:rPr>
              <a:t>เสร็จสิ้น</a:t>
            </a:r>
            <a:endParaRPr lang="en-US" sz="2550" dirty="0"/>
          </a:p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แจ้ง Teams + สลิป</a:t>
            </a:r>
            <a:endParaRPr lang="en-US" sz="2550" dirty="0"/>
          </a:p>
        </p:txBody>
      </p:sp>
      <p:sp>
        <p:nvSpPr>
          <p:cNvPr id="17" name="fact-0"/>
          <p:cNvSpPr/>
          <p:nvPr/>
        </p:nvSpPr>
        <p:spPr>
          <a:xfrm>
            <a:off x="457200" y="3611880"/>
            <a:ext cx="3611880" cy="2377440"/>
          </a:xfrm>
          <a:prstGeom prst="roundRect">
            <a:avLst>
              <a:gd name="adj" fmla="val 4615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🤖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480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ระบบหาผู้อนุมัติให้เอง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937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จากหัวหน้าในทะเบียนบุคลากร และเส้นทางอนุมัติของแต่ละฟอร์ม</a:t>
            </a:r>
            <a:endParaRPr lang="en-US" sz="1900" dirty="0"/>
          </a:p>
        </p:txBody>
      </p:sp>
      <p:sp>
        <p:nvSpPr>
          <p:cNvPr id="21" name="fact-1"/>
          <p:cNvSpPr/>
          <p:nvPr/>
        </p:nvSpPr>
        <p:spPr>
          <a:xfrm>
            <a:off x="4251960" y="3611880"/>
            <a:ext cx="3611880" cy="2377440"/>
          </a:xfrm>
          <a:prstGeom prst="roundRect">
            <a:avLst>
              <a:gd name="adj" fmla="val 4615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🔔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480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แจ้งเตือนทาง Teams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4937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ผู้อนุมัติได้การ์ดใน Teams → Approvals ทุกครั้งที่ถึงคิว</a:t>
            </a:r>
            <a:endParaRPr lang="en-US" sz="1900" dirty="0"/>
          </a:p>
        </p:txBody>
      </p:sp>
      <p:sp>
        <p:nvSpPr>
          <p:cNvPr id="25" name="fact-2"/>
          <p:cNvSpPr/>
          <p:nvPr/>
        </p:nvSpPr>
        <p:spPr>
          <a:xfrm>
            <a:off x="8046720" y="3611880"/>
            <a:ext cx="3611880" cy="2377440"/>
          </a:xfrm>
          <a:prstGeom prst="roundRect">
            <a:avLst>
              <a:gd name="adj" fmla="val 4615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↩️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4480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</a:rPr>
              <a:t>ส่งกลับได้ทุกลำดับ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937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ผู้ยื่นแก้แล้วยื่นใหม่ เริ่มอนุมัติจากลำดับแรก เลขที่เดิม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ขั้นที่ 1: หาแบบฟอร์ม</a:t>
            </a:r>
            <a:endParaRPr lang="en-US" sz="4050" dirty="0"/>
          </a:p>
        </p:txBody>
      </p:sp>
      <p:sp>
        <p:nvSpPr>
          <p:cNvPr id="3" name="frame-10-forms-search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10-forms-search" descr="10-forms-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เมนู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แบบฟอร์มทั้งหมด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8366760" y="196221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19622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1934782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พิมพ์ในช่องค้นหา เช่น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เบิกเงิน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8366760" y="2850833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85083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2823401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กดการ์ด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แบบฟอร์มขอเบิกเงินทดรองจ่าย</a:t>
            </a:r>
            <a:endParaRPr lang="en-US" sz="2050" dirty="0"/>
          </a:p>
        </p:txBody>
      </p:sp>
      <p:sp>
        <p:nvSpPr>
          <p:cNvPr id="14" name="callout-tip"/>
          <p:cNvSpPr/>
          <p:nvPr/>
        </p:nvSpPr>
        <p:spPr>
          <a:xfrm>
            <a:off x="8366760" y="452628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31352" y="4526280"/>
            <a:ext cx="3054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ป้าย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ใช้บ่อย / ต้องอนุมัติ / ใหม่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บนการ์ด ช่วยให้หาง่าย · การ์ด “เปิดระบบ ↗” คือระบบภายนอก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ขั้นที่ 2: กรอกข้อมูลทั่วไป</a:t>
            </a:r>
            <a:endParaRPr lang="en-US" sz="4050" dirty="0"/>
          </a:p>
        </p:txBody>
      </p:sp>
      <p:sp>
        <p:nvSpPr>
          <p:cNvPr id="3" name="frame-12-form-fill1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12-form-fill1" descr="12-form-fill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ชื่อเรื่อง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สั้นและสื่อความ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8366760" y="19622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19622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1934782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วันที่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ระบบใส่วันนี้ให้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8366760" y="2525395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52539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2497963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ชื่อโครงการ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พิมพ์บางคำแล้วเลือกจากรายการ</a:t>
            </a:r>
            <a:endParaRPr lang="en-US" sz="2050" dirty="0"/>
          </a:p>
        </p:txBody>
      </p:sp>
      <p:sp>
        <p:nvSpPr>
          <p:cNvPr id="14" name="num-4"/>
          <p:cNvSpPr/>
          <p:nvPr/>
        </p:nvSpPr>
        <p:spPr>
          <a:xfrm>
            <a:off x="8366760" y="34140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14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8842248" y="3386582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วันที่ขอใช้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วันที่ต้องใช้เงิน</a:t>
            </a:r>
            <a:endParaRPr lang="en-US" sz="2050" dirty="0"/>
          </a:p>
        </p:txBody>
      </p:sp>
      <p:sp>
        <p:nvSpPr>
          <p:cNvPr id="17" name="callout-note"/>
          <p:cNvSpPr/>
          <p:nvPr/>
        </p:nvSpPr>
        <p:spPr>
          <a:xfrm>
            <a:off x="8366760" y="507492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531352" y="5074920"/>
            <a:ext cx="3054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ข้อมูลผู้ยื่น (ช่องสีเทา) ระบบดึงมาให้ ถ้าผิดแจ้ง HR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ขั้นที่ 3: รายละเอียดและไฟล์แนบ</a:t>
            </a:r>
            <a:endParaRPr lang="en-US" sz="4050" dirty="0"/>
          </a:p>
        </p:txBody>
      </p:sp>
      <p:sp>
        <p:nvSpPr>
          <p:cNvPr id="3" name="frame-13-form-fill2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13-form-fill2" descr="13-form-fill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5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เหตุผล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ซื้ออะไร ใช้ที่ไหน ทำไม</a:t>
            </a:r>
            <a:endParaRPr lang="en-US" sz="2050" dirty="0"/>
          </a:p>
        </p:txBody>
      </p:sp>
      <p:sp>
        <p:nvSpPr>
          <p:cNvPr id="8" name="num-6"/>
          <p:cNvSpPr/>
          <p:nvPr/>
        </p:nvSpPr>
        <p:spPr>
          <a:xfrm>
            <a:off x="8366760" y="2287651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6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2260219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จำนวนเงิน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ตัวเลขอย่างเดียว เช่น 12500</a:t>
            </a:r>
            <a:endParaRPr lang="en-US" sz="2050" dirty="0"/>
          </a:p>
        </p:txBody>
      </p:sp>
      <p:sp>
        <p:nvSpPr>
          <p:cNvPr id="11" name="num-7"/>
          <p:cNvSpPr/>
          <p:nvPr/>
        </p:nvSpPr>
        <p:spPr>
          <a:xfrm>
            <a:off x="8366760" y="317627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317627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7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3148838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+ แนบไฟล์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ใบเสนอราคา / ใบเสร็จ</a:t>
            </a:r>
            <a:endParaRPr lang="en-US" sz="2050" dirty="0"/>
          </a:p>
        </p:txBody>
      </p:sp>
      <p:sp>
        <p:nvSpPr>
          <p:cNvPr id="14" name="callout-tip"/>
          <p:cNvSpPr/>
          <p:nvPr/>
        </p:nvSpPr>
        <p:spPr>
          <a:xfrm>
            <a:off x="8366760" y="448056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31352" y="4480560"/>
            <a:ext cx="305409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สูงสุด 5 ไฟล์ ไฟล์ละไม่เกิน 10 MB · รูปภาพหรือ PDF · มือถือถ่ายรูปแนบได้ทันที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ขั้นที่ 4: ลงลายเซ็นและส่งคำขอ</a:t>
            </a:r>
            <a:endParaRPr lang="en-US" sz="4050" dirty="0"/>
          </a:p>
        </p:txBody>
      </p:sp>
      <p:sp>
        <p:nvSpPr>
          <p:cNvPr id="3" name="frame-14-form-sign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14-form-sign" descr="14-form-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8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8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อ่าน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หมายเหตุ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กรอบเหลือง (เงื่อนไขเวลา)</a:t>
            </a:r>
            <a:endParaRPr lang="en-US" sz="2050" dirty="0"/>
          </a:p>
        </p:txBody>
      </p:sp>
      <p:sp>
        <p:nvSpPr>
          <p:cNvPr id="8" name="num-9"/>
          <p:cNvSpPr/>
          <p:nvPr/>
        </p:nvSpPr>
        <p:spPr>
          <a:xfrm>
            <a:off x="8366760" y="2287651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9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2260219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เซ็น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ในกรอบ หรืออัปโหลดรูปลายเซ็น</a:t>
            </a:r>
            <a:endParaRPr lang="en-US" sz="2050" dirty="0"/>
          </a:p>
        </p:txBody>
      </p:sp>
      <p:sp>
        <p:nvSpPr>
          <p:cNvPr id="11" name="num-10"/>
          <p:cNvSpPr/>
          <p:nvPr/>
        </p:nvSpPr>
        <p:spPr>
          <a:xfrm>
            <a:off x="8366760" y="317627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317627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10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3148838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ดาวน์โหลดตัวอย่างเอกสาร (ไม่บังคับ)</a:t>
            </a:r>
            <a:endParaRPr lang="en-US" sz="2050" dirty="0"/>
          </a:p>
        </p:txBody>
      </p:sp>
      <p:sp>
        <p:nvSpPr>
          <p:cNvPr id="14" name="num-11"/>
          <p:cNvSpPr/>
          <p:nvPr/>
        </p:nvSpPr>
        <p:spPr>
          <a:xfrm>
            <a:off x="8366760" y="4064889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406488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11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8842248" y="4037457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ส่งคำขอ</a:t>
            </a:r>
            <a:endParaRPr lang="en-US" sz="2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ขั้นที่ 5: ตรวจทาน ยืนยัน ได้เลขที่คำขอ</a:t>
            </a:r>
            <a:endParaRPr lang="en-US" sz="4050" dirty="0"/>
          </a:p>
        </p:txBody>
      </p:sp>
      <p:sp>
        <p:nvSpPr>
          <p:cNvPr id="3" name="frame-15-form-confirm"/>
          <p:cNvSpPr/>
          <p:nvPr/>
        </p:nvSpPr>
        <p:spPr>
          <a:xfrm>
            <a:off x="420624" y="1435037"/>
            <a:ext cx="5605272" cy="3530727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15-form-confirm" descr="15-form-confi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1613"/>
            <a:ext cx="5532120" cy="3457575"/>
          </a:xfrm>
          <a:prstGeom prst="rect">
            <a:avLst/>
          </a:prstGeom>
        </p:spPr>
      </p:pic>
      <p:sp>
        <p:nvSpPr>
          <p:cNvPr id="5" name="frame-16-form-sent"/>
          <p:cNvSpPr/>
          <p:nvPr/>
        </p:nvSpPr>
        <p:spPr>
          <a:xfrm>
            <a:off x="6181344" y="1435037"/>
            <a:ext cx="5605272" cy="3530727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6" name="shot-16-form-sent" descr="16-form-s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71613"/>
            <a:ext cx="5532120" cy="34575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534924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ตรวจข้อมูลทั้งหมดในหน้าต่างสรุป → ถูกต้องกด ยืนยันส่งคำขอ · ผิดกด กลับไปแก้ไข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34924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ส่งสำเร็จได้ เลขที่คำขอ เช่น FM-ACC-002-001-2026 จดไว้อ้างอิง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ติดตามสถานะ: คำขอถึงใครแล้ว</a:t>
            </a:r>
            <a:endParaRPr lang="en-US" sz="4050" dirty="0"/>
          </a:p>
        </p:txBody>
      </p:sp>
      <p:sp>
        <p:nvSpPr>
          <p:cNvPr id="3" name="frame-18-request-detail"/>
          <p:cNvSpPr/>
          <p:nvPr/>
        </p:nvSpPr>
        <p:spPr>
          <a:xfrm>
            <a:off x="857042" y="1197864"/>
            <a:ext cx="5509676" cy="505663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18-request-detail" descr="18-request-det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18" y="1234440"/>
            <a:ext cx="5436524" cy="49834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13232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7607808" y="1371600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สถานะ ผู้ยื่น เวลายื่น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7132320" y="19622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0" y="19622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1934782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ข้อมูลที่กรอก · กดไฟล์แนบเพื่อเปิด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7132320" y="2525395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252539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7607808" y="2497963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เส้นทางอนุมัติ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เขียว = ผ่าน · น้ำเงิน = กำลังรอ (บอกเวลาที่รอ)</a:t>
            </a:r>
            <a:endParaRPr lang="en-US" sz="2050" dirty="0"/>
          </a:p>
        </p:txBody>
      </p:sp>
      <p:sp>
        <p:nvSpPr>
          <p:cNvPr id="14" name="num-4"/>
          <p:cNvSpPr/>
          <p:nvPr/>
        </p:nvSpPr>
        <p:spPr>
          <a:xfrm>
            <a:off x="7132320" y="34140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0" y="3414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7607808" y="3386582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แก้ไข / ยกเลิก ได้ก่อนมีคนอนุมัติ</a:t>
            </a:r>
            <a:endParaRPr lang="en-US" sz="2050" dirty="0"/>
          </a:p>
        </p:txBody>
      </p:sp>
      <p:sp>
        <p:nvSpPr>
          <p:cNvPr id="17" name="num-5"/>
          <p:cNvSpPr/>
          <p:nvPr/>
        </p:nvSpPr>
        <p:spPr>
          <a:xfrm>
            <a:off x="7132320" y="397719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32320" y="39771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7607808" y="3949764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ส่งออกเป็นเอกสาร PDF</a:t>
            </a:r>
            <a:endParaRPr lang="en-US" sz="2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ความหมายของสถานะ</a:t>
            </a:r>
            <a:endParaRPr lang="en-US" sz="4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4165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chemeClr val="bg1"/>
                          </a:solidFill>
                        </a:rPr>
                        <a:t>สถานะ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chemeClr val="bg1"/>
                          </a:solidFill>
                        </a:rPr>
                        <a:t>ความหมาย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chemeClr val="bg1"/>
                          </a:solidFill>
                        </a:rPr>
                        <a:t>ต้องทำอะไร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rgbClr val="0B5CAD"/>
                          </a:solidFill>
                        </a:rPr>
                        <a:t>รออนุมัติ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อยู่ระหว่างรอผู้อนุมัติ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รอ · ค้างนานติดต่อผู้อนุมัติ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rgbClr val="9A5B00"/>
                          </a:solidFill>
                        </a:rPr>
                        <a:t>ส่งกลับแก้ไข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ผู้อนุมัติขอให้แก้หรือเพิ่มข้อมูล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อ่านเหตุผล → แก้ไขและยื่นใหม่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rgbClr val="B42318"/>
                          </a:solidFill>
                        </a:rPr>
                        <a:t>ไม่อนุมัติ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ถูกปฏิเสธ จบการพิจารณา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อ่านเหตุผล · ยื่นใหม่ถ้าจำเป็น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rgbClr val="1E7F4F"/>
                          </a:solidFill>
                        </a:rPr>
                        <a:t>อนุมัติแล้ว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ผ่านครบทุกลำดับ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ดำเนินการตามที่ขอ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rgbClr val="1E7F4F"/>
                          </a:solidFill>
                        </a:rPr>
                        <a:t>เสร็จสิ้น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ปิดงานแล้ว เช่น โอนเงินแล้ว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ตรวจสลิป · เก็บ PDF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b="1" dirty="0">
                          <a:solidFill>
                            <a:srgbClr val="5C6A7A"/>
                          </a:solidFill>
                        </a:rPr>
                        <a:t>ยกเลิก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ผู้ยื่นยกเลิกเอง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21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ถูกส่งกลับแก้ไข: แก้แล้วยื่นใหม่ได้เลย</a:t>
            </a:r>
            <a:endParaRPr lang="en-US" sz="4050" dirty="0"/>
          </a:p>
        </p:txBody>
      </p:sp>
      <p:sp>
        <p:nvSpPr>
          <p:cNvPr id="3" name="frame-31-sentback-view"/>
          <p:cNvSpPr/>
          <p:nvPr/>
        </p:nvSpPr>
        <p:spPr>
          <a:xfrm>
            <a:off x="857042" y="1197864"/>
            <a:ext cx="5509676" cy="505663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31-sentback-view" descr="31-sentback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18" y="1234440"/>
            <a:ext cx="5436524" cy="49834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13232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7607808" y="1371600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สถานะ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ส่งกลับแก้ไข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7132320" y="19622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0" y="19622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1934782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อ่าน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เหตุผล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ในกรอบสีแดง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7132320" y="2525395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252539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7607808" y="2497963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แก้ไขและยื่นใหม่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· ข้อมูลเดิมถูกใส่ไว้ให้</a:t>
            </a:r>
            <a:endParaRPr lang="en-US" sz="2050" dirty="0"/>
          </a:p>
        </p:txBody>
      </p:sp>
      <p:sp>
        <p:nvSpPr>
          <p:cNvPr id="14" name="num-4"/>
          <p:cNvSpPr/>
          <p:nvPr/>
        </p:nvSpPr>
        <p:spPr>
          <a:xfrm>
            <a:off x="7132320" y="34140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0" y="3414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7607808" y="3386582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หรือ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ยกเลิกคำขอ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(ถาวร)</a:t>
            </a:r>
            <a:endParaRPr lang="en-US" sz="2050" dirty="0"/>
          </a:p>
        </p:txBody>
      </p:sp>
      <p:sp>
        <p:nvSpPr>
          <p:cNvPr id="17" name="callout-note"/>
          <p:cNvSpPr/>
          <p:nvPr/>
        </p:nvSpPr>
        <p:spPr>
          <a:xfrm>
            <a:off x="7132320" y="5120640"/>
            <a:ext cx="4617720" cy="1051560"/>
          </a:xfrm>
          <a:prstGeom prst="roundRect">
            <a:avLst>
              <a:gd name="adj" fmla="val 6957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96912" y="5120640"/>
            <a:ext cx="4288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ยื่นใหม่ใช้เลขที่เดิม และเริ่มอนุมัติจากลำดับแรก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/>
          <p:nvPr/>
        </p:nvSpPr>
        <p:spPr>
          <a:xfrm>
            <a:off x="731520" y="251460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514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3</a:t>
            </a:r>
            <a:endParaRPr lang="en-US" sz="5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5146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150" b="1" dirty="0">
                <a:solidFill>
                  <a:schemeClr val="bg1"/>
                </a:solidFill>
              </a:rPr>
              <a:t>สำหรับผู้อนุมัติ</a:t>
            </a:r>
            <a:endParaRPr lang="en-US" sz="515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5204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อนุมัติในเว็บ · อนุมัติผ่าน Teams · การเงินแนบสลิปและปิดงาน</a:t>
            </a:r>
            <a:endParaRPr lang="en-US" sz="2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อนุมัติในเว็บ: 3 ปุ่มตัดสินใจ</a:t>
            </a:r>
            <a:endParaRPr lang="en-US" sz="4050" dirty="0"/>
          </a:p>
        </p:txBody>
      </p:sp>
      <p:sp>
        <p:nvSpPr>
          <p:cNvPr id="3" name="frame-20-approver-action"/>
          <p:cNvSpPr/>
          <p:nvPr/>
        </p:nvSpPr>
        <p:spPr>
          <a:xfrm>
            <a:off x="857042" y="1197864"/>
            <a:ext cx="5509676" cy="505663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20-approver-action" descr="20-approver-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18" y="1234440"/>
            <a:ext cx="5436524" cy="49834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13232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7607808" y="1371600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พิมพ์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ความเห็น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(บังคับเมื่อส่งกลับ/ไม่อนุมัติ) · ผู้ยื่นเห็นเป็นกรอบแดง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7132320" y="2287651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2260219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✓ อนุมัติ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ส่งต่อลำดับถัดไป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7132320" y="2850833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285083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7607808" y="2823401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↩ ส่งกลับแก้ไข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คืนให้ผู้ยื่นแก้</a:t>
            </a:r>
            <a:endParaRPr lang="en-US" sz="2050" dirty="0"/>
          </a:p>
        </p:txBody>
      </p:sp>
      <p:sp>
        <p:nvSpPr>
          <p:cNvPr id="14" name="num-4"/>
          <p:cNvSpPr/>
          <p:nvPr/>
        </p:nvSpPr>
        <p:spPr>
          <a:xfrm>
            <a:off x="7132320" y="34140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0" y="3414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7607808" y="3386582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✗ ไม่อนุมัติ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ปฏิเสธและจบคำขอ</a:t>
            </a:r>
            <a:endParaRPr lang="en-US" sz="2050" dirty="0"/>
          </a:p>
        </p:txBody>
      </p:sp>
      <p:sp>
        <p:nvSpPr>
          <p:cNvPr id="17" name="callout-tip"/>
          <p:cNvSpPr/>
          <p:nvPr/>
        </p:nvSpPr>
        <p:spPr>
          <a:xfrm>
            <a:off x="7132320" y="5120640"/>
            <a:ext cx="4617720" cy="1051560"/>
          </a:xfrm>
          <a:prstGeom prst="roundRect">
            <a:avLst>
              <a:gd name="adj" fmla="val 6957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96912" y="5120640"/>
            <a:ext cx="4288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ตัวเลขแดงที่เมนู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ติดตามสถานะ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= คำขอที่ถึงคิวคุณ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อนุมัติผ่าน Microsoft Teams</a:t>
            </a:r>
            <a:endParaRPr lang="en-US" sz="4050" dirty="0"/>
          </a:p>
        </p:txBody>
      </p:sp>
      <p:sp>
        <p:nvSpPr>
          <p:cNvPr id="3" name="num-1"/>
          <p:cNvSpPr/>
          <p:nvPr/>
        </p:nvSpPr>
        <p:spPr>
          <a:xfrm>
            <a:off x="457200" y="13990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1371600"/>
            <a:ext cx="6108192" cy="792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เปิดแอป </a:t>
            </a:r>
            <a:pPr indent="0" marL="0">
              <a:buNone/>
            </a:pPr>
            <a:r>
              <a:rPr lang="en-US" sz="2150" b="1" dirty="0">
                <a:solidFill>
                  <a:schemeClr val="tx2"/>
                </a:solidFill>
              </a:rPr>
              <a:t>Teams</a:t>
            </a:r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 → แถบซ้าย </a:t>
            </a:r>
            <a:pPr indent="0" marL="0">
              <a:buNone/>
            </a:pPr>
            <a:r>
              <a:rPr lang="en-US" sz="2150" b="1" dirty="0">
                <a:solidFill>
                  <a:schemeClr val="tx2"/>
                </a:solidFill>
              </a:rPr>
              <a:t>Approvals</a:t>
            </a:r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 (ไม่เห็นกด “…” แล้วค้นหา)</a:t>
            </a:r>
            <a:endParaRPr lang="en-US" sz="2150" dirty="0"/>
          </a:p>
        </p:txBody>
      </p:sp>
      <p:sp>
        <p:nvSpPr>
          <p:cNvPr id="6" name="num-2"/>
          <p:cNvSpPr/>
          <p:nvPr/>
        </p:nvSpPr>
        <p:spPr>
          <a:xfrm>
            <a:off x="457200" y="2319401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1940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291969"/>
            <a:ext cx="6108192" cy="451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แท็บ </a:t>
            </a:r>
            <a:pPr indent="0" marL="0">
              <a:buNone/>
            </a:pPr>
            <a:r>
              <a:rPr lang="en-US" sz="2150" b="1" dirty="0">
                <a:solidFill>
                  <a:schemeClr val="tx2"/>
                </a:solidFill>
              </a:rPr>
              <a:t>Received</a:t>
            </a:r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 → การ์ด “ขออนุมัติ FM-xxx จาก …”</a:t>
            </a:r>
            <a:endParaRPr lang="en-US" sz="2150" dirty="0"/>
          </a:p>
        </p:txBody>
      </p:sp>
      <p:sp>
        <p:nvSpPr>
          <p:cNvPr id="9" name="num-3"/>
          <p:cNvSpPr/>
          <p:nvPr/>
        </p:nvSpPr>
        <p:spPr>
          <a:xfrm>
            <a:off x="457200" y="2898457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9845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2871026"/>
            <a:ext cx="6108192" cy="792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กดการ์ด อ่านรายละเอียด · ลิงก์ </a:t>
            </a:r>
            <a:pPr indent="0" marL="0">
              <a:buNone/>
            </a:pPr>
            <a:r>
              <a:rPr lang="en-US" sz="2150" b="1" dirty="0">
                <a:solidFill>
                  <a:schemeClr val="tx2"/>
                </a:solidFill>
              </a:rPr>
              <a:t>เปิดดูรายละเอียดคำขอ</a:t>
            </a:r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 ไปเว็บ</a:t>
            </a:r>
            <a:endParaRPr lang="en-US" sz="2150" dirty="0"/>
          </a:p>
        </p:txBody>
      </p:sp>
      <p:sp>
        <p:nvSpPr>
          <p:cNvPr id="12" name="num-4"/>
          <p:cNvSpPr/>
          <p:nvPr/>
        </p:nvSpPr>
        <p:spPr>
          <a:xfrm>
            <a:off x="457200" y="3818827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81882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3791394"/>
            <a:ext cx="6108192" cy="792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เลือก </a:t>
            </a:r>
            <a:pPr indent="0" marL="0">
              <a:buNone/>
            </a:pPr>
            <a:r>
              <a:rPr lang="en-US" sz="2150" b="1" dirty="0">
                <a:solidFill>
                  <a:schemeClr val="tx2"/>
                </a:solidFill>
              </a:rPr>
              <a:t>อนุมัติ / ส่งกลับแก้ไข / ไม่อนุมัติ</a:t>
            </a:r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 · พิมพ์เหตุผลใน Comments</a:t>
            </a:r>
            <a:endParaRPr lang="en-US" sz="2150" dirty="0"/>
          </a:p>
        </p:txBody>
      </p:sp>
      <p:sp>
        <p:nvSpPr>
          <p:cNvPr id="15" name="num-5"/>
          <p:cNvSpPr/>
          <p:nvPr/>
        </p:nvSpPr>
        <p:spPr>
          <a:xfrm>
            <a:off x="457200" y="473919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7391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4711764"/>
            <a:ext cx="6108192" cy="451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150" b="1" dirty="0">
                <a:solidFill>
                  <a:schemeClr val="tx2"/>
                </a:solidFill>
              </a:rPr>
              <a:t>Submit</a:t>
            </a:r>
            <a:pPr indent="0" marL="0">
              <a:buNone/>
            </a:pPr>
            <a:r>
              <a:rPr lang="en-US" sz="2150" dirty="0">
                <a:solidFill>
                  <a:schemeClr val="tx1"/>
                </a:solidFill>
              </a:rPr>
              <a:t> · สถานะในเว็บเปลี่ยนภายในไม่กี่นาที</a:t>
            </a:r>
            <a:endParaRPr lang="en-US" sz="2150" dirty="0"/>
          </a:p>
        </p:txBody>
      </p:sp>
      <p:sp>
        <p:nvSpPr>
          <p:cNvPr id="18" name="callout-warn"/>
          <p:cNvSpPr/>
          <p:nvPr/>
        </p:nvSpPr>
        <p:spPr>
          <a:xfrm>
            <a:off x="7406640" y="1371600"/>
            <a:ext cx="4343400" cy="1463040"/>
          </a:xfrm>
          <a:prstGeom prst="roundRect">
            <a:avLst>
              <a:gd name="adj" fmla="val 5000"/>
            </a:avLst>
          </a:prstGeom>
          <a:solidFill>
            <a:srgbClr val="FFF5E6"/>
          </a:solidFill>
          <a:ln w="12700">
            <a:solidFill>
              <a:srgbClr val="FFF5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71232" y="1371600"/>
            <a:ext cx="4014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เป็นผู้อนุมัติหลายลำดับในคำขอเดียว จะมีการ์ดชื่อเดียวกัน 2 ใบ — กด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ใบล่าสุด</a:t>
            </a:r>
            <a:endParaRPr lang="en-US" sz="1900" dirty="0"/>
          </a:p>
        </p:txBody>
      </p:sp>
      <p:sp>
        <p:nvSpPr>
          <p:cNvPr id="20" name="callout-note"/>
          <p:cNvSpPr/>
          <p:nvPr/>
        </p:nvSpPr>
        <p:spPr>
          <a:xfrm>
            <a:off x="7406640" y="3063240"/>
            <a:ext cx="4343400" cy="1280160"/>
          </a:xfrm>
          <a:prstGeom prst="roundRect">
            <a:avLst>
              <a:gd name="adj" fmla="val 5714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71232" y="3063240"/>
            <a:ext cx="40142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อนุมัติในเว็บไปแล้ว การ์ดเก่าใน Teams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ไม่มีผล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ไม่ต้องกดซ้ำ</a:t>
            </a:r>
            <a:endParaRPr lang="en-US" sz="1900" dirty="0"/>
          </a:p>
        </p:txBody>
      </p:sp>
      <p:sp>
        <p:nvSpPr>
          <p:cNvPr id="22" name="callout-tip"/>
          <p:cNvSpPr/>
          <p:nvPr/>
        </p:nvSpPr>
        <p:spPr>
          <a:xfrm>
            <a:off x="7406640" y="4572000"/>
            <a:ext cx="434340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71232" y="4572000"/>
            <a:ext cx="40142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เกิน 10 นาทีเว็บยังไม่เปลี่ยน ให้อนุมัติในเว็บและแจ้งผู้ดูแลระบบ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การเงิน: อนุมัติโอนเงิน + แนบสลิป</a:t>
            </a:r>
            <a:endParaRPr lang="en-US" sz="4050" dirty="0"/>
          </a:p>
        </p:txBody>
      </p:sp>
      <p:sp>
        <p:nvSpPr>
          <p:cNvPr id="3" name="frame-22-slip-empty"/>
          <p:cNvSpPr/>
          <p:nvPr/>
        </p:nvSpPr>
        <p:spPr>
          <a:xfrm>
            <a:off x="420624" y="1915097"/>
            <a:ext cx="3776472" cy="2387727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22-slip-empty" descr="22-slip-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51673"/>
            <a:ext cx="3703320" cy="2314575"/>
          </a:xfrm>
          <a:prstGeom prst="rect">
            <a:avLst/>
          </a:prstGeom>
        </p:spPr>
      </p:pic>
      <p:sp>
        <p:nvSpPr>
          <p:cNvPr id="5" name="frame-23-slip-ready"/>
          <p:cNvSpPr/>
          <p:nvPr/>
        </p:nvSpPr>
        <p:spPr>
          <a:xfrm>
            <a:off x="4306824" y="1915097"/>
            <a:ext cx="3776472" cy="2387727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6" name="shot-23-slip-ready" descr="23-slip-read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951673"/>
            <a:ext cx="3703320" cy="2314575"/>
          </a:xfrm>
          <a:prstGeom prst="rect">
            <a:avLst/>
          </a:prstGeom>
        </p:spPr>
      </p:pic>
      <p:sp>
        <p:nvSpPr>
          <p:cNvPr id="7" name="num-1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9" name="Text 5"/>
          <p:cNvSpPr txBox="1"/>
          <p:nvPr/>
        </p:nvSpPr>
        <p:spPr>
          <a:xfrm>
            <a:off x="8842248" y="1371600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✓ อนุมัติ (แนบสลิปโอนเงิน)</a:t>
            </a:r>
            <a:endParaRPr lang="en-US" sz="1900" dirty="0"/>
          </a:p>
        </p:txBody>
      </p:sp>
      <p:sp>
        <p:nvSpPr>
          <p:cNvPr id="10" name="num-2"/>
          <p:cNvSpPr/>
          <p:nvPr/>
        </p:nvSpPr>
        <p:spPr>
          <a:xfrm>
            <a:off x="8366760" y="2240026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366760" y="22400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2" name="Text 8"/>
          <p:cNvSpPr txBox="1"/>
          <p:nvPr/>
        </p:nvSpPr>
        <p:spPr>
          <a:xfrm>
            <a:off x="8842248" y="2212594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แนบสลิป: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คลิกเลือกไฟล์ · ลากวาง · Ctrl+V</a:t>
            </a:r>
            <a:endParaRPr lang="en-US" sz="1900" dirty="0"/>
          </a:p>
        </p:txBody>
      </p:sp>
      <p:sp>
        <p:nvSpPr>
          <p:cNvPr id="13" name="num-3"/>
          <p:cNvSpPr/>
          <p:nvPr/>
        </p:nvSpPr>
        <p:spPr>
          <a:xfrm>
            <a:off x="8366760" y="308102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366760" y="30810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5" name="Text 11"/>
          <p:cNvSpPr txBox="1"/>
          <p:nvPr/>
        </p:nvSpPr>
        <p:spPr>
          <a:xfrm>
            <a:off x="8842248" y="3053588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รอ “✓ แนบแล้ว” แล้วกด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ยืนยันอนุมัติและปิดงาน</a:t>
            </a:r>
            <a:endParaRPr lang="en-US" sz="1900" dirty="0"/>
          </a:p>
        </p:txBody>
      </p:sp>
      <p:sp>
        <p:nvSpPr>
          <p:cNvPr id="16" name="num-4"/>
          <p:cNvSpPr/>
          <p:nvPr/>
        </p:nvSpPr>
        <p:spPr>
          <a:xfrm>
            <a:off x="8366760" y="392201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366760" y="3922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8" name="Text 14"/>
          <p:cNvSpPr txBox="1"/>
          <p:nvPr/>
        </p:nvSpPr>
        <p:spPr>
          <a:xfrm>
            <a:off x="8842248" y="3894582"/>
            <a:ext cx="2907792" cy="71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ระบบปิดงานและ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แจ้งผู้ยื่นทาง Teams พร้อมรูปสลิป</a:t>
            </a:r>
            <a:endParaRPr lang="en-US" sz="1900" dirty="0"/>
          </a:p>
        </p:txBody>
      </p:sp>
      <p:sp>
        <p:nvSpPr>
          <p:cNvPr id="19" name="callout-note"/>
          <p:cNvSpPr/>
          <p:nvPr/>
        </p:nvSpPr>
        <p:spPr>
          <a:xfrm>
            <a:off x="457200" y="5212080"/>
            <a:ext cx="7589520" cy="960120"/>
          </a:xfrm>
          <a:prstGeom prst="roundRect">
            <a:avLst>
              <a:gd name="adj" fmla="val 7619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792" y="5212080"/>
            <a:ext cx="7260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ใช้กับ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แบบฟอร์มขอเบิกเงินทดรองจ่าย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และ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แบบฟอร์มเบิกเงินสำรองโครงการ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· กดยกเลิก = ยังไม่อนุมัติ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ผู้ยื่นเห็นผล: ความเห็นกรอบแดงและสลิป</a:t>
            </a:r>
            <a:endParaRPr lang="en-US" sz="4050" dirty="0"/>
          </a:p>
        </p:txBody>
      </p:sp>
      <p:sp>
        <p:nvSpPr>
          <p:cNvPr id="3" name="frame-26-request-done"/>
          <p:cNvSpPr/>
          <p:nvPr/>
        </p:nvSpPr>
        <p:spPr>
          <a:xfrm>
            <a:off x="857042" y="1197864"/>
            <a:ext cx="5509676" cy="505663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26-request-done" descr="26-request-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18" y="1234440"/>
            <a:ext cx="5436524" cy="49834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13232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7607808" y="1371600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ทุกลำดับเป็นจุดเขียว พร้อมชื่อ เวลา และเวลาที่ใช้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7132320" y="2287651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2260219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ความเห็นผู้อนุมัติ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ในกรอบสีแดง อ่านทุกครั้ง</a:t>
            </a:r>
            <a:endParaRPr lang="en-US" sz="2050" dirty="0"/>
          </a:p>
        </p:txBody>
      </p:sp>
      <p:sp>
        <p:nvSpPr>
          <p:cNvPr id="11" name="callout-tip"/>
          <p:cNvSpPr/>
          <p:nvPr/>
        </p:nvSpPr>
        <p:spPr>
          <a:xfrm>
            <a:off x="7132320" y="3246120"/>
            <a:ext cx="4617720" cy="1188720"/>
          </a:xfrm>
          <a:prstGeom prst="roundRect">
            <a:avLst>
              <a:gd name="adj" fmla="val 615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96912" y="3246120"/>
            <a:ext cx="4288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ตัวเลขแดงบนเมนูและป้าย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ใหม่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บอกว่าคำขอมีความเคลื่อนไหว เปิดดูแล้วป้ายจะหายไป</a:t>
            </a:r>
            <a:endParaRPr lang="en-US" sz="1900" dirty="0"/>
          </a:p>
        </p:txBody>
      </p:sp>
      <p:sp>
        <p:nvSpPr>
          <p:cNvPr id="13" name="callout-note"/>
          <p:cNvSpPr/>
          <p:nvPr/>
        </p:nvSpPr>
        <p:spPr>
          <a:xfrm>
            <a:off x="7132320" y="4663440"/>
            <a:ext cx="4617720" cy="1005840"/>
          </a:xfrm>
          <a:prstGeom prst="roundRect">
            <a:avLst>
              <a:gd name="adj" fmla="val 7273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96912" y="4663440"/>
            <a:ext cx="4288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เลื่อนลงจะเห็น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หลักฐานการโอนเงิน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กดรูปดูขนาดเต็ม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ส่งออกเอกสาร PDF</a:t>
            </a:r>
            <a:endParaRPr lang="en-US" sz="4050" dirty="0"/>
          </a:p>
        </p:txBody>
      </p:sp>
      <p:sp>
        <p:nvSpPr>
          <p:cNvPr id="3" name="frame-28-export"/>
          <p:cNvSpPr/>
          <p:nvPr/>
        </p:nvSpPr>
        <p:spPr>
          <a:xfrm>
            <a:off x="857042" y="1197864"/>
            <a:ext cx="5509676" cy="505663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28-export" descr="28-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18" y="1234440"/>
            <a:ext cx="5436524" cy="498348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13232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7607808" y="1371600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ลายเซ็นผู้ยื่น เปลี่ยนได้ →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ใส่ลายเซ็นนี้ในเอกสาร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7132320" y="2287651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2260219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ตัวอย่างเอกสารมีหัวกระดาษ ข้อมูล และผลอนุมัติจากระบบ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7132320" y="317627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317627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7607808" y="3148838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พิมพ์ / บันทึกเป็น PDF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→ เลือก Save as PDF</a:t>
            </a:r>
            <a:endParaRPr lang="en-US" sz="2050" dirty="0"/>
          </a:p>
        </p:txBody>
      </p:sp>
      <p:sp>
        <p:nvSpPr>
          <p:cNvPr id="14" name="callout-tip"/>
          <p:cNvSpPr/>
          <p:nvPr/>
        </p:nvSpPr>
        <p:spPr>
          <a:xfrm>
            <a:off x="7132320" y="4983480"/>
            <a:ext cx="4617720" cy="1188720"/>
          </a:xfrm>
          <a:prstGeom prst="roundRect">
            <a:avLst>
              <a:gd name="adj" fmla="val 615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96912" y="4983480"/>
            <a:ext cx="4288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ฟอร์ม PR, Memo, เบิกค่าเดินทาง และใบรับรองแทนใบเสร็จ ส่งออกเหมือนต้นฉบับกระดาษ ISO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/>
          <p:nvPr/>
        </p:nvSpPr>
        <p:spPr>
          <a:xfrm>
            <a:off x="731520" y="251460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514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4</a:t>
            </a:r>
            <a:endParaRPr lang="en-US" sz="5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5146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150" b="1" dirty="0">
                <a:solidFill>
                  <a:schemeClr val="bg1"/>
                </a:solidFill>
              </a:rPr>
              <a:t>เมนูอื่น ๆ ที่ใช้ทุกวัน</a:t>
            </a:r>
            <a:endParaRPr lang="en-US" sz="515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5204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ห้องประชุม · ประเมินผล · บุคลากร · ติดต่อ · มือถือ</a:t>
            </a:r>
            <a:endParaRPr lang="en-US" sz="2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จองห้องประชุม: นัดใน Outlook อัตโนมัติ</a:t>
            </a:r>
            <a:endParaRPr lang="en-US" sz="4050" dirty="0"/>
          </a:p>
        </p:txBody>
      </p:sp>
      <p:sp>
        <p:nvSpPr>
          <p:cNvPr id="3" name="frame-50-rooms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50-rooms" descr="50-roo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เลือกห้อง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8366760" y="190735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190735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1879918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หัวข้อการประชุม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8366760" y="2415667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41566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2388235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วันที่</a:t>
            </a:r>
            <a:endParaRPr lang="en-US" sz="2050" dirty="0"/>
          </a:p>
        </p:txBody>
      </p:sp>
      <p:sp>
        <p:nvSpPr>
          <p:cNvPr id="14" name="num-4"/>
          <p:cNvSpPr/>
          <p:nvPr/>
        </p:nvSpPr>
        <p:spPr>
          <a:xfrm>
            <a:off x="8366760" y="2923985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29239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8842248" y="2896553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เวลาเริ่ม–สิ้นสุด</a:t>
            </a:r>
            <a:endParaRPr lang="en-US" sz="2050" dirty="0"/>
          </a:p>
        </p:txBody>
      </p:sp>
      <p:sp>
        <p:nvSpPr>
          <p:cNvPr id="17" name="num-5"/>
          <p:cNvSpPr/>
          <p:nvPr/>
        </p:nvSpPr>
        <p:spPr>
          <a:xfrm>
            <a:off x="8366760" y="343230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66760" y="343230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8842248" y="3404870"/>
            <a:ext cx="29077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อีเมลผู้เข้าร่วม คั่นด้วย ,</a:t>
            </a:r>
            <a:endParaRPr lang="en-US" sz="2050" dirty="0"/>
          </a:p>
        </p:txBody>
      </p:sp>
      <p:sp>
        <p:nvSpPr>
          <p:cNvPr id="20" name="num-6"/>
          <p:cNvSpPr/>
          <p:nvPr/>
        </p:nvSpPr>
        <p:spPr>
          <a:xfrm>
            <a:off x="8366760" y="4266057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66760" y="426605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6</a:t>
            </a:r>
            <a:endParaRPr lang="en-US" sz="1750" dirty="0"/>
          </a:p>
        </p:txBody>
      </p:sp>
      <p:sp>
        <p:nvSpPr>
          <p:cNvPr id="22" name="Text 19"/>
          <p:cNvSpPr txBox="1"/>
          <p:nvPr/>
        </p:nvSpPr>
        <p:spPr>
          <a:xfrm>
            <a:off x="8842248" y="4238625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จองห้อง</a:t>
            </a:r>
            <a:endParaRPr lang="en-US" sz="2050" dirty="0"/>
          </a:p>
        </p:txBody>
      </p:sp>
      <p:sp>
        <p:nvSpPr>
          <p:cNvPr id="23" name="callout-tip"/>
          <p:cNvSpPr/>
          <p:nvPr/>
        </p:nvSpPr>
        <p:spPr>
          <a:xfrm>
            <a:off x="8366760" y="48920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31352" y="489204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ครั้งแรกอาจขออนุญาตปฏิทิน กดยอมรับ · ยกเลิก/เลื่อนนัดทำใน Outlook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ประเมินผลบุคลากร: หัวหน้าประเมิน</a:t>
            </a:r>
            <a:endParaRPr lang="en-US" sz="4050" dirty="0"/>
          </a:p>
        </p:txBody>
      </p:sp>
      <p:sp>
        <p:nvSpPr>
          <p:cNvPr id="3" name="frame-43-ap-scoring"/>
          <p:cNvSpPr/>
          <p:nvPr/>
        </p:nvSpPr>
        <p:spPr>
          <a:xfrm>
            <a:off x="420624" y="1312164"/>
            <a:ext cx="5559552" cy="350215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43-ap-scoring" descr="43-ap-sco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8740"/>
            <a:ext cx="5486400" cy="3429000"/>
          </a:xfrm>
          <a:prstGeom prst="rect">
            <a:avLst/>
          </a:prstGeom>
        </p:spPr>
      </p:pic>
      <p:sp>
        <p:nvSpPr>
          <p:cNvPr id="5" name="frame-44-ap-sign-submit"/>
          <p:cNvSpPr/>
          <p:nvPr/>
        </p:nvSpPr>
        <p:spPr>
          <a:xfrm>
            <a:off x="6227064" y="1312164"/>
            <a:ext cx="5559552" cy="350215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6" name="shot-44-ap-sign-submit" descr="44-ap-sign-subm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48740"/>
            <a:ext cx="5486400" cy="3429000"/>
          </a:xfrm>
          <a:prstGeom prst="rect">
            <a:avLst/>
          </a:prstGeom>
        </p:spPr>
      </p:pic>
      <p:sp>
        <p:nvSpPr>
          <p:cNvPr id="7" name="ap-step-0"/>
          <p:cNvSpPr/>
          <p:nvPr/>
        </p:nvSpPr>
        <p:spPr>
          <a:xfrm>
            <a:off x="457200" y="5166360"/>
            <a:ext cx="2057400" cy="86868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1. หัวหน้าประเมินและลงนาม</a:t>
            </a:r>
            <a:endParaRPr lang="en-US" sz="1750" dirty="0"/>
          </a:p>
        </p:txBody>
      </p:sp>
      <p:sp>
        <p:nvSpPr>
          <p:cNvPr id="9" name="ap-step-1"/>
          <p:cNvSpPr/>
          <p:nvPr/>
        </p:nvSpPr>
        <p:spPr>
          <a:xfrm>
            <a:off x="2743200" y="516636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834640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tx2"/>
                </a:solidFill>
              </a:rPr>
              <a:t>2. พนักงานรับทราบ</a:t>
            </a:r>
            <a:endParaRPr lang="en-US" sz="1750" dirty="0"/>
          </a:p>
        </p:txBody>
      </p:sp>
      <p:sp>
        <p:nvSpPr>
          <p:cNvPr id="11" name="ap-step-2"/>
          <p:cNvSpPr/>
          <p:nvPr/>
        </p:nvSpPr>
        <p:spPr>
          <a:xfrm>
            <a:off x="5029200" y="516636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120640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tx2"/>
                </a:solidFill>
              </a:rPr>
              <a:t>3. ฝ่ายบุคคลตรวจสอบ</a:t>
            </a:r>
            <a:endParaRPr lang="en-US" sz="1750" dirty="0"/>
          </a:p>
        </p:txBody>
      </p:sp>
      <p:sp>
        <p:nvSpPr>
          <p:cNvPr id="13" name="ap-step-3"/>
          <p:cNvSpPr/>
          <p:nvPr/>
        </p:nvSpPr>
        <p:spPr>
          <a:xfrm>
            <a:off x="7315200" y="516636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06640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tx2"/>
                </a:solidFill>
              </a:rPr>
              <a:t>4. ส่งผู้บริหาร</a:t>
            </a:r>
            <a:endParaRPr lang="en-US" sz="1750" dirty="0"/>
          </a:p>
        </p:txBody>
      </p:sp>
      <p:sp>
        <p:nvSpPr>
          <p:cNvPr id="15" name="ap-step-4"/>
          <p:cNvSpPr/>
          <p:nvPr/>
        </p:nvSpPr>
        <p:spPr>
          <a:xfrm>
            <a:off x="9601200" y="516636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92640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chemeClr val="tx2"/>
                </a:solidFill>
              </a:rPr>
              <a:t>5. ผู้บริหารรับทราบ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ประเมินผล: พนักงานรับทราบและลงนาม</a:t>
            </a:r>
            <a:endParaRPr lang="en-US" sz="4050" dirty="0"/>
          </a:p>
        </p:txBody>
      </p:sp>
      <p:sp>
        <p:nvSpPr>
          <p:cNvPr id="3" name="frame-47-ap-ack"/>
          <p:cNvSpPr/>
          <p:nvPr/>
        </p:nvSpPr>
        <p:spPr>
          <a:xfrm>
            <a:off x="420624" y="1717929"/>
            <a:ext cx="6382512" cy="40165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47-ap-ack" descr="47-ap-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54505"/>
            <a:ext cx="6309360" cy="3943350"/>
          </a:xfrm>
          <a:prstGeom prst="rect">
            <a:avLst/>
          </a:prstGeom>
        </p:spPr>
      </p:pic>
      <p:sp>
        <p:nvSpPr>
          <p:cNvPr id="5" name="num-1"/>
          <p:cNvSpPr/>
          <p:nvPr/>
        </p:nvSpPr>
        <p:spPr>
          <a:xfrm>
            <a:off x="7132320" y="13990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7607808" y="1371600"/>
            <a:ext cx="414223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แท็บ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การประเมินของฉัน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· เห็นคะแนนและเกรด</a:t>
            </a:r>
            <a:endParaRPr lang="en-US" sz="2050" dirty="0"/>
          </a:p>
        </p:txBody>
      </p:sp>
      <p:sp>
        <p:nvSpPr>
          <p:cNvPr id="8" name="num-2"/>
          <p:cNvSpPr/>
          <p:nvPr/>
        </p:nvSpPr>
        <p:spPr>
          <a:xfrm>
            <a:off x="7132320" y="2287651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2260219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เปิดใบเพื่อลงนามรับทราบ</a:t>
            </a:r>
            <a:endParaRPr lang="en-US" sz="2050" dirty="0"/>
          </a:p>
        </p:txBody>
      </p:sp>
      <p:sp>
        <p:nvSpPr>
          <p:cNvPr id="11" name="num-3"/>
          <p:cNvSpPr/>
          <p:nvPr/>
        </p:nvSpPr>
        <p:spPr>
          <a:xfrm>
            <a:off x="7132320" y="2850833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285083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7607808" y="2823401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ใส่ความเห็น (ถ้ามี) และ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เซ็นในกรอบ</a:t>
            </a:r>
            <a:endParaRPr lang="en-US" sz="2050" dirty="0"/>
          </a:p>
        </p:txBody>
      </p:sp>
      <p:sp>
        <p:nvSpPr>
          <p:cNvPr id="14" name="num-4"/>
          <p:cNvSpPr/>
          <p:nvPr/>
        </p:nvSpPr>
        <p:spPr>
          <a:xfrm>
            <a:off x="7132320" y="341401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0" y="34140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7607808" y="3386582"/>
            <a:ext cx="414223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ลงนามรับทราบ</a:t>
            </a:r>
            <a:endParaRPr lang="en-US" sz="2050" dirty="0"/>
          </a:p>
        </p:txBody>
      </p:sp>
      <p:sp>
        <p:nvSpPr>
          <p:cNvPr id="17" name="callout-note"/>
          <p:cNvSpPr/>
          <p:nvPr/>
        </p:nvSpPr>
        <p:spPr>
          <a:xfrm>
            <a:off x="7132320" y="4526280"/>
            <a:ext cx="4617720" cy="1645920"/>
          </a:xfrm>
          <a:prstGeom prst="roundRect">
            <a:avLst>
              <a:gd name="adj" fmla="val 4444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96912" y="4526280"/>
            <a:ext cx="42885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ℹ️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ลงนามรับทราบ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ไม่ได้แปลว่าเห็นด้วยทุกข้อ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เขียนความเห็นได้ · ดาวน์โหลดใบประเมินและดูประวัติได้ทุกเมื่อ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บุคลากรและแผนผังองค์กร</a:t>
            </a:r>
            <a:endParaRPr lang="en-US" sz="4050" dirty="0"/>
          </a:p>
        </p:txBody>
      </p:sp>
      <p:sp>
        <p:nvSpPr>
          <p:cNvPr id="3" name="frame-52-directory"/>
          <p:cNvSpPr/>
          <p:nvPr/>
        </p:nvSpPr>
        <p:spPr>
          <a:xfrm>
            <a:off x="420624" y="1435037"/>
            <a:ext cx="5605272" cy="3530727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52-directory" descr="52-dire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1613"/>
            <a:ext cx="5532120" cy="3457575"/>
          </a:xfrm>
          <a:prstGeom prst="rect">
            <a:avLst/>
          </a:prstGeom>
        </p:spPr>
      </p:pic>
      <p:sp>
        <p:nvSpPr>
          <p:cNvPr id="5" name="frame-54-orgchart"/>
          <p:cNvSpPr/>
          <p:nvPr/>
        </p:nvSpPr>
        <p:spPr>
          <a:xfrm>
            <a:off x="6181344" y="1435037"/>
            <a:ext cx="5605272" cy="3530727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6" name="shot-54-orgchart" descr="54-orgch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71613"/>
            <a:ext cx="5532120" cy="34575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5349240"/>
            <a:ext cx="5532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ค้นหาชื่อจริง ชื่อเล่น ตำแหน่ง ฝ่าย · กดการ์ดดูข้อมูลเต็ม · กดอีเมลเพื่อส่งเมล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349240"/>
            <a:ext cx="5532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แท็บแผนผังองค์กร ตามฉบับประกาศ · กดฝ่าย/แผนกเพื่อดูรายชื่อคนในหน่วย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ติดต่อและกล่องรับฟังความคิดเห็น</a:t>
            </a:r>
            <a:endParaRPr lang="en-US" sz="4050" dirty="0"/>
          </a:p>
        </p:txBody>
      </p:sp>
      <p:sp>
        <p:nvSpPr>
          <p:cNvPr id="3" name="frame-57-feedback"/>
          <p:cNvSpPr/>
          <p:nvPr/>
        </p:nvSpPr>
        <p:spPr>
          <a:xfrm>
            <a:off x="420624" y="1317879"/>
            <a:ext cx="7662672" cy="481660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57-feedback" descr="57-feedb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54455"/>
            <a:ext cx="7589520" cy="4743450"/>
          </a:xfrm>
          <a:prstGeom prst="rect">
            <a:avLst/>
          </a:prstGeom>
        </p:spPr>
      </p:pic>
      <p:sp>
        <p:nvSpPr>
          <p:cNvPr id="5" name="num-3"/>
          <p:cNvSpPr/>
          <p:nvPr/>
        </p:nvSpPr>
        <p:spPr>
          <a:xfrm>
            <a:off x="8366760" y="139903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667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7" name="Text 4"/>
          <p:cNvSpPr txBox="1"/>
          <p:nvPr/>
        </p:nvSpPr>
        <p:spPr>
          <a:xfrm>
            <a:off x="8842248" y="1371600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เลือกเรื่องที่เสนอ</a:t>
            </a:r>
            <a:endParaRPr lang="en-US" sz="2050" dirty="0"/>
          </a:p>
        </p:txBody>
      </p:sp>
      <p:sp>
        <p:nvSpPr>
          <p:cNvPr id="8" name="num-4"/>
          <p:cNvSpPr/>
          <p:nvPr/>
        </p:nvSpPr>
        <p:spPr>
          <a:xfrm>
            <a:off x="8366760" y="196221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196221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0" name="Text 7"/>
          <p:cNvSpPr txBox="1"/>
          <p:nvPr/>
        </p:nvSpPr>
        <p:spPr>
          <a:xfrm>
            <a:off x="8842248" y="1934782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เล่ารายละเอียด</a:t>
            </a:r>
            <a:endParaRPr lang="en-US" sz="2050" dirty="0"/>
          </a:p>
        </p:txBody>
      </p:sp>
      <p:sp>
        <p:nvSpPr>
          <p:cNvPr id="11" name="num-5"/>
          <p:cNvSpPr/>
          <p:nvPr/>
        </p:nvSpPr>
        <p:spPr>
          <a:xfrm>
            <a:off x="8366760" y="2525395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52539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3" name="Text 10"/>
          <p:cNvSpPr txBox="1"/>
          <p:nvPr/>
        </p:nvSpPr>
        <p:spPr>
          <a:xfrm>
            <a:off x="8842248" y="2497963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ติ๊กถ้า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ไม่ต้องการระบุชื่อ</a:t>
            </a:r>
            <a:endParaRPr lang="en-US" sz="2050" dirty="0"/>
          </a:p>
        </p:txBody>
      </p:sp>
      <p:sp>
        <p:nvSpPr>
          <p:cNvPr id="14" name="num-6"/>
          <p:cNvSpPr/>
          <p:nvPr/>
        </p:nvSpPr>
        <p:spPr>
          <a:xfrm>
            <a:off x="8366760" y="3088577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08857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6</a:t>
            </a:r>
            <a:endParaRPr lang="en-US" sz="1750" dirty="0"/>
          </a:p>
        </p:txBody>
      </p:sp>
      <p:sp>
        <p:nvSpPr>
          <p:cNvPr id="16" name="Text 13"/>
          <p:cNvSpPr txBox="1"/>
          <p:nvPr/>
        </p:nvSpPr>
        <p:spPr>
          <a:xfrm>
            <a:off x="8842248" y="3061145"/>
            <a:ext cx="29077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กด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ส่งความคิดเห็น</a:t>
            </a:r>
            <a:endParaRPr lang="en-US" sz="2050" dirty="0"/>
          </a:p>
        </p:txBody>
      </p:sp>
      <p:sp>
        <p:nvSpPr>
          <p:cNvPr id="17" name="callout-tip"/>
          <p:cNvSpPr/>
          <p:nvPr/>
        </p:nvSpPr>
        <p:spPr>
          <a:xfrm>
            <a:off x="8366760" y="48920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531352" y="489204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💡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หน้าติดต่อมีสมุดโทรศัพท์ทุกหน่วยงาน และผู้ดูแลระบบ ต่อ 216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ใช้งานบนมือถือ</a:t>
            </a:r>
            <a:endParaRPr lang="en-US" sz="4050" dirty="0"/>
          </a:p>
        </p:txBody>
      </p:sp>
      <p:sp>
        <p:nvSpPr>
          <p:cNvPr id="3" name="frame-60-m-home"/>
          <p:cNvSpPr/>
          <p:nvPr/>
        </p:nvSpPr>
        <p:spPr>
          <a:xfrm>
            <a:off x="420624" y="1364449"/>
            <a:ext cx="2221992" cy="472346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4" name="shot-60-m-home" descr="60-m-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01025"/>
            <a:ext cx="2148840" cy="4650310"/>
          </a:xfrm>
          <a:prstGeom prst="rect">
            <a:avLst/>
          </a:prstGeom>
        </p:spPr>
      </p:pic>
      <p:sp>
        <p:nvSpPr>
          <p:cNvPr id="5" name="frame-61-m-menu"/>
          <p:cNvSpPr/>
          <p:nvPr/>
        </p:nvSpPr>
        <p:spPr>
          <a:xfrm>
            <a:off x="2752344" y="1364449"/>
            <a:ext cx="2221992" cy="472346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6" name="shot-61-m-menu" descr="61-m-men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401025"/>
            <a:ext cx="2148840" cy="4650310"/>
          </a:xfrm>
          <a:prstGeom prst="rect">
            <a:avLst/>
          </a:prstGeom>
        </p:spPr>
      </p:pic>
      <p:sp>
        <p:nvSpPr>
          <p:cNvPr id="7" name="frame-62-m-form"/>
          <p:cNvSpPr/>
          <p:nvPr/>
        </p:nvSpPr>
        <p:spPr>
          <a:xfrm>
            <a:off x="5084064" y="1364449"/>
            <a:ext cx="2221992" cy="4723462"/>
          </a:xfrm>
          <a:prstGeom prst="rect">
            <a:avLst/>
          </a:prstGeom>
          <a:solidFill>
            <a:schemeClr val="bg1"/>
          </a:solidFill>
          <a:ln w="9525">
            <a:solidFill>
              <a:srgbClr val="DFE5EC"/>
            </a:solidFill>
            <a:prstDash val="solid"/>
          </a:ln>
          <a:effectLst>
            <a:outerShdw sx="100000" sy="100000" kx="0" ky="0" algn="bl" rotWithShape="0" blurRad="101600" dist="25400" dir="5400000">
              <a:srgbClr val="7A8899">
                <a:alpha val="35000"/>
              </a:srgbClr>
            </a:outerShdw>
          </a:effectLst>
        </p:spPr>
      </p:sp>
      <p:pic>
        <p:nvPicPr>
          <p:cNvPr id="8" name="shot-62-m-form" descr="62-m-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01025"/>
            <a:ext cx="2148840" cy="4650310"/>
          </a:xfrm>
          <a:prstGeom prst="rect">
            <a:avLst/>
          </a:prstGeom>
        </p:spPr>
      </p:pic>
      <p:sp>
        <p:nvSpPr>
          <p:cNvPr id="9" name="num-1"/>
          <p:cNvSpPr/>
          <p:nvPr/>
        </p:nvSpPr>
        <p:spPr>
          <a:xfrm>
            <a:off x="7680960" y="13990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680960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11" name="Text 6"/>
          <p:cNvSpPr txBox="1"/>
          <p:nvPr/>
        </p:nvSpPr>
        <p:spPr>
          <a:xfrm>
            <a:off x="8156448" y="1371600"/>
            <a:ext cx="35935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เปิดลิงก์ด้วย Safari / Chrome แล้วเข้าสู่ระบบ</a:t>
            </a:r>
            <a:endParaRPr lang="en-US" sz="2050" dirty="0"/>
          </a:p>
        </p:txBody>
      </p:sp>
      <p:sp>
        <p:nvSpPr>
          <p:cNvPr id="12" name="num-2"/>
          <p:cNvSpPr/>
          <p:nvPr/>
        </p:nvSpPr>
        <p:spPr>
          <a:xfrm>
            <a:off x="7680960" y="2287651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680960" y="22876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14" name="Text 9"/>
          <p:cNvSpPr txBox="1"/>
          <p:nvPr/>
        </p:nvSpPr>
        <p:spPr>
          <a:xfrm>
            <a:off x="8156448" y="2260219"/>
            <a:ext cx="35935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เพิ่มไปยังหน้าจอโฮม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ได้ไอคอนเหมือนแอป</a:t>
            </a:r>
            <a:endParaRPr lang="en-US" sz="2050" dirty="0"/>
          </a:p>
        </p:txBody>
      </p:sp>
      <p:sp>
        <p:nvSpPr>
          <p:cNvPr id="15" name="num-3"/>
          <p:cNvSpPr/>
          <p:nvPr/>
        </p:nvSpPr>
        <p:spPr>
          <a:xfrm>
            <a:off x="7680960" y="317627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680960" y="317627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7" name="Text 12"/>
          <p:cNvSpPr txBox="1"/>
          <p:nvPr/>
        </p:nvSpPr>
        <p:spPr>
          <a:xfrm>
            <a:off x="8156448" y="3148838"/>
            <a:ext cx="3593592" cy="43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เมนูอยู่ที่ปุ่ม </a:t>
            </a:r>
            <a:pPr indent="0" marL="0">
              <a:buNone/>
            </a:pPr>
            <a:r>
              <a:rPr lang="en-US" sz="2050" b="1" dirty="0">
                <a:solidFill>
                  <a:schemeClr val="tx2"/>
                </a:solidFill>
              </a:rPr>
              <a:t>☰ เมนู</a:t>
            </a:r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 มุมขวาบน</a:t>
            </a:r>
            <a:endParaRPr lang="en-US" sz="2050" dirty="0"/>
          </a:p>
        </p:txBody>
      </p:sp>
      <p:sp>
        <p:nvSpPr>
          <p:cNvPr id="18" name="num-4"/>
          <p:cNvSpPr/>
          <p:nvPr/>
        </p:nvSpPr>
        <p:spPr>
          <a:xfrm>
            <a:off x="7680960" y="373945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680960" y="3739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20" name="Text 15"/>
          <p:cNvSpPr txBox="1"/>
          <p:nvPr/>
        </p:nvSpPr>
        <p:spPr>
          <a:xfrm>
            <a:off x="8156448" y="3712020"/>
            <a:ext cx="3593592" cy="760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แนบไฟล์เลือก “ถ่ายรูป” · เซ็นด้วยนิ้ว</a:t>
            </a:r>
            <a:endParaRPr lang="en-US" sz="2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/>
          <p:nvPr/>
        </p:nvSpPr>
        <p:spPr>
          <a:xfrm>
            <a:off x="731520" y="2514600"/>
            <a:ext cx="1188720" cy="11887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514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5</a:t>
            </a:r>
            <a:endParaRPr lang="en-US" sz="5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514600"/>
            <a:ext cx="9326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150" b="1" dirty="0">
                <a:solidFill>
                  <a:schemeClr val="bg1"/>
                </a:solidFill>
              </a:rPr>
              <a:t>ฝึกปฏิบัติและทดสอบ</a:t>
            </a:r>
            <a:endParaRPr lang="en-US" sz="515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52044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แบบฝึก 3 ชุด · ปัญหาที่พบบ่อย · แบบทดสอบ 5 ข้อ</a:t>
            </a:r>
            <a:endParaRPr lang="en-US" sz="2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แบบฝึกปฏิบัติ 3 ชุด</a:t>
            </a:r>
            <a:endParaRPr lang="en-US" sz="4050" dirty="0"/>
          </a:p>
        </p:txBody>
      </p:sp>
      <p:sp>
        <p:nvSpPr>
          <p:cNvPr id="3" name="ex-1"/>
          <p:cNvSpPr/>
          <p:nvPr/>
        </p:nvSpPr>
        <p:spPr>
          <a:xfrm>
            <a:off x="457200" y="1371600"/>
            <a:ext cx="3611880" cy="3840480"/>
          </a:xfrm>
          <a:prstGeom prst="roundRect">
            <a:avLst>
              <a:gd name="adj" fmla="val 30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b="1" dirty="0">
                <a:solidFill>
                  <a:schemeClr val="bg1"/>
                </a:solidFill>
              </a:rPr>
              <a:t>1</a:t>
            </a:r>
            <a:endParaRPr lang="en-US" sz="3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60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chemeClr val="tx2"/>
                </a:solidFill>
              </a:rPr>
              <a:t>ยื่นคำขอ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089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ยื่น Memo บันทึกข้อความภายใน เรื่อง “ทดสอบการใช้งานระบบ – ชื่อคุณ” แนบรูป 1 รูป ลงลายเซ็น จดเลขที่คำขอ</a:t>
            </a:r>
            <a:endParaRPr lang="en-US" sz="2050" dirty="0"/>
          </a:p>
        </p:txBody>
      </p:sp>
      <p:sp>
        <p:nvSpPr>
          <p:cNvPr id="8" name="ex-2"/>
          <p:cNvSpPr/>
          <p:nvPr/>
        </p:nvSpPr>
        <p:spPr>
          <a:xfrm>
            <a:off x="4251960" y="1371600"/>
            <a:ext cx="3611880" cy="3840480"/>
          </a:xfrm>
          <a:prstGeom prst="roundRect">
            <a:avLst>
              <a:gd name="adj" fmla="val 30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b="1" dirty="0">
                <a:solidFill>
                  <a:schemeClr val="bg1"/>
                </a:solidFill>
              </a:rPr>
              <a:t>2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560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chemeClr val="tx2"/>
                </a:solidFill>
              </a:rPr>
              <a:t>ติดตามและแก้ไข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1089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ผู้สอนส่งกลับแก้ไข → อ่านเหตุผล แก้ชื่อเรื่องเป็น “(แก้ไขแล้ว)” ยื่นใหม่ → ส่งออกเป็น PDF</a:t>
            </a:r>
            <a:endParaRPr lang="en-US" sz="2050" dirty="0"/>
          </a:p>
        </p:txBody>
      </p:sp>
      <p:sp>
        <p:nvSpPr>
          <p:cNvPr id="13" name="ex-3"/>
          <p:cNvSpPr/>
          <p:nvPr/>
        </p:nvSpPr>
        <p:spPr>
          <a:xfrm>
            <a:off x="8046720" y="1371600"/>
            <a:ext cx="3611880" cy="3840480"/>
          </a:xfrm>
          <a:prstGeom prst="roundRect">
            <a:avLst>
              <a:gd name="adj" fmla="val 3038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b="1" dirty="0">
                <a:solidFill>
                  <a:schemeClr val="bg1"/>
                </a:solidFill>
              </a:rPr>
              <a:t>3</a:t>
            </a:r>
            <a:endParaRPr lang="en-US" sz="3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60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chemeClr val="tx2"/>
                </a:solidFill>
              </a:rPr>
              <a:t>ค้นหาข้อมูล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1089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50" dirty="0">
                <a:solidFill>
                  <a:schemeClr val="tx1"/>
                </a:solidFill>
              </a:rPr>
              <a:t>หาเบอร์ต่อ HR · หาหัวหน้าแผนกตัวเองในผังองค์กร · เปิดนโยบาย PDPA บอกวันที่ประกาศ</a:t>
            </a:r>
            <a:endParaRPr lang="en-US" sz="2050" dirty="0"/>
          </a:p>
        </p:txBody>
      </p:sp>
      <p:sp>
        <p:nvSpPr>
          <p:cNvPr id="18" name="callout-warn"/>
          <p:cNvSpPr/>
          <p:nvPr/>
        </p:nvSpPr>
        <p:spPr>
          <a:xfrm>
            <a:off x="457200" y="5440680"/>
            <a:ext cx="11274552" cy="685800"/>
          </a:xfrm>
          <a:prstGeom prst="roundRect">
            <a:avLst>
              <a:gd name="adj" fmla="val 10667"/>
            </a:avLst>
          </a:prstGeom>
          <a:solidFill>
            <a:srgbClr val="FFF5E6"/>
          </a:solidFill>
          <a:ln w="12700">
            <a:solidFill>
              <a:srgbClr val="FFF5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5440680"/>
            <a:ext cx="1094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⚠️ 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ผู้สอน: หลังอบรม </a:t>
            </a:r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ยกเลิกคำขอทดสอบ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 ทุกใบ เพื่อไม่ให้ปนกับรายงานจริง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ปัญหาที่พบบ่อยและวิธีแก้</a:t>
            </a:r>
            <a:endParaRPr lang="en-US" sz="4050" dirty="0"/>
          </a:p>
        </p:txBody>
      </p:sp>
      <p:sp>
        <p:nvSpPr>
          <p:cNvPr id="3" name="faq-0"/>
          <p:cNvSpPr/>
          <p:nvPr/>
        </p:nvSpPr>
        <p:spPr>
          <a:xfrm>
            <a:off x="457200" y="1325880"/>
            <a:ext cx="5559552" cy="1417320"/>
          </a:xfrm>
          <a:prstGeom prst="roundRect">
            <a:avLst>
              <a:gd name="adj" fmla="val 6452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50" b="1" dirty="0">
                <a:solidFill>
                  <a:schemeClr val="tx2"/>
                </a:solidFill>
              </a:rPr>
              <a:t>❓ หน้าเว็บไม่อัปเดต ไม่เห็นปุ่มใหม่</a:t>
            </a:r>
            <a:endParaRPr lang="en-US" sz="2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กด Ctrl + F5 · มือถือปิดแท็บแล้วเปิดใหม่</a:t>
            </a:r>
            <a:endParaRPr lang="en-US" sz="2150" dirty="0"/>
          </a:p>
        </p:txBody>
      </p:sp>
      <p:sp>
        <p:nvSpPr>
          <p:cNvPr id="5" name="faq-1"/>
          <p:cNvSpPr/>
          <p:nvPr/>
        </p:nvSpPr>
        <p:spPr>
          <a:xfrm>
            <a:off x="6172200" y="1325880"/>
            <a:ext cx="5559552" cy="1417320"/>
          </a:xfrm>
          <a:prstGeom prst="roundRect">
            <a:avLst>
              <a:gd name="adj" fmla="val 6452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0" y="13258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50" b="1" dirty="0">
                <a:solidFill>
                  <a:schemeClr val="tx2"/>
                </a:solidFill>
              </a:rPr>
              <a:t>❓ ส่งคำขอไม่ได้ ขึ้นข้อความแดง</a:t>
            </a:r>
            <a:endParaRPr lang="en-US" sz="2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ข้อความบอกว่า “ยังขาด” ช่องไหน กรอกช่องที่มี * ให้ครบ</a:t>
            </a:r>
            <a:endParaRPr lang="en-US" sz="2150" dirty="0"/>
          </a:p>
        </p:txBody>
      </p:sp>
      <p:sp>
        <p:nvSpPr>
          <p:cNvPr id="7" name="faq-2"/>
          <p:cNvSpPr/>
          <p:nvPr/>
        </p:nvSpPr>
        <p:spPr>
          <a:xfrm>
            <a:off x="457200" y="2898648"/>
            <a:ext cx="5559552" cy="1417320"/>
          </a:xfrm>
          <a:prstGeom prst="roundRect">
            <a:avLst>
              <a:gd name="adj" fmla="val 6452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9864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50" b="1" dirty="0">
                <a:solidFill>
                  <a:schemeClr val="tx2"/>
                </a:solidFill>
              </a:rPr>
              <a:t>❓ คำขอค้างที่ผู้อนุมัติหลายวัน</a:t>
            </a:r>
            <a:endParaRPr lang="en-US" sz="2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ดูชื่อในเส้นทางอนุมัติ แล้วติดต่อผู้อนุมัติโดยตรง</a:t>
            </a:r>
            <a:endParaRPr lang="en-US" sz="2150" dirty="0"/>
          </a:p>
        </p:txBody>
      </p:sp>
      <p:sp>
        <p:nvSpPr>
          <p:cNvPr id="9" name="faq-3"/>
          <p:cNvSpPr/>
          <p:nvPr/>
        </p:nvSpPr>
        <p:spPr>
          <a:xfrm>
            <a:off x="6172200" y="2898648"/>
            <a:ext cx="5559552" cy="1417320"/>
          </a:xfrm>
          <a:prstGeom prst="roundRect">
            <a:avLst>
              <a:gd name="adj" fmla="val 6452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289864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50" b="1" dirty="0">
                <a:solidFill>
                  <a:schemeClr val="tx2"/>
                </a:solidFill>
              </a:rPr>
              <a:t>❓ คำขอไปหาผู้อนุมัติผิดคน</a:t>
            </a:r>
            <a:endParaRPr lang="en-US" sz="2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ข้อมูลหัวหน้าในทะเบียนไม่ถูก แจ้ง HR พร้อมเลขที่คำขอ</a:t>
            </a:r>
            <a:endParaRPr lang="en-US" sz="2150" dirty="0"/>
          </a:p>
        </p:txBody>
      </p:sp>
      <p:sp>
        <p:nvSpPr>
          <p:cNvPr id="11" name="faq-4"/>
          <p:cNvSpPr/>
          <p:nvPr/>
        </p:nvSpPr>
        <p:spPr>
          <a:xfrm>
            <a:off x="457200" y="4471416"/>
            <a:ext cx="5559552" cy="1417320"/>
          </a:xfrm>
          <a:prstGeom prst="roundRect">
            <a:avLst>
              <a:gd name="adj" fmla="val 6452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471416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50" b="1" dirty="0">
                <a:solidFill>
                  <a:schemeClr val="tx2"/>
                </a:solidFill>
              </a:rPr>
              <a:t>❓ อนุมัติใน Teams แล้วเว็บไม่เปลี่ยน</a:t>
            </a:r>
            <a:endParaRPr lang="en-US" sz="2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รอไม่เกิน 10 นาที แล้วอนุมัติในเว็บแทน</a:t>
            </a:r>
            <a:endParaRPr lang="en-US" sz="2150" dirty="0"/>
          </a:p>
        </p:txBody>
      </p:sp>
      <p:sp>
        <p:nvSpPr>
          <p:cNvPr id="13" name="faq-5"/>
          <p:cNvSpPr/>
          <p:nvPr/>
        </p:nvSpPr>
        <p:spPr>
          <a:xfrm>
            <a:off x="6172200" y="4471416"/>
            <a:ext cx="5559552" cy="1417320"/>
          </a:xfrm>
          <a:prstGeom prst="roundRect">
            <a:avLst>
              <a:gd name="adj" fmla="val 6452"/>
            </a:avLst>
          </a:prstGeom>
          <a:solidFill>
            <a:srgbClr val="F4F8FC"/>
          </a:solidFill>
          <a:ln w="9525">
            <a:solidFill>
              <a:srgbClr val="DCE6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4471416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50" b="1" dirty="0">
                <a:solidFill>
                  <a:schemeClr val="tx2"/>
                </a:solidFill>
              </a:rPr>
              <a:t>❓ ถูกออกจากระบบเอง</a:t>
            </a:r>
            <a:endParaRPr lang="en-US" sz="2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ไม่ได้ใช้งาน 60 นาที เข้าสู่ระบบใหม่ได้ทันที</a:t>
            </a:r>
            <a:endParaRPr lang="en-US" sz="2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chemeClr val="tx2"/>
                </a:solidFill>
              </a:rPr>
              <a:t>แบบทดสอบท้ายการอบรม</a:t>
            </a:r>
            <a:endParaRPr lang="en-US" sz="4050" dirty="0"/>
          </a:p>
        </p:txBody>
      </p:sp>
      <p:sp>
        <p:nvSpPr>
          <p:cNvPr id="3" name="num-1"/>
          <p:cNvSpPr/>
          <p:nvPr/>
        </p:nvSpPr>
        <p:spPr>
          <a:xfrm>
            <a:off x="457200" y="144475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1</a:t>
            </a:r>
            <a:endParaRPr lang="en-US" sz="175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1417320"/>
            <a:ext cx="6382512" cy="498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50" dirty="0">
                <a:solidFill>
                  <a:schemeClr val="tx1"/>
                </a:solidFill>
              </a:rPr>
              <a:t>เข้าสู่ระบบต้องใช้บัญชีใด</a:t>
            </a:r>
            <a:endParaRPr lang="en-US" sz="2450" dirty="0"/>
          </a:p>
        </p:txBody>
      </p:sp>
      <p:sp>
        <p:nvSpPr>
          <p:cNvPr id="6" name="num-2"/>
          <p:cNvSpPr/>
          <p:nvPr/>
        </p:nvSpPr>
        <p:spPr>
          <a:xfrm>
            <a:off x="457200" y="2217737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1773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2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90306"/>
            <a:ext cx="6382512" cy="498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50" dirty="0">
                <a:solidFill>
                  <a:schemeClr val="tx1"/>
                </a:solidFill>
              </a:rPr>
              <a:t>ตัวเลขแดงบนเมนู “ติดตามสถานะ” หมายถึงอะไร</a:t>
            </a:r>
            <a:endParaRPr lang="en-US" sz="2450" dirty="0"/>
          </a:p>
        </p:txBody>
      </p:sp>
      <p:sp>
        <p:nvSpPr>
          <p:cNvPr id="9" name="num-3"/>
          <p:cNvSpPr/>
          <p:nvPr/>
        </p:nvSpPr>
        <p:spPr>
          <a:xfrm>
            <a:off x="457200" y="2990723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9072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3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2963291"/>
            <a:ext cx="6382512" cy="498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50" dirty="0">
                <a:solidFill>
                  <a:schemeClr val="tx1"/>
                </a:solidFill>
              </a:rPr>
              <a:t>คำขอถูก “ส่งกลับแก้ไข” ต้องทำอย่างไร</a:t>
            </a:r>
            <a:endParaRPr lang="en-US" sz="2450" dirty="0"/>
          </a:p>
        </p:txBody>
      </p:sp>
      <p:sp>
        <p:nvSpPr>
          <p:cNvPr id="12" name="num-4"/>
          <p:cNvSpPr/>
          <p:nvPr/>
        </p:nvSpPr>
        <p:spPr>
          <a:xfrm>
            <a:off x="457200" y="3763709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6370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4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3736277"/>
            <a:ext cx="6382512" cy="498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50" dirty="0">
                <a:solidFill>
                  <a:schemeClr val="tx1"/>
                </a:solidFill>
              </a:rPr>
              <a:t>ผู้อนุมัติอนุมัติได้ทางใดบ้าง</a:t>
            </a:r>
            <a:endParaRPr lang="en-US" sz="2450" dirty="0"/>
          </a:p>
        </p:txBody>
      </p:sp>
      <p:sp>
        <p:nvSpPr>
          <p:cNvPr id="15" name="num-5"/>
          <p:cNvSpPr/>
          <p:nvPr/>
        </p:nvSpPr>
        <p:spPr>
          <a:xfrm>
            <a:off x="457200" y="453669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5366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5</a:t>
            </a:r>
            <a:endParaRPr lang="en-US" sz="175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4509262"/>
            <a:ext cx="6382512" cy="498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50" dirty="0">
                <a:solidFill>
                  <a:schemeClr val="tx1"/>
                </a:solidFill>
              </a:rPr>
              <a:t>การเงินแนบสลิปได้กี่วิธี อะไรบ้าง</a:t>
            </a:r>
            <a:endParaRPr lang="en-US" sz="2450" dirty="0"/>
          </a:p>
        </p:txBody>
      </p:sp>
      <p:sp>
        <p:nvSpPr>
          <p:cNvPr id="18" name="quiz-card"/>
          <p:cNvSpPr/>
          <p:nvPr/>
        </p:nvSpPr>
        <p:spPr>
          <a:xfrm>
            <a:off x="7680960" y="1417320"/>
            <a:ext cx="4069080" cy="402336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01000" y="1417320"/>
            <a:ext cx="3474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dirty="0">
                <a:solidFill>
                  <a:srgbClr val="B9CDE6"/>
                </a:solidFill>
              </a:rPr>
              <a:t>10 ข้อเต็ม</a:t>
            </a:r>
            <a:endParaRPr lang="en-US" sz="2050" dirty="0"/>
          </a:p>
          <a:p>
            <a:pPr indent="0" marL="0">
              <a:buNone/>
            </a:pPr>
            <a:r>
              <a:rPr lang="en-US" sz="2950" b="1" dirty="0">
                <a:solidFill>
                  <a:schemeClr val="bg1"/>
                </a:solidFill>
              </a:rPr>
              <a:t>อยู่ในคู่มือบทที่ 20</a:t>
            </a:r>
            <a:endParaRPr lang="en-US" sz="2050" dirty="0"/>
          </a:p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</a:rPr>
              <a:t> </a:t>
            </a:r>
            <a:endParaRPr lang="en-US" sz="2050" dirty="0"/>
          </a:p>
          <a:p>
            <a:pPr indent="0" marL="0">
              <a:buNone/>
            </a:pPr>
            <a:r>
              <a:rPr lang="en-US" sz="2050" dirty="0">
                <a:solidFill>
                  <a:schemeClr val="bg1"/>
                </a:solidFill>
              </a:rPr>
              <a:t>เกณฑ์ผ่าน 8 ข้อ · มีเฉลยท้ายบท</a:t>
            </a:r>
            <a:endParaRPr lang="en-US" sz="2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3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-card"/>
          <p:cNvSpPr/>
          <p:nvPr/>
        </p:nvSpPr>
        <p:spPr>
          <a:xfrm>
            <a:off x="731520" y="822960"/>
            <a:ext cx="32918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Image 0" descr="Prime Power 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987552"/>
            <a:ext cx="2834640" cy="62834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ขอบคุณครับ / ค่ะ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8862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50" dirty="0">
                <a:solidFill>
                  <a:schemeClr val="bg1"/>
                </a:solidFill>
              </a:rPr>
              <a:t>มีคำถาม ติดต่อผู้ดูแลระบบได้ตลอด</a:t>
            </a:r>
            <a:endParaRPr lang="en-US" sz="2450" dirty="0"/>
          </a:p>
        </p:txBody>
      </p:sp>
      <p:sp>
        <p:nvSpPr>
          <p:cNvPr id="6" name="close-0"/>
          <p:cNvSpPr/>
          <p:nvPr/>
        </p:nvSpPr>
        <p:spPr>
          <a:xfrm>
            <a:off x="731520" y="507492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0E4A8F"/>
          </a:solidFill>
          <a:ln w="9525">
            <a:solidFill>
              <a:srgbClr val="2B64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DE6"/>
                </a:solidFill>
              </a:rPr>
              <a:t>คู่มือฉบับเต็ม</a:t>
            </a:r>
            <a:endParaRPr lang="en-US" sz="1600" dirty="0"/>
          </a:p>
          <a:p>
            <a:pPr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หน้าแรก → คู่มือการใช้งาน</a:t>
            </a:r>
            <a:endParaRPr lang="en-US" sz="1600" dirty="0"/>
          </a:p>
        </p:txBody>
      </p:sp>
      <p:sp>
        <p:nvSpPr>
          <p:cNvPr id="8" name="close-1"/>
          <p:cNvSpPr/>
          <p:nvPr/>
        </p:nvSpPr>
        <p:spPr>
          <a:xfrm>
            <a:off x="4343400" y="507492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0E4A8F"/>
          </a:solidFill>
          <a:ln w="9525">
            <a:solidFill>
              <a:srgbClr val="2B64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DE6"/>
                </a:solidFill>
              </a:rPr>
              <a:t>ผู้ดูแลระบบ</a:t>
            </a:r>
            <a:endParaRPr lang="en-US" sz="1600" dirty="0"/>
          </a:p>
          <a:p>
            <a:pPr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ต่อ 216 · it@primepower.co.th</a:t>
            </a:r>
            <a:endParaRPr lang="en-US" sz="1600" dirty="0"/>
          </a:p>
        </p:txBody>
      </p:sp>
      <p:sp>
        <p:nvSpPr>
          <p:cNvPr id="10" name="close-2"/>
          <p:cNvSpPr/>
          <p:nvPr/>
        </p:nvSpPr>
        <p:spPr>
          <a:xfrm>
            <a:off x="7955280" y="507492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0E4A8F"/>
          </a:solidFill>
          <a:ln w="9525">
            <a:solidFill>
              <a:srgbClr val="2B64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DE6"/>
                </a:solidFill>
              </a:rPr>
              <a:t>เวลาให้บริการ</a:t>
            </a:r>
            <a:endParaRPr lang="en-US" sz="1600" dirty="0"/>
          </a:p>
          <a:p>
            <a:pPr indent="0" marL="0">
              <a:buNone/>
            </a:pPr>
            <a:r>
              <a:rPr lang="en-US" sz="1750" b="1" dirty="0">
                <a:solidFill>
                  <a:schemeClr val="bg1"/>
                </a:solidFill>
              </a:rPr>
              <a:t>จันทร์–ศุกร์ 08:30–17:30 น.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ime Power Intranet">
  <a:themeElements>
    <a:clrScheme name="Prime Power Intranet">
      <a:dk1>
        <a:srgbClr val="1D2733"/>
      </a:dk1>
      <a:lt1>
        <a:srgbClr val="FFFFFF"/>
      </a:lt1>
      <a:dk2>
        <a:srgbClr val="00397A"/>
      </a:dk2>
      <a:lt2>
        <a:srgbClr val="F2F5F8"/>
      </a:lt2>
      <a:accent1>
        <a:srgbClr val="0067B8"/>
      </a:accent1>
      <a:accent2>
        <a:srgbClr val="00A94F"/>
      </a:accent2>
      <a:accent3>
        <a:srgbClr val="E8590C"/>
      </a:accent3>
      <a:accent4>
        <a:srgbClr val="4A9DE0"/>
      </a:accent4>
      <a:accent5>
        <a:srgbClr val="5C6A7A"/>
      </a:accent5>
      <a:accent6>
        <a:srgbClr val="F5B700"/>
      </a:accent6>
      <a:hlink>
        <a:srgbClr val="0067B8"/>
      </a:hlink>
      <a:folHlink>
        <a:srgbClr val="00397A"/>
      </a:folHlink>
    </a:clrScheme>
    <a:fontScheme name="Prime Power Intranet">
      <a:majorFont>
        <a:latin typeface="TH SarabunP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H SarabunP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Prime Power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อบรมการใช้งานระบบ Intranet Prime Power Group</dc:title>
  <dc:subject>PptxGenJS Presentation</dc:subject>
  <dc:creator>Prime Power Group</dc:creator>
  <cp:lastModifiedBy>Prime Power Group</cp:lastModifiedBy>
  <cp:revision>1</cp:revision>
  <dcterms:created xsi:type="dcterms:W3CDTF">2026-10-06T09:43:01Z</dcterms:created>
  <dcterms:modified xsi:type="dcterms:W3CDTF">2026-10-06T09:43:01Z</dcterms:modified>
</cp:coreProperties>
</file>