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2c6850e3-a998-f89d-7233-fb142fdba622}">
          <p14:sldIdLst>
            <p14:sldId id="256"/>
            <p14:sldId id="257"/>
            <p14:sldId id="258"/>
            <p14:sldId id="259"/>
          </p14:sldIdLst>
        </p14:section>
        <p14:section name="เริ่มต้นใช้งาน" id="{e4ef9adc-9629-5e62-4176-cda8804207d5}">
          <p14:sldIdLst>
            <p14:sldId id="260"/>
            <p14:sldId id="261"/>
            <p14:sldId id="262"/>
          </p14:sldIdLst>
        </p14:section>
        <p14:section name="ยื่นคำขอและติดตามสถานะ" id="{5d0122e4-12c1-2d40-2e34-30a7b7386f2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สำหรับผู้อนุมัติ" id="{9da7fc1b-7063-c402-5128-a6f31e2a9db9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เมนูอื่น ๆ ที่ใช้ทุกวัน" id="{6a66d509-1dda-74ab-6564-ffaecf098ee7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ฝึกปฏิบัติและทดสอบ" id="{c3943517-de0a-f14a-c521-bce2d1c91a87}">
          <p14:sldIdLst>
            <p14:sldId id="286"/>
            <p14:sldId id="287"/>
            <p14:sldId id="288"/>
            <p14:sldId id="289"/>
          </p14:sldIdLst>
        </p14:section>
        <p14:section name="ปิด" id="{263b68a6-e43e-862d-cb8c-68c20add30cc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แนะนำตัวผู้สอน และบอกว่าวันนี้จะสอนใช้ระบบ Intranet ของบริษัท ตั้งแต่เข้าสู่ระบบ ยื่นคำขอ ติดตามสถานะ อนุมัติ จนถึงเมนูอื่น ๆ ทั้งหมด ใช้เวลาประมาณ 2 ชั่วโมง มีฝึกปฏิบัติและแบบทดสอบท้ายชั่วโมง ให้ผู้เรียนเปิดคอมหรือมือถือพร้อมบัญชี @primepower.co.th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อธิบายหัวข้อและเวลาคร่าว ๆ หัวหน้างานใหม่ให้อยู่ช่วงผู้อนุมัติด้วย ฝ่ายการเงินเน้นหัวข้อแนบสลิป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ไล่ให้ดูว่าระบบมีเมนูอะไรบ้าง ย้ำว่าทุกคำขอที่เคยเป็นกระดาษ ยื่นผ่านเมนูแบบฟอร์มทั้งหมด และระบบส่งต่อผู้อนุมัติให้เองพร้อมแจ้งเตือนทาง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เล่าเรื่องที่จะใช้เป็นตัวอย่างตลอดการอบรม: คุณชัยวัฒน์ซื้อสายไฟและอุปกรณ์ยึดรางเคเบิลเพิ่ม 12,500 บาท เบิกเงินทดรองจ่ายล่วงหน้า ผ่านผู้บังคับบัญชา ผู้บริหาร และการเงินโอนเงินพร้อมแนบสลิป ชื่อและตัวเลขเป็นข้อมูลสมมติ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ส่วนแรก 15 นาที ให้ทุกคนเข้าสู่ระบบพร้อมกัน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ให้ทุกคนเปิดลิงก์และเข้าสู่ระบบพร้อมกัน ใครเข้าไม่ได้ให้ตรวจว่าใช้อีเมลบริษัท ไม่ใช่อีเมลส่วนตัว ถ้าบัญชียังไม่พร้อมให้แจ้ง HR ระบบไม่เก็บรหัสผ่าน การพิมพ์รหัสผ่านทำบนหน้าของ Microsoft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ชี้ส่วนต่าง ๆ ตามตัวเลขสีส้ม เน้นตัวเลขแดงบนเมนูติดตามสถานะ = คำขอรอคุณอนุมัติหรือคำขอของคุณมีความเคลื่อนไหว และบนเมนูประเมินผล = ใบประเมินรอคุณ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ส่วนที่สำคัญที่สุด 40 นาที ให้ผู้เรียนทำตามไปพร้อมกัน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ภาพรวมเส้นทางของคำขอเบิกเงินทดรองจ่าย แต่ละฟอร์มมีเส้นทางต่างกัน ผู้ยื่นไม่ต้องเลือกผู้อนุมัติเอง ระบบหาให้จากข้อมูลบุคลากร ถ้าไปผิดคนแปลว่าข้อมูลหัวหน้าในทะเบียนไม่ถูก ให้แจ้ง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ให้ผู้เรียนลองค้นหาฟอร์ม หรือกดปุ่มกรองตามฝ่าย แบบฟอร์มแยกตามฝ่ายเจ้าของ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ช่องที่มีดาวแดงต้องกรอก ข้อมูลรหัสพนักงาน ชื่อ ฝ่าย แผนก ระบบดึงจากทะเบียนบุคลากรอัตโนมัติ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เขียนเหตุผลให้ละเอียด ผู้อนุมัติจะได้ไม่ต้องส่งกลับมาถาม แนบหลักฐานทุกครั้ง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เซ็นด้วยเมาส์ให้กดค้างแล้วลาก บนมือถือใช้นิ้ว เซ็นผิดกดล้างลายเซ็น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หลังกดส่ง ระบบส่งการ์ดขออนุมัติใน Teams ให้ผู้อนุมัติลำดับแรกทันที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เมนูติดตามสถานะ กล่องคำขอของฉัน กดเพื่อเปิดรายละเอียด ถ้าค้างนาน ดูชื่อผู้อนุมัติที่รออยู่แล้วติดต่อโดยตรง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ไล่ทีละสถานะ เน้นส่งกลับแก้ไขกับไม่อนุมัติ ต่างกันตรงที่ส่งกลับแก้ไขยังยื่นใหม่ด้วยเลขเดิมได้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ตัวอย่าง: ขอเบิกค่าเช่ารถเครน 8,000 บาท ไม่ได้แนบใบเสนอราคา ผู้จัดการแผนกส่งกลับให้แนบใบเสนอราคา 2 เจ้า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สำหรับหัวหน้างานและฝ่ายการเงิน 20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ตัวอย่างความเห็นที่ดี: อนุมัติ ตรวจใบเสนอราคาแล้ว / กรุณาแนบใบเสนอราคาอย่างน้อย 2 เจ้า / งบโครงการนี้ใช้ครบแล้ว ให้เบิกผ่านงบส่วนกลาง ถ้าขึ้นว่ามีคนดำเนินการไปแล้ว ไม่ต้องกดซ้ำ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สาธิตบนแอป Teams จริงของผู้สอน ให้หัวหน้างานลองเปิดเมนู Approvals ในเครื่องตัวเอง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สาธิตการแคปหน้าจอสลิปจากแอปธนาคารแล้วกด Ctrl+V วาง ถ้าแถบด้านล่างขึ้นสีแดง แปลว่าส่ง Teams ไม่สำเร็จ แต่การอนุมัติบันทึกแล้ว ให้แจ้งผู้ยื่นทางอื่น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ความเห็นอาจบอกว่าอนุมัติไม่เต็มจำนวน จึงต้องอ่านทุกครั้ง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เปิดคำขอแล้วกดส่งออกเป็นเอกสาร (PDF) ด้านล่างหน้าต่าง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4 ประมาณ 25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ดูตารางห้องว่างด้านล่างก่อนจอง ถ้าตารางไม่ขึ้นกดเปิดปฏิทินเต็มจอ หรือจองผ่าน Outlook แบบเดิมได้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หัวหน้า: เมนูประเมินผลบุคลากร → แท็บทีมของฉัน → ประเมิน → ให้คะแนน 1–10 ทุกข้อ (ดูเกณฑ์ที่แถบซ้าย) → เซ็นช่องผู้ประเมิน → บันทึกและส่ง ส่งแล้วคะแนนถูกล็อก ขั้นที่ 2 และ 3 ทำพร้อมกันได้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พนักงานใหม่ทุกคนต้องผ่านขั้นตอนนี้ในการประเมินทดลองงาน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ให้ผู้เรียนหาเบอร์ต่อของหัวหน้าตัวเอง และหาแผนกของตัวเองในผังองค์กร ข้อมูลผิดแจ้ง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ความคิดเห็นส่งถึงฝ่ายบริหารโดยตรง เลือกไม่ระบุชื่อได้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ให้ทุกคนเพิ่มไอคอนลงหน้าจอหลักของมือถือ iPhone: ปุ่มแชร์ → เพิ่มไปยังหน้าจอโฮม · Android: ⋮ → เพิ่มลงในหน้าจอหลัก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นาทีสุดท้าย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ผู้สอนเข้าระบบในฐานะผู้อนุมัติของ Memo เพื่อส่งกลับแก้ไขให้ผู้เรียนฝึก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ผู้ดูแลระบบ: งานเทคโนโลยีสารสนเทศ ต่อ 216 it@primepower.co.th จันทร์–ศุกร์ 08:30–17:30 น. แจ้งเลขที่คำขอและแคปหน้าจอทุกครั้ง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เฉลย: 1) บัญชี Microsoft 365 @primepower.co.th  2) คำขอที่รอคุณอนุมัติ หรือคำขอของคุณที่มีความเคลื่อนไหว  3) อ่านเหตุผล แล้วกดแก้ไขและยื่นใหม่  4) ทั้งเว็บ Intranet และ Teams → Approvals  5) 3 วิธี: เลือกไฟล์ ลากวาง Ctrl+V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ปิดการอบรม ย้ำว่าคู่มือฉบับเต็มและไฟล์ PDF อยู่ในหน้าแรกของระบบ ตรวจเช็กลิสต์สัปดาห์แรกในคู่มือบทที่ 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371600" cy="304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อบรมการใช้งานระบบ Intranet · Prime Power Group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อบรมการใช้งานระบบ Intranet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สำหรับพนักงานใหม่และผู้ใช้งานทุกระดับ · พร้อมตัวอย่างงานจริงทีละขั้นตอน</a:t>
            </a:r>
            <a:endParaRPr lang="en-US" sz="1800" dirty="0"/>
          </a:p>
        </p:txBody>
      </p:sp>
      <p:sp>
        <p:nvSpPr>
          <p:cNvPr id="6" name="meta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DE6"/>
                </a:solidFill>
              </a:rPr>
              <a:t>ใช้เวลา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ประมาณ 2 ชั่วโมง</a:t>
            </a:r>
            <a:endParaRPr lang="en-US" sz="1200" dirty="0"/>
          </a:p>
        </p:txBody>
      </p:sp>
      <p:sp>
        <p:nvSpPr>
          <p:cNvPr id="8" name="meta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DE6"/>
                </a:solidFill>
              </a:rPr>
              <a:t>ฉบับที่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1.0 · ต.ค. 2569</a:t>
            </a:r>
            <a:endParaRPr lang="en-US" sz="1200" dirty="0"/>
          </a:p>
        </p:txBody>
      </p:sp>
      <p:sp>
        <p:nvSpPr>
          <p:cNvPr id="10" name="meta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DE6"/>
                </a:solidFill>
              </a:rPr>
              <a:t>คู่มือฉบับเต็ม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เมนูหน้าแรก → คู่มือการใช้งาน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วันนี้เราจะเรียนอะไรบ้าง</a:t>
            </a:r>
            <a:endParaRPr lang="en-US" sz="3000" dirty="0"/>
          </a:p>
        </p:txBody>
      </p:sp>
      <p:sp>
        <p:nvSpPr>
          <p:cNvPr id="3" name="agenda-0"/>
          <p:cNvSpPr/>
          <p:nvPr/>
        </p:nvSpPr>
        <p:spPr>
          <a:xfrm>
            <a:off x="457200" y="1325880"/>
            <a:ext cx="11274552" cy="841248"/>
          </a:xfrm>
          <a:prstGeom prst="roundRect">
            <a:avLst>
              <a:gd name="adj" fmla="val 10870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90472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90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2588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เริ่มต้นใช้งาน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2588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เข้าสู่ระบบ · PDPA · หน้าแรกและเมนู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49840" y="13258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 นาที</a:t>
            </a:r>
            <a:endParaRPr lang="en-US" sz="1500" dirty="0"/>
          </a:p>
        </p:txBody>
      </p:sp>
      <p:sp>
        <p:nvSpPr>
          <p:cNvPr id="9" name="agenda-1"/>
          <p:cNvSpPr/>
          <p:nvPr/>
        </p:nvSpPr>
        <p:spPr>
          <a:xfrm>
            <a:off x="457200" y="2313432"/>
            <a:ext cx="11274552" cy="841248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78024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78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31343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ยื่นคำขอและติดตาม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313432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กรอกแบบฟอร์ม · ติดตามสถานะ · ส่งกลับแก้ไข · PDF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313432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 นาที</a:t>
            </a:r>
            <a:endParaRPr lang="en-US" sz="1500" dirty="0"/>
          </a:p>
        </p:txBody>
      </p:sp>
      <p:sp>
        <p:nvSpPr>
          <p:cNvPr id="15" name="agenda-2"/>
          <p:cNvSpPr/>
          <p:nvPr/>
        </p:nvSpPr>
        <p:spPr>
          <a:xfrm>
            <a:off x="457200" y="3300984"/>
            <a:ext cx="11274552" cy="841248"/>
          </a:xfrm>
          <a:prstGeom prst="roundRect">
            <a:avLst>
              <a:gd name="adj" fmla="val 10870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46557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65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30098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สำหรับผู้อนุมัติ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300984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อนุมัติในเว็บ · Teams · การเงินแนบสลิป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3300984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 นาที</a:t>
            </a:r>
            <a:endParaRPr lang="en-US" sz="1500" dirty="0"/>
          </a:p>
        </p:txBody>
      </p:sp>
      <p:sp>
        <p:nvSpPr>
          <p:cNvPr id="21" name="agenda-3"/>
          <p:cNvSpPr/>
          <p:nvPr/>
        </p:nvSpPr>
        <p:spPr>
          <a:xfrm>
            <a:off x="457200" y="4288536"/>
            <a:ext cx="11274552" cy="841248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45312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28853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เมนูอื่น ๆ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288536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ห้องประชุม · ประเมินผล · บุคลากร · ติดต่อ · มือถือ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4288536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 นาที</a:t>
            </a:r>
            <a:endParaRPr lang="en-US" sz="1500" dirty="0"/>
          </a:p>
        </p:txBody>
      </p:sp>
      <p:sp>
        <p:nvSpPr>
          <p:cNvPr id="27" name="agenda-4"/>
          <p:cNvSpPr/>
          <p:nvPr/>
        </p:nvSpPr>
        <p:spPr>
          <a:xfrm>
            <a:off x="457200" y="5276088"/>
            <a:ext cx="11274552" cy="841248"/>
          </a:xfrm>
          <a:prstGeom prst="roundRect">
            <a:avLst>
              <a:gd name="adj" fmla="val 10870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44068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440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27608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ฝึกปฏิบัติและทดสอบ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27608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แบบฝึก 3 ชุด · ปัญหาที่พบบ่อย · แบบทดสอบ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5276088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 นาที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Intranet: ทำงานเอกสารครบในที่เดียว</a:t>
            </a:r>
            <a:endParaRPr lang="en-US" sz="3000" dirty="0"/>
          </a:p>
        </p:txBody>
      </p:sp>
      <p:sp>
        <p:nvSpPr>
          <p:cNvPr id="3" name="menu-0"/>
          <p:cNvSpPr/>
          <p:nvPr/>
        </p:nvSpPr>
        <p:spPr>
          <a:xfrm>
            <a:off x="457200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ยื่นคำขอแทนกระดาษ</a:t>
            </a:r>
            <a:endParaRPr lang="en-US" sz="1350" dirty="0"/>
          </a:p>
        </p:txBody>
      </p:sp>
      <p:sp>
        <p:nvSpPr>
          <p:cNvPr id="8" name="menu-1"/>
          <p:cNvSpPr/>
          <p:nvPr/>
        </p:nvSpPr>
        <p:spPr>
          <a:xfrm>
            <a:off x="3310128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ติดตามสถานะ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ดูว่าคำขอถึงใคร · อนุมัติ</a:t>
            </a:r>
            <a:endParaRPr lang="en-US" sz="1350" dirty="0"/>
          </a:p>
        </p:txBody>
      </p:sp>
      <p:sp>
        <p:nvSpPr>
          <p:cNvPr id="13" name="menu-2"/>
          <p:cNvSpPr/>
          <p:nvPr/>
        </p:nvSpPr>
        <p:spPr>
          <a:xfrm>
            <a:off x="6163056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นโยบายบริษัท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ระเบียบที่บังคับใช้</a:t>
            </a:r>
            <a:endParaRPr lang="en-US" sz="1350" dirty="0"/>
          </a:p>
        </p:txBody>
      </p:sp>
      <p:sp>
        <p:nvSpPr>
          <p:cNvPr id="18" name="menu-3"/>
          <p:cNvSpPr/>
          <p:nvPr/>
        </p:nvSpPr>
        <p:spPr>
          <a:xfrm>
            <a:off x="9015984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90304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จองห้องประชุม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นัดใน Outlook อัตโนมัติ</a:t>
            </a:r>
            <a:endParaRPr lang="en-US" sz="1350" dirty="0"/>
          </a:p>
        </p:txBody>
      </p:sp>
      <p:sp>
        <p:nvSpPr>
          <p:cNvPr id="23" name="menu-4"/>
          <p:cNvSpPr/>
          <p:nvPr/>
        </p:nvSpPr>
        <p:spPr>
          <a:xfrm>
            <a:off x="457200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เอกสาร/คู่มือ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คู่มือ ISO ไฟล์ต้นแบบ</a:t>
            </a:r>
            <a:endParaRPr lang="en-US" sz="1350" dirty="0"/>
          </a:p>
        </p:txBody>
      </p:sp>
      <p:sp>
        <p:nvSpPr>
          <p:cNvPr id="28" name="menu-5"/>
          <p:cNvSpPr/>
          <p:nvPr/>
        </p:nvSpPr>
        <p:spPr>
          <a:xfrm>
            <a:off x="3310128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84448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ประเมินผลบุคลากร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ประเมิน ลงนาม ดูประวัติ</a:t>
            </a:r>
            <a:endParaRPr lang="en-US" sz="1350" dirty="0"/>
          </a:p>
        </p:txBody>
      </p:sp>
      <p:sp>
        <p:nvSpPr>
          <p:cNvPr id="33" name="menu-6"/>
          <p:cNvSpPr/>
          <p:nvPr/>
        </p:nvSpPr>
        <p:spPr>
          <a:xfrm>
            <a:off x="6163056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6437376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บุคลากร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เบอร์ต่อ อีเมล ผังองค์กร</a:t>
            </a:r>
            <a:endParaRPr lang="en-US" sz="1350" dirty="0"/>
          </a:p>
        </p:txBody>
      </p:sp>
      <p:sp>
        <p:nvSpPr>
          <p:cNvPr id="38" name="menu-7"/>
          <p:cNvSpPr/>
          <p:nvPr/>
        </p:nvSpPr>
        <p:spPr>
          <a:xfrm>
            <a:off x="9015984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0304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90304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☎️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290304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ติดต่อ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สมุดโทรศัพท์ · ความคิดเห็น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ตัวอย่างงานจริงที่จะเดินไปด้วยกันวันนี้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คุณชัยวัฒน์ขอเบิกเงินทดรองจ่าย 12,500 บาท ค่าวัสดุติดตั้งหน้างานโครงการบางปะกง (ข้อมูลตัวอย่าง)</a:t>
            </a:r>
            <a:endParaRPr lang="en-US" sz="1600" dirty="0"/>
          </a:p>
        </p:txBody>
      </p:sp>
      <p:sp>
        <p:nvSpPr>
          <p:cNvPr id="4" name="cast-0"/>
          <p:cNvSpPr/>
          <p:nvPr/>
        </p:nvSpPr>
        <p:spPr>
          <a:xfrm>
            <a:off x="45720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ต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คุณชัยวัฒน์ พูนผล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วิศวกร แผนกออกแบบระบบไฟฟ้า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ผู้ยื่นคำขอ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➜</a:t>
            </a:r>
            <a:endParaRPr lang="en-US" sz="1800" dirty="0"/>
          </a:p>
        </p:txBody>
      </p:sp>
      <p:sp>
        <p:nvSpPr>
          <p:cNvPr id="12" name="cast-1"/>
          <p:cNvSpPr/>
          <p:nvPr/>
        </p:nvSpPr>
        <p:spPr>
          <a:xfrm>
            <a:off x="3310128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7880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ธ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คุณธีรพงศ์ สายทอง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ผู้จัดการแผนก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21608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21608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อนุมัติลำดับ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➜</a:t>
            </a:r>
            <a:endParaRPr lang="en-US" sz="1800" dirty="0"/>
          </a:p>
        </p:txBody>
      </p:sp>
      <p:sp>
        <p:nvSpPr>
          <p:cNvPr id="20" name="cast-2"/>
          <p:cNvSpPr/>
          <p:nvPr/>
        </p:nvSpPr>
        <p:spPr>
          <a:xfrm>
            <a:off x="6163056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3173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ส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คุณสมชาย วัฒนกิจ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กรรมการผู้จัดการ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74536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4536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อนุมัติลำดับ 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➜</a:t>
            </a:r>
            <a:endParaRPr lang="en-US" sz="1800" dirty="0"/>
          </a:p>
        </p:txBody>
      </p:sp>
      <p:sp>
        <p:nvSpPr>
          <p:cNvPr id="28" name="cast-3"/>
          <p:cNvSpPr/>
          <p:nvPr/>
        </p:nvSpPr>
        <p:spPr>
          <a:xfrm>
            <a:off x="9015984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84664" y="2148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466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อ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9153144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คุณอรวรรณ พงษ์เจริญ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ฝ่ายบัญชีและการเงิน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27464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27464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โอนเงิน + แนบสลิป</a:t>
            </a:r>
            <a:endParaRPr lang="en-US" sz="1300" dirty="0"/>
          </a:p>
        </p:txBody>
      </p:sp>
      <p:sp>
        <p:nvSpPr>
          <p:cNvPr id="35" name="callout-note"/>
          <p:cNvSpPr/>
          <p:nvPr/>
        </p:nvSpPr>
        <p:spPr>
          <a:xfrm>
            <a:off x="457200" y="50749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074920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ภาพหน้าจอทุกภาพในสไลด์ถ่ายจากระบบจริง ·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วงกลมสีส้มพร้อมตัวเลข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ชี้จุดที่ต้องดูหรือกด ตรงกับคำอธิบายข้างภาพ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เริ่มต้นใช้งาน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เข้าสู่ระบบ · นโยบาย PDPA · หน้าแรกและเมนู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endParaRPr lang="en-US" sz="3000" dirty="0"/>
          </a:p>
        </p:txBody>
      </p:sp>
      <p:sp>
        <p:nvSpPr>
          <p:cNvPr id="3" name="frame-01-login"/>
          <p:cNvSpPr/>
          <p:nvPr/>
        </p:nvSpPr>
        <p:spPr>
          <a:xfrm>
            <a:off x="420624" y="155219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1-login" descr="01-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877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533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25880"/>
            <a:ext cx="3685032" cy="88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เปิด Edge หรือ Chrome ไปที่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ppg2014.github.io/prime-power-intranet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แล้วกดดาวบันทึกไว้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589520" y="236258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3625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335149"/>
            <a:ext cx="36850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(หมายเลข 1 ในภาพ)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7589520" y="3114675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1146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3087243"/>
            <a:ext cx="36850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ใส่อีเมล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@primepower.co.th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และรหัสผ่านเดียวกับ Outlook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7589520" y="386676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86676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839337"/>
            <a:ext cx="36850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ครั้งแรก Microsoft ถามขออนุญาต 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Accept</a:t>
            </a:r>
            <a:endParaRPr lang="en-US" sz="1500" dirty="0"/>
          </a:p>
        </p:txBody>
      </p:sp>
      <p:sp>
        <p:nvSpPr>
          <p:cNvPr id="17" name="num-5"/>
          <p:cNvSpPr/>
          <p:nvPr/>
        </p:nvSpPr>
        <p:spPr>
          <a:xfrm>
            <a:off x="7589520" y="461886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461886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65008" y="4591431"/>
            <a:ext cx="36850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อ่านนโยบาย PDPA ได้ที่ลิงก์ใต้ปุ่ม (หมายเลข 2)</a:t>
            </a:r>
            <a:endParaRPr lang="en-US" sz="1500" dirty="0"/>
          </a:p>
        </p:txBody>
      </p:sp>
      <p:sp>
        <p:nvSpPr>
          <p:cNvPr id="20" name="callout-warn"/>
          <p:cNvSpPr/>
          <p:nvPr/>
        </p:nvSpPr>
        <p:spPr>
          <a:xfrm>
            <a:off x="7589520" y="553212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54112" y="553212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ออกจากระบบอัตโนมัติเมื่อไม่ใช้งาน 60 นาที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หน้าแรก: ทุกอย่างที่ใช้บ่อยอยู่ตรงนี้</a:t>
            </a:r>
            <a:endParaRPr lang="en-US" sz="3000" dirty="0"/>
          </a:p>
        </p:txBody>
      </p:sp>
      <p:sp>
        <p:nvSpPr>
          <p:cNvPr id="3" name="frame-04-home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4-home" descr="04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เมนูหลัก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ตัวเลขแดง = งานที่รอคุณ</a:t>
            </a:r>
            <a:endParaRPr lang="en-US" sz="1400" dirty="0"/>
          </a:p>
        </p:txBody>
      </p:sp>
      <p:sp>
        <p:nvSpPr>
          <p:cNvPr id="8" name="num-2"/>
          <p:cNvSpPr/>
          <p:nvPr/>
        </p:nvSpPr>
        <p:spPr>
          <a:xfrm>
            <a:off x="8366760" y="21168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1168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089404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ภาพรวมโครงการ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ทั้งหมด / กำลังทำ / ล่าช้า</a:t>
            </a:r>
            <a:endParaRPr lang="en-US" sz="1400" dirty="0"/>
          </a:p>
        </p:txBody>
      </p:sp>
      <p:sp>
        <p:nvSpPr>
          <p:cNvPr id="11" name="num-3"/>
          <p:cNvSpPr/>
          <p:nvPr/>
        </p:nvSpPr>
        <p:spPr>
          <a:xfrm>
            <a:off x="8366760" y="283464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807208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แบบฟอร์มที่ใช้บ่อย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กดแล้วกรอกได้เลย</a:t>
            </a:r>
            <a:endParaRPr lang="en-US" sz="1400" dirty="0"/>
          </a:p>
        </p:txBody>
      </p:sp>
      <p:sp>
        <p:nvSpPr>
          <p:cNvPr id="14" name="num-4"/>
          <p:cNvSpPr/>
          <p:nvPr/>
        </p:nvSpPr>
        <p:spPr>
          <a:xfrm>
            <a:off x="8366760" y="35524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5524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52501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ข่าวประกาศ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กดอ่านพร้อมรูปแนบ</a:t>
            </a:r>
            <a:endParaRPr lang="en-US" sz="1400" dirty="0"/>
          </a:p>
        </p:txBody>
      </p:sp>
      <p:sp>
        <p:nvSpPr>
          <p:cNvPr id="17" name="num-5"/>
          <p:cNvSpPr/>
          <p:nvPr/>
        </p:nvSpPr>
        <p:spPr>
          <a:xfrm>
            <a:off x="8366760" y="40645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4064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4037076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คู่มือการใช้งาน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รวมคู่มือฉบับเต็ม</a:t>
            </a:r>
            <a:endParaRPr lang="en-US" sz="1400" dirty="0"/>
          </a:p>
        </p:txBody>
      </p:sp>
      <p:sp>
        <p:nvSpPr>
          <p:cNvPr id="20" name="callout-tip"/>
          <p:cNvSpPr/>
          <p:nvPr/>
        </p:nvSpPr>
        <p:spPr>
          <a:xfrm>
            <a:off x="8366760" y="52578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31352" y="52578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ประกาศสำคัญจะเด้งขึ้นหลังเข้าสู่ระบบ กด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รับทราบ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เพื่อปิด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ยื่นคำขอและติดตามสถานะ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ตัวอย่างจริง: ขอเบิกเงินทดรองจ่าย 12,500 บาท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คำขอหนึ่งใบเดินทางอย่างไร</a:t>
            </a:r>
            <a:endParaRPr lang="en-US" sz="3000" dirty="0"/>
          </a:p>
        </p:txBody>
      </p:sp>
      <p:sp>
        <p:nvSpPr>
          <p:cNvPr id="3" name="flow-0"/>
          <p:cNvSpPr/>
          <p:nvPr/>
        </p:nvSpPr>
        <p:spPr>
          <a:xfrm>
            <a:off x="457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ยื่นคำขอ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ชัยวัฒน์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➜</a:t>
            </a:r>
            <a:endParaRPr lang="en-US" sz="2200" dirty="0"/>
          </a:p>
        </p:txBody>
      </p:sp>
      <p:sp>
        <p:nvSpPr>
          <p:cNvPr id="6" name="flow-1"/>
          <p:cNvSpPr/>
          <p:nvPr/>
        </p:nvSpPr>
        <p:spPr>
          <a:xfrm>
            <a:off x="2743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ลำดับ 1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ผู้บังคับบัญชา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➜</a:t>
            </a:r>
            <a:endParaRPr lang="en-US" sz="2200" dirty="0"/>
          </a:p>
        </p:txBody>
      </p:sp>
      <p:sp>
        <p:nvSpPr>
          <p:cNvPr id="9" name="flow-2"/>
          <p:cNvSpPr/>
          <p:nvPr/>
        </p:nvSpPr>
        <p:spPr>
          <a:xfrm>
            <a:off x="5029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ลำดับ 2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ผู้บริหาร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➜</a:t>
            </a:r>
            <a:endParaRPr lang="en-US" sz="2200" dirty="0"/>
          </a:p>
        </p:txBody>
      </p:sp>
      <p:sp>
        <p:nvSpPr>
          <p:cNvPr id="12" name="flow-3"/>
          <p:cNvSpPr/>
          <p:nvPr/>
        </p:nvSpPr>
        <p:spPr>
          <a:xfrm>
            <a:off x="7315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ลำดับ 3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การเงินแนบสลิป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➜</a:t>
            </a:r>
            <a:endParaRPr lang="en-US" sz="2200" dirty="0"/>
          </a:p>
        </p:txBody>
      </p:sp>
      <p:sp>
        <p:nvSpPr>
          <p:cNvPr id="15" name="flow-4"/>
          <p:cNvSpPr/>
          <p:nvPr/>
        </p:nvSpPr>
        <p:spPr>
          <a:xfrm>
            <a:off x="9601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เสร็จสิ้น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แจ้ง Teams + สลิป</a:t>
            </a:r>
            <a:endParaRPr lang="en-US" sz="1900" dirty="0"/>
          </a:p>
        </p:txBody>
      </p:sp>
      <p:sp>
        <p:nvSpPr>
          <p:cNvPr id="17" name="fact-0"/>
          <p:cNvSpPr/>
          <p:nvPr/>
        </p:nvSpPr>
        <p:spPr>
          <a:xfrm>
            <a:off x="45720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ระบบหาผู้อนุมัติให้เอง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จากหัวหน้าในทะเบียนบุคลากร และเส้นทางอนุมัติของแต่ละฟอร์ม</a:t>
            </a:r>
            <a:endParaRPr lang="en-US" sz="1400" dirty="0"/>
          </a:p>
        </p:txBody>
      </p:sp>
      <p:sp>
        <p:nvSpPr>
          <p:cNvPr id="21" name="fact-1"/>
          <p:cNvSpPr/>
          <p:nvPr/>
        </p:nvSpPr>
        <p:spPr>
          <a:xfrm>
            <a:off x="425196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แจ้งเตือนทาง Teams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ผู้อนุมัติได้การ์ดใน Teams → Approvals ทุกครั้งที่ถึงคิว</a:t>
            </a:r>
            <a:endParaRPr lang="en-US" sz="1400" dirty="0"/>
          </a:p>
        </p:txBody>
      </p:sp>
      <p:sp>
        <p:nvSpPr>
          <p:cNvPr id="25" name="fact-2"/>
          <p:cNvSpPr/>
          <p:nvPr/>
        </p:nvSpPr>
        <p:spPr>
          <a:xfrm>
            <a:off x="804672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↩️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ส่งกลับได้ทุกลำดับ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ผู้ยื่นแก้แล้วยื่นใหม่ เริ่มอนุมัติจากลำดับแรก เลขที่เดิม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ขั้นที่ 1: หาแบบฟอร์ม</a:t>
            </a:r>
            <a:endParaRPr lang="en-US" sz="3000" dirty="0"/>
          </a:p>
        </p:txBody>
      </p:sp>
      <p:sp>
        <p:nvSpPr>
          <p:cNvPr id="3" name="frame-10-forms-search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-forms-search" descr="10-forms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เมนู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8366760" y="19110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83664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พิมพ์ในช่องค้นหา เช่น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เบิกเงิน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8366760" y="266319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6631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635758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กดการ์ด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endParaRPr lang="en-US" sz="150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5262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52628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ป้าย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ใช้บ่อย / ต้องอนุมัติ / ใหม่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บนการ์ด ช่วยให้หาง่าย · การ์ด “เปิดระบบ ↗” คือระบบภายนอก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ขั้นที่ 2: กรอกข้อมูลทั่วไป</a:t>
            </a:r>
            <a:endParaRPr lang="en-US" sz="3000" dirty="0"/>
          </a:p>
        </p:txBody>
      </p:sp>
      <p:sp>
        <p:nvSpPr>
          <p:cNvPr id="3" name="frame-12-form-fill1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2-form-fill1" descr="12-form-fill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ชื่อเรื่อง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สั้นและสื่อความ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8366760" y="19110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8366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วันที่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ระบบใส่วันนี้ให้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8366760" y="242316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395728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ชื่อโครงการ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พิมพ์บางคำแล้วเลือกจากรายการ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8366760" y="317525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1752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14782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วันที่ขอใช้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วันที่ต้องใช้เงิน</a:t>
            </a:r>
            <a:endParaRPr lang="en-US" sz="1500" dirty="0"/>
          </a:p>
        </p:txBody>
      </p:sp>
      <p:sp>
        <p:nvSpPr>
          <p:cNvPr id="17" name="callout-note"/>
          <p:cNvSpPr/>
          <p:nvPr/>
        </p:nvSpPr>
        <p:spPr>
          <a:xfrm>
            <a:off x="8366760" y="5074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50749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ข้อมูลผู้ยื่น (ช่องสีเทา) ระบบดึงมาให้ ถ้าผิดแจ้ง HR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ขั้นที่ 3: รายละเอียดและไฟล์แนบ</a:t>
            </a:r>
            <a:endParaRPr lang="en-US" sz="3000" dirty="0"/>
          </a:p>
        </p:txBody>
      </p:sp>
      <p:sp>
        <p:nvSpPr>
          <p:cNvPr id="3" name="frame-13-form-fill2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3-form-fill2" descr="13-form-fill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5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เหตุผล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ซื้ออะไร ใช้ที่ไหน ทำไม</a:t>
            </a:r>
            <a:endParaRPr lang="en-US" sz="1500" dirty="0"/>
          </a:p>
        </p:txBody>
      </p:sp>
      <p:sp>
        <p:nvSpPr>
          <p:cNvPr id="8" name="num-6"/>
          <p:cNvSpPr/>
          <p:nvPr/>
        </p:nvSpPr>
        <p:spPr>
          <a:xfrm>
            <a:off x="8366760" y="21511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1511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123694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จำนวนเงิน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ตัวเลขอย่างเดียว เช่น 12500</a:t>
            </a:r>
            <a:endParaRPr lang="en-US" sz="1500" dirty="0"/>
          </a:p>
        </p:txBody>
      </p:sp>
      <p:sp>
        <p:nvSpPr>
          <p:cNvPr id="11" name="num-7"/>
          <p:cNvSpPr/>
          <p:nvPr/>
        </p:nvSpPr>
        <p:spPr>
          <a:xfrm>
            <a:off x="8366760" y="29032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9032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875788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+ แนบไฟล์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ใบเสนอราคา / ใบเสร็จ</a:t>
            </a:r>
            <a:endParaRPr lang="en-US" sz="150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4805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48056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สูงสุด 5 ไฟล์ ไฟล์ละไม่เกิน 10 MB · รูปภาพหรือ PDF · มือถือถ่ายรูปแนบได้ทันที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ขั้นที่ 4: ลงลายเซ็นและส่งคำขอ</a:t>
            </a:r>
            <a:endParaRPr lang="en-US" sz="3000" dirty="0"/>
          </a:p>
        </p:txBody>
      </p:sp>
      <p:sp>
        <p:nvSpPr>
          <p:cNvPr id="3" name="frame-14-form-sign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4-form-sign" descr="14-form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8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อ่าน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หมายเหตุ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กรอบเหลือง (เงื่อนไขเวลา)</a:t>
            </a:r>
            <a:endParaRPr lang="en-US" sz="1500" dirty="0"/>
          </a:p>
        </p:txBody>
      </p:sp>
      <p:sp>
        <p:nvSpPr>
          <p:cNvPr id="8" name="num-9"/>
          <p:cNvSpPr/>
          <p:nvPr/>
        </p:nvSpPr>
        <p:spPr>
          <a:xfrm>
            <a:off x="8366760" y="21511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1511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123694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เซ็น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ในกรอบ หรืออัปโหลดรูปลายเซ็น</a:t>
            </a:r>
            <a:endParaRPr lang="en-US" sz="1500" dirty="0"/>
          </a:p>
        </p:txBody>
      </p:sp>
      <p:sp>
        <p:nvSpPr>
          <p:cNvPr id="11" name="num-10"/>
          <p:cNvSpPr/>
          <p:nvPr/>
        </p:nvSpPr>
        <p:spPr>
          <a:xfrm>
            <a:off x="8366760" y="29032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9032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875788"/>
            <a:ext cx="29077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ดาวน์โหลดตัวอย่างเอกสาร (ไม่บังคับ)</a:t>
            </a:r>
            <a:endParaRPr lang="en-US" sz="1500" dirty="0"/>
          </a:p>
        </p:txBody>
      </p:sp>
      <p:sp>
        <p:nvSpPr>
          <p:cNvPr id="14" name="num-11"/>
          <p:cNvSpPr/>
          <p:nvPr/>
        </p:nvSpPr>
        <p:spPr>
          <a:xfrm>
            <a:off x="8366760" y="36553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6553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62788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ส่งคำขอ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ขั้นที่ 5: ตรวจทาน ยืนยัน ได้เลขที่คำขอ</a:t>
            </a:r>
            <a:endParaRPr lang="en-US" sz="3000" dirty="0"/>
          </a:p>
        </p:txBody>
      </p:sp>
      <p:sp>
        <p:nvSpPr>
          <p:cNvPr id="3" name="frame-15-form-confirm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5-form-confirm" descr="15-form-confi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16-form-sen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6-form-sent" descr="16-form-s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ตรวจข้อมูลทั้งหมดในหน้าต่างสรุป → ถูกต้องกด ยืนยันส่งคำขอ · ผิดกด กลับไปแก้ไข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ส่งสำเร็จได้ เลขที่คำขอ เช่น FM-ACC-002-001-2026 จดไว้อ้างอิง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ติดตามสถานะ: คำขอถึงใครแล้ว</a:t>
            </a:r>
            <a:endParaRPr lang="en-US" sz="3000" dirty="0"/>
          </a:p>
        </p:txBody>
      </p:sp>
      <p:sp>
        <p:nvSpPr>
          <p:cNvPr id="3" name="frame-18-request-detail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8-request-detail" descr="18-request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สถานะ ผู้ยื่น เวลายื่น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132320" y="19110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883664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ข้อมูลที่กรอก · กดไฟล์แนบเพื่อเปิด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7132320" y="242316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395728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เส้นทางอนุมัติ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เขียว = ผ่าน · น้ำเงิน = กำลังรอ (บอกเวลาที่รอ)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7132320" y="317525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1752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147822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แก้ไข / ยกเลิก ได้ก่อนมีคนอนุมัติ</a:t>
            </a:r>
            <a:endParaRPr lang="en-US" sz="1500" dirty="0"/>
          </a:p>
        </p:txBody>
      </p:sp>
      <p:sp>
        <p:nvSpPr>
          <p:cNvPr id="17" name="num-5"/>
          <p:cNvSpPr/>
          <p:nvPr/>
        </p:nvSpPr>
        <p:spPr>
          <a:xfrm>
            <a:off x="7132320" y="36873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368731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3659886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ส่งออกเป็นเอกสาร PDF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ความหมายของสถานะ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165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สถานะ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ความหมาย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ต้องทำอะไร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5CAD"/>
                          </a:solidFill>
                        </a:rPr>
                        <a:t>รออนุมัติ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อยู่ระหว่างรอผู้อนุมัติ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รอ · ค้างนานติดต่อผู้อนุมัติ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A5B00"/>
                          </a:solidFill>
                        </a:rPr>
                        <a:t>ส่งกลับแก้ไข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ผู้อนุมัติขอให้แก้หรือเพิ่มข้อมูล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อ่านเหตุผล → แก้ไขและยื่นใหม่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2318"/>
                          </a:solidFill>
                        </a:rPr>
                        <a:t>ไม่อนุมัติ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ถูกปฏิเสธ จบการพิจารณา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อ่านเหตุผล · ยื่นใหม่ถ้าจำเป็น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7F4F"/>
                          </a:solidFill>
                        </a:rPr>
                        <a:t>อนุมัติแล้ว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ผ่านครบทุกลำดับ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ดำเนินการตามที่ขอ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7F4F"/>
                          </a:solidFill>
                        </a:rPr>
                        <a:t>เสร็จสิ้น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ปิดงานแล้ว เช่น โอนเงินแล้ว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ตรวจสลิป · เก็บ PDF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C6A7A"/>
                          </a:solidFill>
                        </a:rPr>
                        <a:t>ยกเลิก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ผู้ยื่นยกเลิกเอง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ถูกส่งกลับแก้ไข: แก้แล้วยื่นใหม่ได้เลย</a:t>
            </a:r>
            <a:endParaRPr lang="en-US" sz="3000" dirty="0"/>
          </a:p>
        </p:txBody>
      </p:sp>
      <p:sp>
        <p:nvSpPr>
          <p:cNvPr id="3" name="frame-31-sentback-view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31-sentback-view" descr="31-sentback-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สถานะ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ส่งกลับแก้ไข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132320" y="19110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883664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อ่าน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เหตุผล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ในกรอบสีแดง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7132320" y="242316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395728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แก้ไขและยื่นใหม่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· ข้อมูลเดิมถูกใส่ไว้ให้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7132320" y="317525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1752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147822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หรือ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ยกเลิกคำขอ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(ถาวร)</a:t>
            </a:r>
            <a:endParaRPr lang="en-US" sz="150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ยื่นใหม่ใช้เลขที่เดิม และเริ่มอนุมัติจากลำดับแรก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สำหรับผู้อนุมัติ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อนุมัติในเว็บ · อนุมัติผ่าน Teams · การเงินแนบสลิปและปิดงาน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อนุมัติในเว็บ: 3 ปุ่มตัดสินใจ</a:t>
            </a:r>
            <a:endParaRPr lang="en-US" sz="3000" dirty="0"/>
          </a:p>
        </p:txBody>
      </p:sp>
      <p:sp>
        <p:nvSpPr>
          <p:cNvPr id="3" name="frame-20-approver-action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0-approver-action" descr="20-approver-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พิมพ์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ความเห็น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(บังคับเมื่อส่งกลับ/ไม่อนุมัติ) · ผู้ยื่นเห็นเป็นกรอบแดง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132320" y="21511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1511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123694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✓ อนุมัติ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ส่งต่อลำดับถัดไป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7132320" y="266319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6631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635758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↩ ส่งกลับแก้ไข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คืนให้ผู้ยื่นแก้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7132320" y="317525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1752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147822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✗ ไม่อนุมัติ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ปฏิเสธและจบคำขอ</a:t>
            </a:r>
            <a:endParaRPr lang="en-US" sz="1500" dirty="0"/>
          </a:p>
        </p:txBody>
      </p:sp>
      <p:sp>
        <p:nvSpPr>
          <p:cNvPr id="17" name="callout-tip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ตัวเลขแดงที่เมนู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ติดตามสถานะ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คำขอที่ถึงคิวคุณ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อนุมัติผ่าน Microsoft Teams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371600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เปิดแอป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Teams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→ แถบซ้าย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Approvals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(ไม่เห็นกด “…” แล้วค้นหา)</a:t>
            </a:r>
            <a:endParaRPr lang="en-US" sz="1600" dirty="0"/>
          </a:p>
        </p:txBody>
      </p:sp>
      <p:sp>
        <p:nvSpPr>
          <p:cNvPr id="6" name="num-2"/>
          <p:cNvSpPr/>
          <p:nvPr/>
        </p:nvSpPr>
        <p:spPr>
          <a:xfrm>
            <a:off x="457200" y="218541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57984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แท็บ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Received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→ การ์ด “ขออนุมัติ FM-xxx จาก …”</a:t>
            </a:r>
            <a:endParaRPr lang="en-US" sz="1600" dirty="0"/>
          </a:p>
        </p:txBody>
      </p:sp>
      <p:sp>
        <p:nvSpPr>
          <p:cNvPr id="9" name="num-3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670048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กดการ์ด อ่านรายละเอียด · ลิงก์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เปิดดูรายละเอียดคำขอ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ไปเว็บ</a:t>
            </a:r>
            <a:endParaRPr lang="en-US" sz="1600" dirty="0"/>
          </a:p>
        </p:txBody>
      </p:sp>
      <p:sp>
        <p:nvSpPr>
          <p:cNvPr id="12" name="num-4"/>
          <p:cNvSpPr/>
          <p:nvPr/>
        </p:nvSpPr>
        <p:spPr>
          <a:xfrm>
            <a:off x="457200" y="348386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456432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เลือก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อนุมัติ / ส่งกลับแก้ไข / ไม่อนุมัติ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· พิมพ์เหตุผลใน Comments</a:t>
            </a:r>
            <a:endParaRPr lang="en-US" sz="1600" dirty="0"/>
          </a:p>
        </p:txBody>
      </p:sp>
      <p:sp>
        <p:nvSpPr>
          <p:cNvPr id="15" name="num-5"/>
          <p:cNvSpPr/>
          <p:nvPr/>
        </p:nvSpPr>
        <p:spPr>
          <a:xfrm>
            <a:off x="457200" y="42702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242816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Submit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· สถานะในเว็บเปลี่ยนภายในไม่กี่นาที</a:t>
            </a:r>
            <a:endParaRPr lang="en-US" sz="1600" dirty="0"/>
          </a:p>
        </p:txBody>
      </p:sp>
      <p:sp>
        <p:nvSpPr>
          <p:cNvPr id="18" name="callout-warn"/>
          <p:cNvSpPr/>
          <p:nvPr/>
        </p:nvSpPr>
        <p:spPr>
          <a:xfrm>
            <a:off x="7406640" y="1371600"/>
            <a:ext cx="4343400" cy="1463040"/>
          </a:xfrm>
          <a:prstGeom prst="roundRect">
            <a:avLst>
              <a:gd name="adj" fmla="val 5000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71232" y="1371600"/>
            <a:ext cx="4014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เป็นผู้อนุมัติหลายลำดับในคำขอเดียว จะมีการ์ดชื่อเดียวกัน 2 ใบ — กด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ใบล่าสุด</a:t>
            </a:r>
            <a:endParaRPr lang="en-US" sz="1400" dirty="0"/>
          </a:p>
        </p:txBody>
      </p:sp>
      <p:sp>
        <p:nvSpPr>
          <p:cNvPr id="20" name="callout-note"/>
          <p:cNvSpPr/>
          <p:nvPr/>
        </p:nvSpPr>
        <p:spPr>
          <a:xfrm>
            <a:off x="7406640" y="306324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306324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อนุมัติในเว็บไปแล้ว การ์ดเก่าใน Teams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ไม่มีผล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ไม่ต้องกดซ้ำ</a:t>
            </a:r>
            <a:endParaRPr lang="en-US" sz="1400" dirty="0"/>
          </a:p>
        </p:txBody>
      </p:sp>
      <p:sp>
        <p:nvSpPr>
          <p:cNvPr id="22" name="callout-tip"/>
          <p:cNvSpPr/>
          <p:nvPr/>
        </p:nvSpPr>
        <p:spPr>
          <a:xfrm>
            <a:off x="7406640" y="457200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71232" y="457200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เกิน 10 นาทีเว็บยังไม่เปลี่ยน ให้อนุมัติในเว็บและแจ้งผู้ดูแลระบบ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การเงิน: อนุมัติโอนเงิน + แนบสลิป</a:t>
            </a:r>
            <a:endParaRPr lang="en-US" sz="3000" dirty="0"/>
          </a:p>
        </p:txBody>
      </p:sp>
      <p:sp>
        <p:nvSpPr>
          <p:cNvPr id="3" name="frame-22-slip-empty"/>
          <p:cNvSpPr/>
          <p:nvPr/>
        </p:nvSpPr>
        <p:spPr>
          <a:xfrm>
            <a:off x="4206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2-slip-empty" descr="22-slip-emp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1673"/>
            <a:ext cx="3703320" cy="2314575"/>
          </a:xfrm>
          <a:prstGeom prst="rect">
            <a:avLst/>
          </a:prstGeom>
        </p:spPr>
      </p:pic>
      <p:sp>
        <p:nvSpPr>
          <p:cNvPr id="5" name="frame-23-slip-ready"/>
          <p:cNvSpPr/>
          <p:nvPr/>
        </p:nvSpPr>
        <p:spPr>
          <a:xfrm>
            <a:off x="43068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23-slip-ready" descr="23-slip-rea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51673"/>
            <a:ext cx="3703320" cy="2314575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842248" y="13716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อนุมัติ (แนบสลิปโอนเงิน)</a:t>
            </a:r>
            <a:endParaRPr lang="en-US" sz="1400" dirty="0"/>
          </a:p>
        </p:txBody>
      </p:sp>
      <p:sp>
        <p:nvSpPr>
          <p:cNvPr id="10" name="num-2"/>
          <p:cNvSpPr/>
          <p:nvPr/>
        </p:nvSpPr>
        <p:spPr>
          <a:xfrm>
            <a:off x="8366760" y="19110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42248" y="1883664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แนบสลิป: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คลิกเลือกไฟล์ · ลากวาง · Ctrl+V</a:t>
            </a:r>
            <a:endParaRPr lang="en-US" sz="1400" dirty="0"/>
          </a:p>
        </p:txBody>
      </p:sp>
      <p:sp>
        <p:nvSpPr>
          <p:cNvPr id="13" name="num-3"/>
          <p:cNvSpPr/>
          <p:nvPr/>
        </p:nvSpPr>
        <p:spPr>
          <a:xfrm>
            <a:off x="8366760" y="26289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66760" y="2628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842248" y="2601468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รอ “✓ แนบแล้ว” แล้วกด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ยืนยันอนุมัติและปิดงาน</a:t>
            </a:r>
            <a:endParaRPr lang="en-US" sz="1400" dirty="0"/>
          </a:p>
        </p:txBody>
      </p:sp>
      <p:sp>
        <p:nvSpPr>
          <p:cNvPr id="16" name="num-4"/>
          <p:cNvSpPr/>
          <p:nvPr/>
        </p:nvSpPr>
        <p:spPr>
          <a:xfrm>
            <a:off x="8366760" y="33467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6676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842248" y="3319272"/>
            <a:ext cx="29077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ระบบปิดงานและ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แจ้งผู้ยื่นทาง Teams พร้อมรูปสลิป</a:t>
            </a:r>
            <a:endParaRPr lang="en-US" sz="1400" dirty="0"/>
          </a:p>
        </p:txBody>
      </p:sp>
      <p:sp>
        <p:nvSpPr>
          <p:cNvPr id="19" name="callout-note"/>
          <p:cNvSpPr/>
          <p:nvPr/>
        </p:nvSpPr>
        <p:spPr>
          <a:xfrm>
            <a:off x="457200" y="521208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1792" y="5212080"/>
            <a:ext cx="7260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ใช้กับ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และ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แบบฟอร์มเบิกเงินสำรองโครงการ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กดยกเลิก = ยังไม่อนุมัติ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ผู้ยื่นเห็นผล: ความเห็นกรอบแดงและสลิป</a:t>
            </a:r>
            <a:endParaRPr lang="en-US" sz="3000" dirty="0"/>
          </a:p>
        </p:txBody>
      </p:sp>
      <p:sp>
        <p:nvSpPr>
          <p:cNvPr id="3" name="frame-26-request-done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6-request-done" descr="26-request-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ทุกลำดับเป็นจุดเขียว พร้อมชื่อ เวลา และเวลาที่ใช้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132320" y="21511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1511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123694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ความเห็นผู้อนุมัติ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ในกรอบสีแดง อ่านทุกครั้ง</a:t>
            </a:r>
            <a:endParaRPr lang="en-US" sz="150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4612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4612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ตัวเลขแดงบนเมนูและป้าย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ใหม่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บอกว่าคำขอมีความเคลื่อนไหว เปิดดูแล้วป้ายจะหายไป</a:t>
            </a:r>
            <a:endParaRPr lang="en-US" sz="14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66344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663440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เลื่อนลงจะเห็น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หลักฐานการโอนเงิน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กดรูปดูขนาดเต็ม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ส่งออกเอกสาร PDF</a:t>
            </a:r>
            <a:endParaRPr lang="en-US" sz="3000" dirty="0"/>
          </a:p>
        </p:txBody>
      </p:sp>
      <p:sp>
        <p:nvSpPr>
          <p:cNvPr id="3" name="frame-28-export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8-export" descr="28-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ลายเซ็นผู้ยื่น เปลี่ยนได้ →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ใส่ลายเซ็นนี้ในเอกสาร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132320" y="21511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1511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123694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ตัวอย่างเอกสารมีหัวกระดาษ ข้อมูล และผลอนุมัติจากระบบ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7132320" y="29032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9032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75788"/>
            <a:ext cx="414223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พิมพ์ / บันทึกเป็น PDF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→ เลือก Save as PDF</a:t>
            </a:r>
            <a:endParaRPr lang="en-US" sz="1500" dirty="0"/>
          </a:p>
        </p:txBody>
      </p:sp>
      <p:sp>
        <p:nvSpPr>
          <p:cNvPr id="14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ฟอร์ม PR, Memo, เบิกค่าเดินทาง และใบรับรองแทนใบเสร็จ ส่งออกเหมือนต้นฉบับกระดาษ ISO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เมนูอื่น ๆ ที่ใช้ทุกวัน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ห้องประชุม · ประเมินผล · บุคลากร · ติดต่อ · มือถือ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จองห้องประชุม: นัดใน Outlook อัตโนมัติ</a:t>
            </a:r>
            <a:endParaRPr lang="en-US" sz="3000" dirty="0"/>
          </a:p>
        </p:txBody>
      </p:sp>
      <p:sp>
        <p:nvSpPr>
          <p:cNvPr id="3" name="frame-50-rooms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0-rooms" descr="50-roo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เลือกห้อง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8366760" y="18562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288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หัวข้อการประชุม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8366760" y="23134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2860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วันที่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8366760" y="27706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2743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เวลาเริ่ม–สิ้นสุด</a:t>
            </a:r>
            <a:endParaRPr lang="en-US" sz="1500" dirty="0"/>
          </a:p>
        </p:txBody>
      </p:sp>
      <p:sp>
        <p:nvSpPr>
          <p:cNvPr id="17" name="num-5"/>
          <p:cNvSpPr/>
          <p:nvPr/>
        </p:nvSpPr>
        <p:spPr>
          <a:xfrm>
            <a:off x="8366760" y="32278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32004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อีเมลผู้เข้าร่วม คั่นด้วย ,</a:t>
            </a:r>
            <a:endParaRPr lang="en-US" sz="1500" dirty="0"/>
          </a:p>
        </p:txBody>
      </p:sp>
      <p:sp>
        <p:nvSpPr>
          <p:cNvPr id="20" name="num-6"/>
          <p:cNvSpPr/>
          <p:nvPr/>
        </p:nvSpPr>
        <p:spPr>
          <a:xfrm>
            <a:off x="8366760" y="3685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42248" y="36576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จองห้อง</a:t>
            </a:r>
            <a:endParaRPr lang="en-US" sz="1500" dirty="0"/>
          </a:p>
        </p:txBody>
      </p:sp>
      <p:sp>
        <p:nvSpPr>
          <p:cNvPr id="23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ครั้งแรกอาจขออนุญาตปฏิทิน กดยอมรับ · ยกเลิก/เลื่อนนัดทำใน Outlook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ประเมินผลบุคลากร: หัวหน้าประเมิน</a:t>
            </a:r>
            <a:endParaRPr lang="en-US" sz="3000" dirty="0"/>
          </a:p>
        </p:txBody>
      </p:sp>
      <p:sp>
        <p:nvSpPr>
          <p:cNvPr id="3" name="frame-43-ap-scoring"/>
          <p:cNvSpPr/>
          <p:nvPr/>
        </p:nvSpPr>
        <p:spPr>
          <a:xfrm>
            <a:off x="42062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3-ap-scoring" descr="43-ap-sc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8740"/>
            <a:ext cx="5486400" cy="3429000"/>
          </a:xfrm>
          <a:prstGeom prst="rect">
            <a:avLst/>
          </a:prstGeom>
        </p:spPr>
      </p:pic>
      <p:sp>
        <p:nvSpPr>
          <p:cNvPr id="5" name="frame-44-ap-sign-submit"/>
          <p:cNvSpPr/>
          <p:nvPr/>
        </p:nvSpPr>
        <p:spPr>
          <a:xfrm>
            <a:off x="622706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44-ap-sign-submit" descr="44-ap-sign-subm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48740"/>
            <a:ext cx="5486400" cy="3429000"/>
          </a:xfrm>
          <a:prstGeom prst="rect">
            <a:avLst/>
          </a:prstGeom>
        </p:spPr>
      </p:pic>
      <p:sp>
        <p:nvSpPr>
          <p:cNvPr id="7" name="ap-step-0"/>
          <p:cNvSpPr/>
          <p:nvPr/>
        </p:nvSpPr>
        <p:spPr>
          <a:xfrm>
            <a:off x="457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 หัวหน้าประเมินและลงนาม</a:t>
            </a:r>
            <a:endParaRPr lang="en-US" sz="1300" dirty="0"/>
          </a:p>
        </p:txBody>
      </p:sp>
      <p:sp>
        <p:nvSpPr>
          <p:cNvPr id="9" name="ap-step-1"/>
          <p:cNvSpPr/>
          <p:nvPr/>
        </p:nvSpPr>
        <p:spPr>
          <a:xfrm>
            <a:off x="2743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34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2. พนักงานรับทราบ</a:t>
            </a:r>
            <a:endParaRPr lang="en-US" sz="1300" dirty="0"/>
          </a:p>
        </p:txBody>
      </p:sp>
      <p:sp>
        <p:nvSpPr>
          <p:cNvPr id="11" name="ap-step-2"/>
          <p:cNvSpPr/>
          <p:nvPr/>
        </p:nvSpPr>
        <p:spPr>
          <a:xfrm>
            <a:off x="5029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20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3. ฝ่ายบุคคลตรวจสอบ</a:t>
            </a:r>
            <a:endParaRPr lang="en-US" sz="1300" dirty="0"/>
          </a:p>
        </p:txBody>
      </p:sp>
      <p:sp>
        <p:nvSpPr>
          <p:cNvPr id="13" name="ap-step-3"/>
          <p:cNvSpPr/>
          <p:nvPr/>
        </p:nvSpPr>
        <p:spPr>
          <a:xfrm>
            <a:off x="7315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4. ส่งผู้บริหาร</a:t>
            </a:r>
            <a:endParaRPr lang="en-US" sz="1300" dirty="0"/>
          </a:p>
        </p:txBody>
      </p:sp>
      <p:sp>
        <p:nvSpPr>
          <p:cNvPr id="15" name="ap-step-4"/>
          <p:cNvSpPr/>
          <p:nvPr/>
        </p:nvSpPr>
        <p:spPr>
          <a:xfrm>
            <a:off x="9601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92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5. ผู้บริหารรับทราบ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ประเมินผลบุคลากร: พนักงานรับทราบและลงนาม</a:t>
            </a:r>
            <a:endParaRPr lang="en-US" sz="3000" dirty="0"/>
          </a:p>
        </p:txBody>
      </p:sp>
      <p:sp>
        <p:nvSpPr>
          <p:cNvPr id="3" name="frame-47-ap-ack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7-ap-ack" descr="47-ap-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แท็บ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การประเมินของฉัน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· เห็นคะแนนและเกรด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7132320" y="19110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883664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เปิดใบเพื่อลงนามรับทราบ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7132320" y="242316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395728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ใส่ความเห็น (ถ้ามี) และ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เซ็นในกรอบ</a:t>
            </a:r>
            <a:endParaRPr lang="en-US" sz="1500" dirty="0"/>
          </a:p>
        </p:txBody>
      </p:sp>
      <p:sp>
        <p:nvSpPr>
          <p:cNvPr id="14" name="num-4"/>
          <p:cNvSpPr/>
          <p:nvPr/>
        </p:nvSpPr>
        <p:spPr>
          <a:xfrm>
            <a:off x="7132320" y="29352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2907792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ลงนามรับทราบ</a:t>
            </a:r>
            <a:endParaRPr lang="en-US" sz="150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4526280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526280"/>
            <a:ext cx="4288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ลงนามรับทราบ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ไม่ได้แปลว่าเห็นด้วยทุกข้อ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เขียนความเห็นได้ · ดาวน์โหลดใบประเมินและดูประวัติได้ทุกเมื่อ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บุคลากรและแผนผังองค์กร</a:t>
            </a:r>
            <a:endParaRPr lang="en-US" sz="3000" dirty="0"/>
          </a:p>
        </p:txBody>
      </p:sp>
      <p:sp>
        <p:nvSpPr>
          <p:cNvPr id="3" name="frame-52-directory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2-directory" descr="52-direc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54-orgchar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54-orgchart" descr="54-org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ค้นหาชื่อจริง ชื่อเล่น ตำแหน่ง ฝ่าย · กดการ์ดดูข้อมูลเต็ม · กดอีเมลเพื่อส่งเมล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แท็บแผนผังองค์กร ตามฉบับประกาศ · กดฝ่าย/แผนกเพื่อดูรายชื่อคนในหน่วย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ติดต่อและกล่องรับฟังความคิดเห็น</a:t>
            </a:r>
            <a:endParaRPr lang="en-US" sz="3000" dirty="0"/>
          </a:p>
        </p:txBody>
      </p:sp>
      <p:sp>
        <p:nvSpPr>
          <p:cNvPr id="3" name="frame-57-feedback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7-feedback" descr="57-feed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3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เลือกเรื่องที่เสนอ</a:t>
            </a:r>
            <a:endParaRPr lang="en-US" sz="1500" dirty="0"/>
          </a:p>
        </p:txBody>
      </p:sp>
      <p:sp>
        <p:nvSpPr>
          <p:cNvPr id="8" name="num-4"/>
          <p:cNvSpPr/>
          <p:nvPr/>
        </p:nvSpPr>
        <p:spPr>
          <a:xfrm>
            <a:off x="8366760" y="19110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8366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เล่ารายละเอียด</a:t>
            </a:r>
            <a:endParaRPr lang="en-US" sz="1500" dirty="0"/>
          </a:p>
        </p:txBody>
      </p:sp>
      <p:sp>
        <p:nvSpPr>
          <p:cNvPr id="11" name="num-5"/>
          <p:cNvSpPr/>
          <p:nvPr/>
        </p:nvSpPr>
        <p:spPr>
          <a:xfrm>
            <a:off x="8366760" y="242316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39572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ติ๊กถ้า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ไม่ต้องการระบุชื่อ</a:t>
            </a:r>
            <a:endParaRPr lang="en-US" sz="1500" dirty="0"/>
          </a:p>
        </p:txBody>
      </p:sp>
      <p:sp>
        <p:nvSpPr>
          <p:cNvPr id="14" name="num-6"/>
          <p:cNvSpPr/>
          <p:nvPr/>
        </p:nvSpPr>
        <p:spPr>
          <a:xfrm>
            <a:off x="8366760" y="293522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290779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ส่งความคิดเห็น</a:t>
            </a:r>
            <a:endParaRPr lang="en-US" sz="1500" dirty="0"/>
          </a:p>
        </p:txBody>
      </p:sp>
      <p:sp>
        <p:nvSpPr>
          <p:cNvPr id="17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หน้าติดต่อมีสมุดโทรศัพท์ทุกหน่วยงาน และผู้ดูแลระบบ ต่อ 216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ใช้งานบนมือถือ</a:t>
            </a:r>
            <a:endParaRPr lang="en-US" sz="3000" dirty="0"/>
          </a:p>
        </p:txBody>
      </p:sp>
      <p:sp>
        <p:nvSpPr>
          <p:cNvPr id="3" name="frame-60-m-home"/>
          <p:cNvSpPr/>
          <p:nvPr/>
        </p:nvSpPr>
        <p:spPr>
          <a:xfrm>
            <a:off x="42062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60-m-home" descr="60-m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1025"/>
            <a:ext cx="2148840" cy="4650310"/>
          </a:xfrm>
          <a:prstGeom prst="rect">
            <a:avLst/>
          </a:prstGeom>
        </p:spPr>
      </p:pic>
      <p:sp>
        <p:nvSpPr>
          <p:cNvPr id="5" name="frame-61-m-menu"/>
          <p:cNvSpPr/>
          <p:nvPr/>
        </p:nvSpPr>
        <p:spPr>
          <a:xfrm>
            <a:off x="275234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61-m-menu" descr="61-m-men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01025"/>
            <a:ext cx="2148840" cy="4650310"/>
          </a:xfrm>
          <a:prstGeom prst="rect">
            <a:avLst/>
          </a:prstGeom>
        </p:spPr>
      </p:pic>
      <p:sp>
        <p:nvSpPr>
          <p:cNvPr id="7" name="frame-62-m-form"/>
          <p:cNvSpPr/>
          <p:nvPr/>
        </p:nvSpPr>
        <p:spPr>
          <a:xfrm>
            <a:off x="508406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8" name="shot-62-m-form" descr="62-m-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01025"/>
            <a:ext cx="2148840" cy="4650310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76809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809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156448" y="1371600"/>
            <a:ext cx="35935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เปิดลิงก์ด้วย Safari / Chrome แล้วเข้าสู่ระบบ</a:t>
            </a:r>
            <a:endParaRPr lang="en-US" sz="1500" dirty="0"/>
          </a:p>
        </p:txBody>
      </p:sp>
      <p:sp>
        <p:nvSpPr>
          <p:cNvPr id="12" name="num-2"/>
          <p:cNvSpPr/>
          <p:nvPr/>
        </p:nvSpPr>
        <p:spPr>
          <a:xfrm>
            <a:off x="7680960" y="215112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80960" y="21511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156448" y="2123694"/>
            <a:ext cx="35935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เพิ่มไปยังหน้าจอโฮม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ได้ไอคอนเหมือนแอป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7680960" y="29032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80960" y="29032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156448" y="2875788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เมนูอยู่ที่ปุ่ม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☰ เมนู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มุมขวาบน</a:t>
            </a:r>
            <a:endParaRPr lang="en-US" sz="1500" dirty="0"/>
          </a:p>
        </p:txBody>
      </p:sp>
      <p:sp>
        <p:nvSpPr>
          <p:cNvPr id="18" name="num-4"/>
          <p:cNvSpPr/>
          <p:nvPr/>
        </p:nvSpPr>
        <p:spPr>
          <a:xfrm>
            <a:off x="7680960" y="34152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80960" y="34152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56448" y="3387852"/>
            <a:ext cx="359359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แนบไฟล์เลือก “ถ่ายรูป” · เซ็นด้วยนิ้ว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ฝึกปฏิบัติและทดสอบ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แบบฝึก 3 ชุด · ปัญหาที่พบบ่อย · แบบทดสอบ 5 ข้อ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แบบฝึกปฏิบัติ 3 ชุด</a:t>
            </a:r>
            <a:endParaRPr lang="en-US" sz="3000" dirty="0"/>
          </a:p>
        </p:txBody>
      </p:sp>
      <p:sp>
        <p:nvSpPr>
          <p:cNvPr id="3" name="ex-1"/>
          <p:cNvSpPr/>
          <p:nvPr/>
        </p:nvSpPr>
        <p:spPr>
          <a:xfrm>
            <a:off x="45720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ยื่นคำขอ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ยื่น Memo บันทึกข้อความภายใน เรื่อง “ทดสอบการใช้งานระบบ – ชื่อคุณ” แนบรูป 1 รูป ลงลายเซ็น จดเลขที่คำขอ</a:t>
            </a:r>
            <a:endParaRPr lang="en-US" sz="1500" dirty="0"/>
          </a:p>
        </p:txBody>
      </p:sp>
      <p:sp>
        <p:nvSpPr>
          <p:cNvPr id="8" name="ex-2"/>
          <p:cNvSpPr/>
          <p:nvPr/>
        </p:nvSpPr>
        <p:spPr>
          <a:xfrm>
            <a:off x="425196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ติดตามและแก้ไข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ผู้สอนส่งกลับแก้ไข → อ่านเหตุผล แก้ชื่อเรื่องเป็น “(แก้ไขแล้ว)” ยื่นใหม่ → ส่งออกเป็น PDF</a:t>
            </a:r>
            <a:endParaRPr lang="en-US" sz="1500" dirty="0"/>
          </a:p>
        </p:txBody>
      </p:sp>
      <p:sp>
        <p:nvSpPr>
          <p:cNvPr id="13" name="ex-3"/>
          <p:cNvSpPr/>
          <p:nvPr/>
        </p:nvSpPr>
        <p:spPr>
          <a:xfrm>
            <a:off x="804672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ค้นหาข้อมูล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หาเบอร์ต่อ HR · หาหัวหน้าแผนกตัวเองในผังองค์กร · เปิดนโยบาย PDPA บอกวันที่ประกาศ</a:t>
            </a:r>
            <a:endParaRPr lang="en-US" sz="1500" dirty="0"/>
          </a:p>
        </p:txBody>
      </p:sp>
      <p:sp>
        <p:nvSpPr>
          <p:cNvPr id="18" name="callout-warn"/>
          <p:cNvSpPr/>
          <p:nvPr/>
        </p:nvSpPr>
        <p:spPr>
          <a:xfrm>
            <a:off x="457200" y="544068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5440680"/>
            <a:ext cx="1094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ผู้สอน: หลังอบรม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ยกเลิกคำขอทดสอบ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ทุกใบ เพื่อไม่ให้ปนกับรายงานจริง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ปัญหาที่พบบ่อยและวิธีแก้</a:t>
            </a:r>
            <a:endParaRPr lang="en-US" sz="3000" dirty="0"/>
          </a:p>
        </p:txBody>
      </p:sp>
      <p:sp>
        <p:nvSpPr>
          <p:cNvPr id="3" name="faq-0"/>
          <p:cNvSpPr/>
          <p:nvPr/>
        </p:nvSpPr>
        <p:spPr>
          <a:xfrm>
            <a:off x="457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❓ หน้าเว็บไม่อัปเดต ไม่เห็นปุ่มใหม่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กด Ctrl + F5 · มือถือปิดแท็บแล้วเปิดใหม่</a:t>
            </a:r>
            <a:endParaRPr lang="en-US" sz="1600" dirty="0"/>
          </a:p>
        </p:txBody>
      </p:sp>
      <p:sp>
        <p:nvSpPr>
          <p:cNvPr id="5" name="faq-1"/>
          <p:cNvSpPr/>
          <p:nvPr/>
        </p:nvSpPr>
        <p:spPr>
          <a:xfrm>
            <a:off x="6172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❓ ส่งคำขอไม่ได้ ขึ้นข้อความแดง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ข้อความบอกว่า “ยังขาด” ช่องไหน กรอกช่องที่มี * ให้ครบ</a:t>
            </a:r>
            <a:endParaRPr lang="en-US" sz="1600" dirty="0"/>
          </a:p>
        </p:txBody>
      </p:sp>
      <p:sp>
        <p:nvSpPr>
          <p:cNvPr id="7" name="faq-2"/>
          <p:cNvSpPr/>
          <p:nvPr/>
        </p:nvSpPr>
        <p:spPr>
          <a:xfrm>
            <a:off x="457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❓ คำขอค้างที่ผู้อนุมัติหลายวัน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ดูชื่อในเส้นทางอนุมัติ แล้วติดต่อผู้อนุมัติโดยตรง</a:t>
            </a:r>
            <a:endParaRPr lang="en-US" sz="1600" dirty="0"/>
          </a:p>
        </p:txBody>
      </p:sp>
      <p:sp>
        <p:nvSpPr>
          <p:cNvPr id="9" name="faq-3"/>
          <p:cNvSpPr/>
          <p:nvPr/>
        </p:nvSpPr>
        <p:spPr>
          <a:xfrm>
            <a:off x="6172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❓ คำขอไปหาผู้อนุมัติผิดคน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ข้อมูลหัวหน้าในทะเบียนไม่ถูก แจ้ง HR พร้อมเลขที่คำขอ</a:t>
            </a:r>
            <a:endParaRPr lang="en-US" sz="1600" dirty="0"/>
          </a:p>
        </p:txBody>
      </p:sp>
      <p:sp>
        <p:nvSpPr>
          <p:cNvPr id="11" name="faq-4"/>
          <p:cNvSpPr/>
          <p:nvPr/>
        </p:nvSpPr>
        <p:spPr>
          <a:xfrm>
            <a:off x="457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❓ อนุมัติใน Teams แล้วเว็บไม่เปลี่ยน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รอไม่เกิน 10 นาที แล้วอนุมัติในเว็บแทน</a:t>
            </a:r>
            <a:endParaRPr lang="en-US" sz="1600" dirty="0"/>
          </a:p>
        </p:txBody>
      </p:sp>
      <p:sp>
        <p:nvSpPr>
          <p:cNvPr id="13" name="faq-5"/>
          <p:cNvSpPr/>
          <p:nvPr/>
        </p:nvSpPr>
        <p:spPr>
          <a:xfrm>
            <a:off x="6172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❓ ถูกออกจากระบบเอง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ไม่ได้ใช้งาน 60 นาที เข้าสู่ระบบใหม่ได้ทันที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แบบทดสอบท้ายการอบรม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457200" y="14447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417320"/>
            <a:ext cx="638251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เข้าสู่ระบบต้องใช้บัญชีใด</a:t>
            </a:r>
            <a:endParaRPr lang="en-US" sz="1800" dirty="0"/>
          </a:p>
        </p:txBody>
      </p:sp>
      <p:sp>
        <p:nvSpPr>
          <p:cNvPr id="6" name="num-2"/>
          <p:cNvSpPr/>
          <p:nvPr/>
        </p:nvSpPr>
        <p:spPr>
          <a:xfrm>
            <a:off x="457200" y="213741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374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09978"/>
            <a:ext cx="638251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ตัวเลขแดงบนเมนู “ติดตามสถานะ” หมายถึงอะไร</a:t>
            </a:r>
            <a:endParaRPr lang="en-US" sz="1800" dirty="0"/>
          </a:p>
        </p:txBody>
      </p:sp>
      <p:sp>
        <p:nvSpPr>
          <p:cNvPr id="9" name="num-3"/>
          <p:cNvSpPr/>
          <p:nvPr/>
        </p:nvSpPr>
        <p:spPr>
          <a:xfrm>
            <a:off x="457200" y="28300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30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802636"/>
            <a:ext cx="638251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คำขอถูก “ส่งกลับแก้ไข” ต้องทำอย่างไร</a:t>
            </a:r>
            <a:endParaRPr lang="en-US" sz="1800" dirty="0"/>
          </a:p>
        </p:txBody>
      </p:sp>
      <p:sp>
        <p:nvSpPr>
          <p:cNvPr id="12" name="num-4"/>
          <p:cNvSpPr/>
          <p:nvPr/>
        </p:nvSpPr>
        <p:spPr>
          <a:xfrm>
            <a:off x="457200" y="352272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227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495294"/>
            <a:ext cx="638251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ผู้อนุมัติอนุมัติได้ทางใดบ้าง</a:t>
            </a:r>
            <a:endParaRPr lang="en-US" sz="1800" dirty="0"/>
          </a:p>
        </p:txBody>
      </p:sp>
      <p:sp>
        <p:nvSpPr>
          <p:cNvPr id="15" name="num-5"/>
          <p:cNvSpPr/>
          <p:nvPr/>
        </p:nvSpPr>
        <p:spPr>
          <a:xfrm>
            <a:off x="457200" y="42153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187952"/>
            <a:ext cx="638251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การเงินแนบสลิปได้กี่วิธี อะไรบ้าง</a:t>
            </a:r>
            <a:endParaRPr lang="en-US" sz="1800" dirty="0"/>
          </a:p>
        </p:txBody>
      </p:sp>
      <p:sp>
        <p:nvSpPr>
          <p:cNvPr id="18" name="quiz-card"/>
          <p:cNvSpPr/>
          <p:nvPr/>
        </p:nvSpPr>
        <p:spPr>
          <a:xfrm>
            <a:off x="7680960" y="1417320"/>
            <a:ext cx="406908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1417320"/>
            <a:ext cx="3474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DE6"/>
                </a:solidFill>
              </a:rPr>
              <a:t>10 ข้อเต็ม</a:t>
            </a:r>
            <a:endParaRPr lang="en-US" sz="15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อยู่ในคู่มือบทที่ 20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เกณฑ์ผ่าน 8 ข้อ · มีเฉลยท้ายบท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ขอบคุณครับ / ค่ะ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มีคำถาม ติดต่อผู้ดูแลระบบได้ตลอด</a:t>
            </a:r>
            <a:endParaRPr lang="en-US" sz="1800" dirty="0"/>
          </a:p>
        </p:txBody>
      </p:sp>
      <p:sp>
        <p:nvSpPr>
          <p:cNvPr id="6" name="close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DE6"/>
                </a:solidFill>
              </a:rPr>
              <a:t>คู่มือฉบับเต็ม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หน้าแรก → คู่มือการใช้งาน</a:t>
            </a:r>
            <a:endParaRPr lang="en-US" sz="1200" dirty="0"/>
          </a:p>
        </p:txBody>
      </p:sp>
      <p:sp>
        <p:nvSpPr>
          <p:cNvPr id="8" name="close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DE6"/>
                </a:solidFill>
              </a:rPr>
              <a:t>ผู้ดูแลระบบ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ต่อ 216 · it@primepower.co.th</a:t>
            </a:r>
            <a:endParaRPr lang="en-US" sz="1200" dirty="0"/>
          </a:p>
        </p:txBody>
      </p:sp>
      <p:sp>
        <p:nvSpPr>
          <p:cNvPr id="10" name="close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DE6"/>
                </a:solidFill>
              </a:rPr>
              <a:t>เวลาให้บริการ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จันทร์–ศุกร์ 08:30–17:30 น.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e Power Intranet">
  <a:themeElements>
    <a:clrScheme name="Prime Power Intranet">
      <a:dk1>
        <a:srgbClr val="1D2733"/>
      </a:dk1>
      <a:lt1>
        <a:srgbClr val="FFFFFF"/>
      </a:lt1>
      <a:dk2>
        <a:srgbClr val="00397A"/>
      </a:dk2>
      <a:lt2>
        <a:srgbClr val="F2F5F8"/>
      </a:lt2>
      <a:accent1>
        <a:srgbClr val="0067B8"/>
      </a:accent1>
      <a:accent2>
        <a:srgbClr val="00A94F"/>
      </a:accent2>
      <a:accent3>
        <a:srgbClr val="E8590C"/>
      </a:accent3>
      <a:accent4>
        <a:srgbClr val="4A9DE0"/>
      </a:accent4>
      <a:accent5>
        <a:srgbClr val="5C6A7A"/>
      </a:accent5>
      <a:accent6>
        <a:srgbClr val="F5B700"/>
      </a:accent6>
      <a:hlink>
        <a:srgbClr val="0067B8"/>
      </a:hlink>
      <a:folHlink>
        <a:srgbClr val="00397A"/>
      </a:folHlink>
    </a:clrScheme>
    <a:fontScheme name="Prime Power Intranet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Prime Power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อบรมการใช้งานระบบ Intranet Prime Power Group</dc:title>
  <dc:subject>PptxGenJS Presentation</dc:subject>
  <dc:creator>Prime Power Group</dc:creator>
  <cp:lastModifiedBy>Prime Power Group</cp:lastModifiedBy>
  <cp:revision>1</cp:revision>
  <dcterms:created xsi:type="dcterms:W3CDTF">2026-10-06T08:37:24Z</dcterms:created>
  <dcterms:modified xsi:type="dcterms:W3CDTF">2026-10-06T08:37:24Z</dcterms:modified>
</cp:coreProperties>
</file>