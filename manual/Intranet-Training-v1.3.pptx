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" id="{e1ffce60-e070-d56a-ca81-f4161b4627f4}">
          <p14:sldIdLst>
            <p14:sldId id="256"/>
            <p14:sldId id="257"/>
            <p14:sldId id="258"/>
            <p14:sldId id="259"/>
          </p14:sldIdLst>
        </p14:section>
        <p14:section name="เริ่มต้นใช้งาน" id="{70e04486-cbf3-7c1d-cc41-ac6a044a0d0a}">
          <p14:sldIdLst>
            <p14:sldId id="260"/>
            <p14:sldId id="261"/>
            <p14:sldId id="262"/>
          </p14:sldIdLst>
        </p14:section>
        <p14:section name="ยื่นคำขอและติดตามสถานะ" id="{2850ad27-8bf9-4eef-c54e-09973dd844dc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สำหรับผู้อนุมัติ" id="{8357dbc2-2967-cf68-d084-e510d33eb0b4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เมนูอื่น ๆ ที่ใช้ทุกวัน" id="{120a2d93-1561-cc23-e41b-2190c4464491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ฟีเจอร์ใหม่ ฉบับ 1.1" id="{8549b3cf-4619-943b-4fcf-fc14026366a3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ฟีเจอร์ใหม่ ฉบับ 1.2" id="{a6051b6f-c08a-2c28-b7d4-7b5f4d3ac217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ฉบับ 1.3: ทุกแบบฟอร์ม และฟีเจอร์ใหม่" id="{5138c63d-5ce3-20f5-b670-baec89512f23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ฝึกปฏิบัติและทดสอบ" id="{1da88741-e2b4-9b10-663a-29eeeb3e2e45}">
          <p14:sldIdLst>
            <p14:sldId id="331"/>
            <p14:sldId id="332"/>
            <p14:sldId id="333"/>
            <p14:sldId id="334"/>
          </p14:sldIdLst>
        </p14:section>
        <p14:section name="ปิด" id="{ceec8be3-63bd-bc01-1b66-e88d5ca400d2}">
          <p14:sldIdLst>
            <p14:sldId id="3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แนะนำตัวผู้สอน และบอกว่าวันนี้จะสอนใช้ระบบ Intranet ของบริษัท ตั้งแต่เข้าสู่ระบบ ยื่นคำขอ ติดตามสถานะ อนุมัติ จนถึงเมนูอื่น ๆ ทั้งหมด ใช้เวลาประมาณ 2 ชั่วโมง มีฝึกปฏิบัติและแบบทดสอบท้ายชั่วโมง ให้ผู้เรียนเปิดคอมหรือมือถือพร้อมบัญชี @primepower.co.th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อธิบายหัวข้อและเวลาคร่าว ๆ หัวหน้างานใหม่ให้อยู่ช่วงผู้อนุมัติด้วย ฝ่ายการเงินเน้นหัวข้อแนบสลิป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ไล่ให้ดูว่าระบบมีเมนูอะไรบ้าง ย้ำว่าทุกคำขอที่เคยเป็นกระดาษ ยื่นผ่านเมนูแบบฟอร์มทั้งหมด และระบบส่งต่อผู้อนุมัติให้เองพร้อมแจ้งเตือนทาง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เล่าเรื่องที่จะใช้เป็นตัวอย่างตลอดการอบรม: คุณชัยวัฒน์ซื้อสายไฟและอุปกรณ์ยึดรางเคเบิลเพิ่ม 12,500 บาท เบิกเงินทดรองจ่ายล่วงหน้า ผ่านผู้บังคับบัญชา ผู้บริหาร และการเงินโอนเงินพร้อมแนบสลิป ชื่อและตัวเลขเป็นข้อมูลสมมติ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ส่วนแรก 15 นาที ให้ทุกคนเข้าสู่ระบบพร้อมกัน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ให้ทุกคนเปิดลิงก์และเข้าสู่ระบบพร้อมกัน ใครเข้าไม่ได้ให้ตรวจว่าใช้อีเมลบริษัท ไม่ใช่อีเมลส่วนตัว ถ้าบัญชียังไม่พร้อมให้แจ้ง HR ระบบไม่เก็บรหัสผ่าน การพิมพ์รหัสผ่านทำบนหน้าของ Microsoft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ชี้ส่วนต่าง ๆ ตามตัวเลขสีส้ม เน้นตัวเลขแดงบนเมนูติดตามสถานะ = คำขอรอคุณอนุมัติหรือคำขอของคุณมีความเคลื่อนไหว และบนเมนูประเมินผล = ใบประเมินรอคุณ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ส่วนที่สำคัญที่สุด 40 นาที ให้ผู้เรียนทำตามไปพร้อมกัน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ภาพรวมเส้นทางของคำขอเบิกเงินทดรองจ่าย แต่ละฟอร์มมีเส้นทางต่างกัน ผู้ยื่นไม่ต้องเลือกผู้อนุมัติเอง ระบบหาให้จากข้อมูลบุคลากร ถ้าไปผิดคนแปลว่าข้อมูลหัวหน้าในทะเบียนไม่ถูก ให้แจ้ง 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ให้ผู้เรียนลองค้นหาฟอร์ม หรือกดปุ่มกรองตามฝ่าย แบบฟอร์มแยกตามฝ่ายเจ้าของ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ช่องที่มีดาวแดงต้องกรอก ข้อมูลรหัสพนักงาน ชื่อ ฝ่าย แผนก ระบบดึงจากทะเบียนบุคลากรอัตโนมัติ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เขียนเหตุผลให้ละเอียด ผู้อนุมัติจะได้ไม่ต้องส่งกลับมาถาม แนบหลักฐานทุกครั้ง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เซ็นด้วยเมาส์ให้กดค้างแล้วลาก บนมือถือใช้นิ้ว เซ็นผิดกดล้างลายเซ็น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หลังกดส่ง ระบบส่งการ์ดขออนุมัติใน Teams ให้ผู้อนุมัติลำดับแรกทันที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เมนูติดตามสถานะ กล่องคำขอของฉัน กดเพื่อเปิดรายละเอียด ถ้าค้างนาน ดูชื่อผู้อนุมัติที่รออยู่แล้วติดต่อโดยตรง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ไล่ทีละสถานะ เน้นส่งกลับแก้ไขกับไม่อนุมัติ ต่างกันตรงที่ส่งกลับแก้ไขยังยื่นใหม่ด้วยเลขเดิมได้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ตัวอย่าง: ขอเบิกค่าเช่ารถเครน 8,000 บาท ไม่ได้แนบใบเสนอราคา ผู้จัดการแผนกส่งกลับให้แนบใบเสนอราคา 2 เจ้า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สำหรับหัวหน้างานและฝ่ายการเงิน 20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ตัวอย่างความเห็นที่ดี: อนุมัติ ตรวจใบเสนอราคาแล้ว / กรุณาแนบใบเสนอราคาอย่างน้อย 2 เจ้า / งบโครงการนี้ใช้ครบแล้ว ให้เบิกผ่านงบส่วนกลาง ถ้าขึ้นว่ามีคนดำเนินการไปแล้ว ไม่ต้องกดซ้ำ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สาธิตบนแอป Teams จริงของผู้สอน ให้หัวหน้างานลองเปิดเมนู Approvals ในเครื่องตัวเอง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สาธิตการแคปหน้าจอสลิปจากแอปธนาคารแล้วกด Ctrl+V วาง ถ้าแถบด้านล่างขึ้นสีแดง แปลว่าส่ง Teams ไม่สำเร็จ แต่การอนุมัติบันทึกแล้ว ให้แจ้งผู้ยื่นทางอื่น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ความเห็นอาจบอกว่าอนุมัติไม่เต็มจำนวน จึงต้องอ่านทุกครั้ง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เปิดคำขอแล้วกดส่งออกเป็นเอกสาร (PDF) ด้านล่างหน้าต่าง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4 ประมาณ 25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ดูตารางห้องว่างด้านล่างก่อนจอง ถ้าตารางไม่ขึ้นกดเปิดปฏิทินเต็มจอ หรือจองผ่าน Outlook แบบเดิมได้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หัวหน้า: เมนูประเมินผลบุคลากร → แท็บทีมของฉัน → ประเมิน → ให้คะแนน 1–10 ทุกข้อ (ดูเกณฑ์ที่แถบซ้าย) → เซ็นช่องผู้ประเมิน → บันทึกและส่ง ส่งแล้วคะแนนถูกล็อก ขั้นที่ 2 และ 3 ทำพร้อมกันได้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พนักงานใหม่ทุกคนต้องผ่านขั้นตอนนี้ในการประเมินทดลองงาน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ให้ผู้เรียนหาเบอร์ต่อของหัวหน้าตัวเอง และหาแผนกของตัวเองในผังองค์กร ข้อมูลผิดแจ้ง 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ความคิดเห็นส่งถึงฝ่ายบริหารโดยตรง เลือกไม่ระบุชื่อได้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ให้ทุกคนเพิ่มไอคอนลงหน้าจอหลักของมือถือ iPhone: ปุ่มแชร์ → เพิ่มไปยังหน้าจอโฮม · Android: ⋮ → ติดตั้งแอป / เพิ่มลงในหน้าจอหลัก จะได้ไอคอน Intranet เปิดเต็มจอเหมือนแอป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นาที · ผู้ขอซื้อ ผู้อนุมัติ PR และฝ่ายจัดซื้อควรอยู่ฟังส่วนนี้ (คู่มือบท N1–N5)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แบบฟอร์ม FM-PUR-004 เส้นทางมี 5 ขั้น เลข 0 คือผู้ขอซื้อ ขั้นผู้อำนวยการโครงการไม่บังคับ ถ้าโครงการไม่มีผู้อำนวยการ ระบบข้ามให้เอง ฝ่ายจัดซื้อได้รับแจ้งตั้งแต่ยื่นเพื่อเตรียมงาน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สาธิตการพิมพ์ชื่อโครงการแล้วเลือกจากรายการ ให้สังเกตข้อความใต้ช่องที่เปลี่ยนตามโครงการที่เลือก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ถ้าลืมเซ็นแล้วกดอนุมัติ ระบบจะเตือนว่า กรุณาลงลายเซ็นก่อนกดอนุมัติ ลายเซ็นอัปโหลดเป็นรูป PNG/JPG 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ฝ่ายจัดซื้อไม่มีปุ่มอนุมัติ ใช้กล่องอัปเดตสถานะ ทุกครั้งที่บันทึกจะขึ้นในเส้นทางอนุมัติให้ผู้ยื่นเห็น อย่ากดอนุมัติในการ์ด Teams ของขั้นจัดซื้อ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สาธิตเลือกส่งของแล้วแล้วกดบันทึก ให้เห็นกล่องยืนยัน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ให้ผู้เรียนลองค้นหาเบอร์ต่อของ HR ด้วยช่องค้นหา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คำขอที่ค้างก่อนวันลา แอดมินกดส่งแจ้งอนุมัติใหม่ในคำขอ เพื่อส่งให้ผู้ปฏิบัติแทน เมื่อพ้นวันที่กำหนดระบบกลับไปใช้ผู้อนุมัติตัวจริงเอง สำหรับแอดมิน: การตั้งเส้นทางอนุมัติแบบใหม่อยู่ในคู่มือบท N5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นาที · ทุกคนควรฟังช่วงตัวกรองสถานะ จองคิว Messenger และจองรถ · ผู้ขอซื้อ/ฝ่ายจัดซื้อฟังช่วง PR · แอดมินฟังสไลด์สุดท้าย (คู่มือบท N6–N13)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ภาพรวมฟีเจอร์ที่เพิ่มหลังวันที่ 16 ต.ค. 2569 รายละเอียดอยู่ในคู่มือบท N6–N13 สไลด์ถัดไปจะสาธิตทีละเรื่อง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เลือกแถบเบิกเงินสำรองโครงการ กดรออนุมัติ ให้เห็นรายการลดลง กดทั้งหมดกลับมา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ทะเบียนอ่านย้อนหลังทั้งหมด ไม่จำกัด 6 เดือน ใครเห็นอะไร: แอดมิน/ผู้บริหารทุกใบ ฝ่ายบัญชีเห็นทุกใบของ FM-ACC-002/003/004 คนอื่นเห็นเฉพาะใบที่ตัวเองเกี่ยวข้อง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เลขเริ่มของเดือนตุลาคม 2569 = PR2610175 ต่อจากเลขเดิมของฝ่ายจัดซื้อ ส่งกลับแก้ไขแล้วยื่นใหม่เลขเดิมยังอยู่ ใบที่ยื่นก่อน 21 ต.ค. ไม่มีเลขอัตโนมัติ ฝ่ายจัดซื้อกรอกเอง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การ์ดใน Teams/อีเมลของใบขอสั่งซื้อไม่มีปุ่มอนุมัติแล้ว เพราะเซ็นชื่อไม่ได้ ต้องเข้าเว็บเท่านั้น ส่วนส่งกลับแก้ไข/ไม่อนุมัติไม่ต้องเซ็น แต่ต้องพิมพ์เหตุผล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ปุ่มทะเบียน PR อยู่ในแถบใบขอสั่งซื้อของหน้าติดตามสถานะ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ชื่อที่พิมพ์เองไม่ถูกเพิ่มเข้ารายการถาวร แอดมินเพิ่มได้ที่ตั้งค่าระบบ OMSites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หน้าแรกแสดงคิว Messenger วันนี้พร้อมป้ายสถานะสี ปฏิทินดึงข้อมูลใหม่ทุกครั้งที่เปิด วันที่ตามเวลาไทยไม่เลื่อน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ใช้ได้ทั้งตารางคิว Messenger และตารางการใช้รถยนต์บริษัทฯ กด Esc เพื่อปิดหน้าเต็มจอ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แบบฟอร์ม FM-ADM-002 ขอใช้รถยนต์บริษัทฯ ประจำสำนักงาน รถมี 3 คัน (ตั้งค่า CarPlates) ผู้ดูแลรถคือฝ่ายประสานงานและอำนวยการ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คืนรถใส่หมายเหตุได้ เช่น เลขไมล์ น้ำมันคงเหลือ ยกเลิกการจองต้องพิมพ์เหตุผล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เลือกประเภทงานซ่อมแล้วระบบรู้เองว่าจะส่งให้ฝ่ายไหน ไม่ต้องเลือกผู้อนุมัติ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ไม่เห็นคำขอที่ต้องอนุมัติเลย และมีแถบสีส้มบอกว่าไม่พบอีเมลในทะเบียน = อีเมลล็อกอินไม่ตรงกับทะเบียนบุคลากร ให้แจ้งผู้ดูแลแก้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Automate: ใบขอสั่งซื้อได้ PAState = PENDING_SIGN ต้องเพิ่มกล่อง 5.2 needWebSign ตาม docs/power-automate-v2.md รายละเอียดทั้งหมดในคู่มือบท N13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นาที · ทุกคนควรฟังช่วงคู่มือทุกแบบฟอร์ม และสไลด์ของฟอร์มที่ตัวเองใช้ · ผู้บริหารเน้นวันที่ต้องใช้เงิน (คู่มือบท N14–N18)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ภาพรวมฉบับ 1.3 (22 ต.ค. 2569) เน้นว่าตอนนี้มีหน้าคู่มือทุกแบบฟอร์มในระบบ อ่านวิธีกรอกและผู้อนุมัติของฟอร์มไหนก็ได้ และอัปเดตเองเมื่อผู้ดูแลแก้ฟอร์ม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สาธิตเปิดทั้งสองทาง ย้ำว่าคู่มือนี้สร้างจากการตั้งค่าจริงทุกครั้งที่เปิด แบบฟอร์มที่เพิ่มใหม่ขึ้นเอง จึงเชื่อถือได้มากกว่าเอกสารที่พิมพ์ไว้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ให้ผู้เรียนเปิดหน้านี้แล้วค้นหาแบบฟอร์มที่ตัวเองใช้บ่อย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ช่องข้อมูลผู้ยื่น (รหัส ชื่อ อีเมล ฝ่าย แผนก) ระบบเติมให้ทุกฟอร์ม ฟอร์มที่ไม่มีช่องแนบไฟล์ ระบบเพิ่มช่องแนบหลักฐานให้ท้ายฟอร์ม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กติกาพิเศษคือสิ่งที่ระบบทำให้เองตามชนิดฟอร์ม เช่น เลขที่เอกสาร ช่องโครงการ เลข PR ลายเซ็น การแนบสลิป วันที่ต้องใช้เงิน การจองคิว/รถ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ฟอร์มที่ผู้ดูแลเพิ่มภายหลังจะขึ้นในคู่มือทุกแบบฟอร์มทันที ประเมินผลบุคลากรใช้เมนูประเมินผล จองห้องประชุมใช้เมนูจองห้อง สไลด์ถัดไปอธิบายทีละฟอร์ม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หลังการเงินแนบสลิป ผู้ยื่นได้รับแจ้งทาง Teams พร้อมรูปสลิป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เก็บใบเสร็จไว้เคลียร์เงินสำรอง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ทะเบียน PR + Excel · ผู้ยื่นได้รับแจ้งทุกครั้งที่สถานะจัดซื้อเปลี่ยน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ฟอร์มเหล่านี้ผู้ดูแลปรับช่องได้ ให้ดูช่องล่าสุดในคู่มือทุกแบบฟอร์ม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ผู้ดูแลเปลี่ยนรถหรือยกเลิกได้ ปฏิทินรถบันทึก PNG ได้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หน้าแรกแสดงคิววันนี้ ปฏิทินเต็มจอบันทึก PNG ได้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รูปความเสียหายแสดงเป็นภาพใน PDF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ดำเนินการตามที่อนุมัติ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 บันทึกในระบบลงเวลา/ทะเบียนลา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 Admin จัดหาที่พัก / จ่ายสวัสดิการตามรอบ · รายละเอียดเต็มในคู่มือบท N15 และดูการตั้งค่าล่าสุดที่ 📘 คู่มือทุกแบบฟอร์ม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ปิดช่วงทุกแบบฟอร์ม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พิมพ์ชื่อโครงการบางปะกง แล้วพิมพ์ชื่อพนักงาน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ผู้บริหาร: เปิดทุกเช้า แท็บเบิกเงิน กด 🔴 ถึงกำหนดแล้ว · ใบที่อนุมัติแล้วป้ายเป็นสีเทาเสมอ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สำนักงานใหญ่และสำนักงานชลบุรีมีทุกแบบฟอร์มที่มีช่องโครงการ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วัดในเว็บทดสอบที่จำลองความหน่วง SharePoint: เดิม 1.5–4.6 วินาทีต่อเมนู ใหม่ราว 0.1 วินาที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นาทีสุดท้าย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ผู้สอนเข้าระบบในฐานะผู้อนุมัติของ Memo เพื่อส่งกลับแก้ไขให้ผู้เรียนฝึก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ผู้ดูแลระบบ: งานเทคโนโลยีสารสนเทศ ต่อ 216 it@primepower.co.th จันทร์–ศุกร์ 08:30–17:30 น. แจ้งเลขที่คำขอและแคปหน้าจอทุกครั้ง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เฉลย: 1) บัญชี Microsoft 365 @primepower.co.th  2) คำขอที่รอคุณอนุมัติ หรือคำขอของคุณที่มีความเคลื่อนไหว  3) อ่านเหตุผล แล้วกดแก้ไขและยื่นใหม่  4) ทั้งเว็บ Intranet และ Teams → Approvals  5) 3 วิธี: เลือกไฟล์ ลากวาง Ctrl+V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ปิดการอบรม ย้ำว่าคู่มือฉบับเต็มและไฟล์ PDF อยู่ในหน้าแรกของระบบ ตรวจเช็กลิสต์สัปดาห์แรกในคู่มือบทที่ 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5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15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1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5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5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50" dirty="0"/>
          </a:p>
        </p:txBody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84048"/>
            <a:ext cx="1371600" cy="3040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อบรมการใช้งานระบบ Intranet · Prime Power Group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image" Target="../media/image-5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731520" y="82296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Prime Power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87552"/>
            <a:ext cx="2834640" cy="62834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อบรมการใช้งานระบบ Intranet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สำหรับพนักงานใหม่และผู้ใช้งานทุกระดับ · พร้อมตัวอย่างงานจริงทีละขั้นตอน</a:t>
            </a:r>
            <a:endParaRPr lang="en-US" sz="2450" dirty="0"/>
          </a:p>
        </p:txBody>
      </p:sp>
      <p:sp>
        <p:nvSpPr>
          <p:cNvPr id="6" name="meta-0"/>
          <p:cNvSpPr/>
          <p:nvPr/>
        </p:nvSpPr>
        <p:spPr>
          <a:xfrm>
            <a:off x="73152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ใช้เวลา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ประมาณ 3 ชั่วโมง</a:t>
            </a:r>
            <a:endParaRPr lang="en-US" sz="1600" dirty="0"/>
          </a:p>
        </p:txBody>
      </p:sp>
      <p:sp>
        <p:nvSpPr>
          <p:cNvPr id="8" name="meta-1"/>
          <p:cNvSpPr/>
          <p:nvPr/>
        </p:nvSpPr>
        <p:spPr>
          <a:xfrm>
            <a:off x="434340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ฉบับที่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1.3 · 22 ต.ค. 2569</a:t>
            </a:r>
            <a:endParaRPr lang="en-US" sz="1600" dirty="0"/>
          </a:p>
        </p:txBody>
      </p:sp>
      <p:sp>
        <p:nvSpPr>
          <p:cNvPr id="10" name="meta-2"/>
          <p:cNvSpPr/>
          <p:nvPr/>
        </p:nvSpPr>
        <p:spPr>
          <a:xfrm>
            <a:off x="795528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คู่มือฉบับเต็ม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เมนูหน้าแรก → คู่มือการใช้งาน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วันนี้เราจะเรียนอะไรบ้าง</a:t>
            </a:r>
            <a:endParaRPr lang="en-US" sz="4050" dirty="0"/>
          </a:p>
        </p:txBody>
      </p:sp>
      <p:sp>
        <p:nvSpPr>
          <p:cNvPr id="3" name="agenda-0"/>
          <p:cNvSpPr/>
          <p:nvPr/>
        </p:nvSpPr>
        <p:spPr>
          <a:xfrm>
            <a:off x="457200" y="118872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6187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chemeClr val="bg1"/>
                </a:solidFill>
              </a:rPr>
              <a:t>1</a:t>
            </a:r>
            <a:endParaRPr lang="en-US" sz="205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887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เริ่มต้นใช้งาน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1887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เข้าสู่ระบบ · PDPA · หน้าแรกและเมนู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149840" y="1188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15 นาที</a:t>
            </a:r>
            <a:endParaRPr lang="en-US" sz="1900" dirty="0"/>
          </a:p>
        </p:txBody>
      </p:sp>
      <p:sp>
        <p:nvSpPr>
          <p:cNvPr id="9" name="agenda-1"/>
          <p:cNvSpPr/>
          <p:nvPr/>
        </p:nvSpPr>
        <p:spPr>
          <a:xfrm>
            <a:off x="457200" y="182880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0195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chemeClr val="bg1"/>
                </a:solidFill>
              </a:rPr>
              <a:t>2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18288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ยื่นคำขอและติดตาม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8288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กรอกแบบฟอร์ม · ติดตามสถานะ · ส่งกลับแก้ไข · PDF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1828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40 นาที</a:t>
            </a:r>
            <a:endParaRPr lang="en-US" sz="1900" dirty="0"/>
          </a:p>
        </p:txBody>
      </p:sp>
      <p:sp>
        <p:nvSpPr>
          <p:cNvPr id="15" name="agenda-2"/>
          <p:cNvSpPr/>
          <p:nvPr/>
        </p:nvSpPr>
        <p:spPr>
          <a:xfrm>
            <a:off x="457200" y="246888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54203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chemeClr val="bg1"/>
                </a:solidFill>
              </a:rPr>
              <a:t>3</a:t>
            </a:r>
            <a:endParaRPr lang="en-US" sz="20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24688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สำหรับผู้อนุมัติ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4688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อนุมัติในเว็บ · Teams · การเงินแนบสลิป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2468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20 นาที</a:t>
            </a:r>
            <a:endParaRPr lang="en-US" sz="1900" dirty="0"/>
          </a:p>
        </p:txBody>
      </p:sp>
      <p:sp>
        <p:nvSpPr>
          <p:cNvPr id="21" name="agenda-3"/>
          <p:cNvSpPr/>
          <p:nvPr/>
        </p:nvSpPr>
        <p:spPr>
          <a:xfrm>
            <a:off x="457200" y="310896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18211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chemeClr val="bg1"/>
                </a:solidFill>
              </a:rPr>
              <a:t>4</a:t>
            </a:r>
            <a:endParaRPr lang="en-US" sz="205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31089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เมนูอื่น ๆ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1089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ห้องประชุม · ประเมินผล · บุคลากร · ติดต่อ · มือถือ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3108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25 นาที</a:t>
            </a:r>
            <a:endParaRPr lang="en-US" sz="1900" dirty="0"/>
          </a:p>
        </p:txBody>
      </p:sp>
      <p:sp>
        <p:nvSpPr>
          <p:cNvPr id="27" name="agenda-4"/>
          <p:cNvSpPr/>
          <p:nvPr/>
        </p:nvSpPr>
        <p:spPr>
          <a:xfrm>
            <a:off x="457200" y="374904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82219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chemeClr val="bg1"/>
                </a:solidFill>
              </a:rPr>
              <a:t>5</a:t>
            </a:r>
            <a:endParaRPr lang="en-US" sz="205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3749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ฟีเจอร์ใหม่ ฉบับ 1.1</a:t>
            </a:r>
            <a:endParaRPr lang="en-US" sz="23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37490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ใบขอสั่งซื้อ (PR) · ฝ่ายจัดซื้อ · ค้นหาทั้งเว็บ · ผู้ปฏิบัติแทน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3749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15 นาที</a:t>
            </a:r>
            <a:endParaRPr lang="en-US" sz="1900" dirty="0"/>
          </a:p>
        </p:txBody>
      </p:sp>
      <p:sp>
        <p:nvSpPr>
          <p:cNvPr id="33" name="agenda-5"/>
          <p:cNvSpPr/>
          <p:nvPr/>
        </p:nvSpPr>
        <p:spPr>
          <a:xfrm>
            <a:off x="457200" y="438912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46227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chemeClr val="bg1"/>
                </a:solidFill>
              </a:rPr>
              <a:t>6</a:t>
            </a:r>
            <a:endParaRPr lang="en-US" sz="205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43891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ฟีเจอร์ใหม่ ฉบับ 1.2</a:t>
            </a:r>
            <a:endParaRPr lang="en-US" sz="23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43891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ตัวกรอง/ทะเบียน/Excel · เลข PR · O&amp;M · Messenger · จองรถ · แจ้งซ่อม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4389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30 นาที</a:t>
            </a:r>
            <a:endParaRPr lang="en-US" sz="1900" dirty="0"/>
          </a:p>
        </p:txBody>
      </p:sp>
      <p:sp>
        <p:nvSpPr>
          <p:cNvPr id="39" name="agenda-6"/>
          <p:cNvSpPr/>
          <p:nvPr/>
        </p:nvSpPr>
        <p:spPr>
          <a:xfrm>
            <a:off x="457200" y="502920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510235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chemeClr val="bg1"/>
                </a:solidFill>
              </a:rPr>
              <a:t>7</a:t>
            </a:r>
            <a:endParaRPr lang="en-US" sz="2050" dirty="0"/>
          </a:p>
        </p:txBody>
      </p:sp>
      <p:sp>
        <p:nvSpPr>
          <p:cNvPr id="42" name="Text 40"/>
          <p:cNvSpPr txBox="1"/>
          <p:nvPr/>
        </p:nvSpPr>
        <p:spPr>
          <a:xfrm>
            <a:off x="1417320" y="50292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ฉบับ 1.3: ทุกแบบฟอร์ม</a:t>
            </a:r>
            <a:endParaRPr lang="en-US" sz="2300" dirty="0"/>
          </a:p>
        </p:txBody>
      </p:sp>
      <p:sp>
        <p:nvSpPr>
          <p:cNvPr id="43" name="Text 41"/>
          <p:cNvSpPr txBox="1"/>
          <p:nvPr/>
        </p:nvSpPr>
        <p:spPr>
          <a:xfrm>
            <a:off x="4754880" y="50292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คู่มือทุกแบบฟอร์ม · ทีละฟอร์ม · ค้นหา · วันที่ต้องใช้เงิน · เมนูเร็ว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0" y="50292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40 นาที</a:t>
            </a:r>
            <a:endParaRPr lang="en-US" sz="1900" dirty="0"/>
          </a:p>
        </p:txBody>
      </p:sp>
      <p:sp>
        <p:nvSpPr>
          <p:cNvPr id="45" name="agenda-7"/>
          <p:cNvSpPr/>
          <p:nvPr/>
        </p:nvSpPr>
        <p:spPr>
          <a:xfrm>
            <a:off x="457200" y="566928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574243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5800" y="5742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chemeClr val="bg1"/>
                </a:solidFill>
              </a:rPr>
              <a:t>8</a:t>
            </a:r>
            <a:endParaRPr lang="en-US" sz="2050" dirty="0"/>
          </a:p>
        </p:txBody>
      </p:sp>
      <p:sp>
        <p:nvSpPr>
          <p:cNvPr id="48" name="Text 46"/>
          <p:cNvSpPr txBox="1"/>
          <p:nvPr/>
        </p:nvSpPr>
        <p:spPr>
          <a:xfrm>
            <a:off x="1417320" y="56692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ฝึกปฏิบัติและทดสอบ</a:t>
            </a:r>
            <a:endParaRPr lang="en-US" sz="2300" dirty="0"/>
          </a:p>
        </p:txBody>
      </p:sp>
      <p:sp>
        <p:nvSpPr>
          <p:cNvPr id="49" name="Text 47"/>
          <p:cNvSpPr txBox="1"/>
          <p:nvPr/>
        </p:nvSpPr>
        <p:spPr>
          <a:xfrm>
            <a:off x="4754880" y="56692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แบบฝึก 3 ชุด · ปัญหาที่พบบ่อย · แบบทดสอบ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10149840" y="56692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20 นาที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Intranet: ทำงานเอกสารครบในที่เดียว</a:t>
            </a:r>
            <a:endParaRPr lang="en-US" sz="4050" dirty="0"/>
          </a:p>
        </p:txBody>
      </p:sp>
      <p:sp>
        <p:nvSpPr>
          <p:cNvPr id="3" name="menu-0"/>
          <p:cNvSpPr/>
          <p:nvPr/>
        </p:nvSpPr>
        <p:spPr>
          <a:xfrm>
            <a:off x="457200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2763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📋</a:t>
            </a:r>
            <a:endParaRPr lang="en-US" sz="3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แบบฟอร์มทั้งหมด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ยื่นคำขอแทนกระดาษ</a:t>
            </a:r>
            <a:endParaRPr lang="en-US" sz="1800" dirty="0"/>
          </a:p>
        </p:txBody>
      </p:sp>
      <p:sp>
        <p:nvSpPr>
          <p:cNvPr id="8" name="menu-1"/>
          <p:cNvSpPr/>
          <p:nvPr/>
        </p:nvSpPr>
        <p:spPr>
          <a:xfrm>
            <a:off x="3310128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16276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🔎</a:t>
            </a:r>
            <a:endParaRPr lang="en-US" sz="325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ติดตามสถานะ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ดูว่าคำขอถึงใคร · อนุมัติ</a:t>
            </a:r>
            <a:endParaRPr lang="en-US" sz="1800" dirty="0"/>
          </a:p>
        </p:txBody>
      </p:sp>
      <p:sp>
        <p:nvSpPr>
          <p:cNvPr id="13" name="menu-2"/>
          <p:cNvSpPr/>
          <p:nvPr/>
        </p:nvSpPr>
        <p:spPr>
          <a:xfrm>
            <a:off x="6163056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162763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7376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📜</a:t>
            </a:r>
            <a:endParaRPr lang="en-US" sz="32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นโยบายบริษัท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ระเบียบที่บังคับใช้</a:t>
            </a:r>
            <a:endParaRPr lang="en-US" sz="1800" dirty="0"/>
          </a:p>
        </p:txBody>
      </p:sp>
      <p:sp>
        <p:nvSpPr>
          <p:cNvPr id="18" name="menu-3"/>
          <p:cNvSpPr/>
          <p:nvPr/>
        </p:nvSpPr>
        <p:spPr>
          <a:xfrm>
            <a:off x="9015984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16276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90304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📅</a:t>
            </a:r>
            <a:endParaRPr lang="en-US" sz="3250" dirty="0"/>
          </a:p>
        </p:txBody>
      </p:sp>
      <p:sp>
        <p:nvSpPr>
          <p:cNvPr id="21" name="Text 19"/>
          <p:cNvSpPr txBox="1"/>
          <p:nvPr/>
        </p:nvSpPr>
        <p:spPr>
          <a:xfrm>
            <a:off x="9290304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จองห้องประชุม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นัดใน Outlook อัตโนมัติ</a:t>
            </a:r>
            <a:endParaRPr lang="en-US" sz="1800" dirty="0"/>
          </a:p>
        </p:txBody>
      </p:sp>
      <p:sp>
        <p:nvSpPr>
          <p:cNvPr id="23" name="menu-4"/>
          <p:cNvSpPr/>
          <p:nvPr/>
        </p:nvSpPr>
        <p:spPr>
          <a:xfrm>
            <a:off x="457200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0507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📚</a:t>
            </a:r>
            <a:endParaRPr lang="en-US" sz="32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เอกสาร/คู่มือ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คู่มือ ISO ไฟล์ต้นแบบ</a:t>
            </a:r>
            <a:endParaRPr lang="en-US" sz="1800" dirty="0"/>
          </a:p>
        </p:txBody>
      </p:sp>
      <p:sp>
        <p:nvSpPr>
          <p:cNvPr id="28" name="menu-5"/>
          <p:cNvSpPr/>
          <p:nvPr/>
        </p:nvSpPr>
        <p:spPr>
          <a:xfrm>
            <a:off x="3310128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84448" y="4005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84448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⭐</a:t>
            </a:r>
            <a:endParaRPr lang="en-US" sz="3250" dirty="0"/>
          </a:p>
        </p:txBody>
      </p:sp>
      <p:sp>
        <p:nvSpPr>
          <p:cNvPr id="31" name="Text 29"/>
          <p:cNvSpPr txBox="1"/>
          <p:nvPr/>
        </p:nvSpPr>
        <p:spPr>
          <a:xfrm>
            <a:off x="3584448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ประเมินผลบุคลากร</a:t>
            </a:r>
            <a:endParaRPr lang="en-US" sz="2300" dirty="0"/>
          </a:p>
        </p:txBody>
      </p:sp>
      <p:sp>
        <p:nvSpPr>
          <p:cNvPr id="32" name="Text 30"/>
          <p:cNvSpPr txBox="1"/>
          <p:nvPr/>
        </p:nvSpPr>
        <p:spPr>
          <a:xfrm>
            <a:off x="3584448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ประเมิน ลงนาม ดูประวัติ</a:t>
            </a:r>
            <a:endParaRPr lang="en-US" sz="1800" dirty="0"/>
          </a:p>
        </p:txBody>
      </p:sp>
      <p:sp>
        <p:nvSpPr>
          <p:cNvPr id="33" name="menu-6"/>
          <p:cNvSpPr/>
          <p:nvPr/>
        </p:nvSpPr>
        <p:spPr>
          <a:xfrm>
            <a:off x="6163056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7376" y="400507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👥</a:t>
            </a:r>
            <a:endParaRPr lang="en-US" sz="3250" dirty="0"/>
          </a:p>
        </p:txBody>
      </p:sp>
      <p:sp>
        <p:nvSpPr>
          <p:cNvPr id="36" name="Text 34"/>
          <p:cNvSpPr txBox="1"/>
          <p:nvPr/>
        </p:nvSpPr>
        <p:spPr>
          <a:xfrm>
            <a:off x="6437376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บุคลากร</a:t>
            </a:r>
            <a:endParaRPr lang="en-US" sz="2300" dirty="0"/>
          </a:p>
        </p:txBody>
      </p:sp>
      <p:sp>
        <p:nvSpPr>
          <p:cNvPr id="37" name="Text 35"/>
          <p:cNvSpPr txBox="1"/>
          <p:nvPr/>
        </p:nvSpPr>
        <p:spPr>
          <a:xfrm>
            <a:off x="6437376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เบอร์ต่อ อีเมล ผังองค์กร</a:t>
            </a:r>
            <a:endParaRPr lang="en-US" sz="1800" dirty="0"/>
          </a:p>
        </p:txBody>
      </p:sp>
      <p:sp>
        <p:nvSpPr>
          <p:cNvPr id="38" name="menu-7"/>
          <p:cNvSpPr/>
          <p:nvPr/>
        </p:nvSpPr>
        <p:spPr>
          <a:xfrm>
            <a:off x="9015984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90304" y="4005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90304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☎️</a:t>
            </a:r>
            <a:endParaRPr lang="en-US" sz="3250" dirty="0"/>
          </a:p>
        </p:txBody>
      </p:sp>
      <p:sp>
        <p:nvSpPr>
          <p:cNvPr id="41" name="Text 39"/>
          <p:cNvSpPr txBox="1"/>
          <p:nvPr/>
        </p:nvSpPr>
        <p:spPr>
          <a:xfrm>
            <a:off x="9290304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ติดต่อ</a:t>
            </a:r>
            <a:endParaRPr lang="en-US" sz="2300" dirty="0"/>
          </a:p>
        </p:txBody>
      </p:sp>
      <p:sp>
        <p:nvSpPr>
          <p:cNvPr id="42" name="Text 40"/>
          <p:cNvSpPr txBox="1"/>
          <p:nvPr/>
        </p:nvSpPr>
        <p:spPr>
          <a:xfrm>
            <a:off x="9290304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สมุดโทรศัพท์ · ความคิดเห็น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ตัวอย่างงานจริงที่จะเดินไปด้วยกันวันนี้</a:t>
            </a:r>
            <a:endParaRPr lang="en-US" sz="4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dirty="0">
                <a:solidFill>
                  <a:schemeClr val="accent5"/>
                </a:solidFill>
              </a:rPr>
              <a:t>คุณชัยวัฒน์ขอเบิกเงินทดรองจ่าย 12,500 บาท ค่าวัสดุติดตั้งหน้างานโครงการบางปะกง (ข้อมูลตัวอย่าง)</a:t>
            </a:r>
            <a:endParaRPr lang="en-US" sz="2150" dirty="0"/>
          </a:p>
        </p:txBody>
      </p:sp>
      <p:sp>
        <p:nvSpPr>
          <p:cNvPr id="4" name="cast-0"/>
          <p:cNvSpPr/>
          <p:nvPr/>
        </p:nvSpPr>
        <p:spPr>
          <a:xfrm>
            <a:off x="457200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ต</a:t>
            </a:r>
            <a:endParaRPr lang="en-US" sz="4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คุณชัยวัฒน์ พูนผล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วิศวกรออกแบบระบบไฟฟ้า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68680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ผู้ยื่นคำขอ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3090672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dirty="0">
                <a:solidFill>
                  <a:schemeClr val="accent5"/>
                </a:solidFill>
              </a:rPr>
              <a:t>➜</a:t>
            </a:r>
            <a:endParaRPr lang="en-US" sz="2450" dirty="0"/>
          </a:p>
        </p:txBody>
      </p:sp>
      <p:sp>
        <p:nvSpPr>
          <p:cNvPr id="12" name="cast-1"/>
          <p:cNvSpPr/>
          <p:nvPr/>
        </p:nvSpPr>
        <p:spPr>
          <a:xfrm>
            <a:off x="3310128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78808" y="214884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78808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ธ</a:t>
            </a:r>
            <a:endParaRPr lang="en-US" sz="405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คุณธีรพงศ์ สายทอง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ผู้จัดการแผนก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3721608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21608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อนุมัติลำดับ 1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dirty="0">
                <a:solidFill>
                  <a:schemeClr val="accent5"/>
                </a:solidFill>
              </a:rPr>
              <a:t>➜</a:t>
            </a:r>
            <a:endParaRPr lang="en-US" sz="2450" dirty="0"/>
          </a:p>
        </p:txBody>
      </p:sp>
      <p:sp>
        <p:nvSpPr>
          <p:cNvPr id="20" name="cast-2"/>
          <p:cNvSpPr/>
          <p:nvPr/>
        </p:nvSpPr>
        <p:spPr>
          <a:xfrm>
            <a:off x="6163056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214884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3173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ส</a:t>
            </a:r>
            <a:endParaRPr lang="en-US" sz="405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คุณสมชาย วัฒนกิจ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กรรมการผู้จัดการ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574536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74536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อนุมัติลำดับ 2</a:t>
            </a:r>
            <a:endParaRPr lang="en-US" sz="175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dirty="0">
                <a:solidFill>
                  <a:schemeClr val="accent5"/>
                </a:solidFill>
              </a:rPr>
              <a:t>➜</a:t>
            </a:r>
            <a:endParaRPr lang="en-US" sz="2450" dirty="0"/>
          </a:p>
        </p:txBody>
      </p:sp>
      <p:sp>
        <p:nvSpPr>
          <p:cNvPr id="28" name="cast-3"/>
          <p:cNvSpPr/>
          <p:nvPr/>
        </p:nvSpPr>
        <p:spPr>
          <a:xfrm>
            <a:off x="9015984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84664" y="21488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84664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อ</a:t>
            </a:r>
            <a:endParaRPr lang="en-US" sz="4050" dirty="0"/>
          </a:p>
        </p:txBody>
      </p:sp>
      <p:sp>
        <p:nvSpPr>
          <p:cNvPr id="31" name="Text 29"/>
          <p:cNvSpPr txBox="1"/>
          <p:nvPr/>
        </p:nvSpPr>
        <p:spPr>
          <a:xfrm>
            <a:off x="9107424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คุณอรวรรณ พงษ์เจริญ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153144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ฝ่ายบัญชีและการเงิน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9427464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27464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โอนเงิน + แนบสลิป</a:t>
            </a:r>
            <a:endParaRPr lang="en-US" sz="1750" dirty="0"/>
          </a:p>
        </p:txBody>
      </p:sp>
      <p:sp>
        <p:nvSpPr>
          <p:cNvPr id="35" name="callout-note"/>
          <p:cNvSpPr/>
          <p:nvPr/>
        </p:nvSpPr>
        <p:spPr>
          <a:xfrm>
            <a:off x="457200" y="507492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5074920"/>
            <a:ext cx="10945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ภาพหน้าจอทุกภาพในสไลด์ถ่ายจากระบบจริง · </a:t>
            </a:r>
            <a:r>
              <a:rPr lang="en-US" sz="1900" b="1" dirty="0">
                <a:solidFill>
                  <a:schemeClr val="tx2"/>
                </a:solidFill>
              </a:rPr>
              <a:t>วงกลมสีส้มพร้อมตัวเลข</a:t>
            </a:r>
            <a:r>
              <a:rPr lang="en-US" sz="1900" dirty="0">
                <a:solidFill>
                  <a:schemeClr val="tx1"/>
                </a:solidFill>
              </a:rPr>
              <a:t> ชี้จุดที่ต้องดูหรือกด ตรงกับคำอธิบายข้างภาพ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เริ่มต้นใช้งาน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เข้าสู่ระบบ · นโยบาย PDPA · หน้าแรกและเมนู</a:t>
            </a:r>
            <a:endParaRPr lang="en-US" sz="2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เข้าสู่ระบบด้วยบัญชี Microsoft 365</a:t>
            </a:r>
            <a:endParaRPr lang="en-US" sz="4050" dirty="0"/>
          </a:p>
        </p:txBody>
      </p:sp>
      <p:sp>
        <p:nvSpPr>
          <p:cNvPr id="3" name="frame-01-login"/>
          <p:cNvSpPr/>
          <p:nvPr/>
        </p:nvSpPr>
        <p:spPr>
          <a:xfrm>
            <a:off x="420624" y="155219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01-login" descr="01-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8877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533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25880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เปิด Edge / Chrome ไปที่ลิงก์ระบบ แล้ว</a:t>
            </a:r>
            <a:r>
              <a:rPr lang="en-US" sz="1900" b="1" dirty="0">
                <a:solidFill>
                  <a:schemeClr val="tx2"/>
                </a:solidFill>
              </a:rPr>
              <a:t>กดดาวบันทึกไว้</a:t>
            </a:r>
            <a:endParaRPr lang="en-US" sz="1900" dirty="0"/>
          </a:p>
        </p:txBody>
      </p:sp>
      <p:sp>
        <p:nvSpPr>
          <p:cNvPr id="8" name="num-2"/>
          <p:cNvSpPr/>
          <p:nvPr/>
        </p:nvSpPr>
        <p:spPr>
          <a:xfrm>
            <a:off x="7589520" y="219430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1943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166874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 </a:t>
            </a:r>
            <a:r>
              <a:rPr lang="en-US" sz="1900" b="1" dirty="0">
                <a:solidFill>
                  <a:schemeClr val="tx2"/>
                </a:solidFill>
              </a:rPr>
              <a:t>เข้าสู่ระบบด้วยบัญชี Microsoft 365</a:t>
            </a:r>
            <a:r>
              <a:rPr lang="en-US" sz="1900" dirty="0">
                <a:solidFill>
                  <a:schemeClr val="tx1"/>
                </a:solidFill>
              </a:rPr>
              <a:t> (หมายเลข 1 ในภาพ)</a:t>
            </a:r>
            <a:endParaRPr lang="en-US" sz="1900" dirty="0"/>
          </a:p>
        </p:txBody>
      </p:sp>
      <p:sp>
        <p:nvSpPr>
          <p:cNvPr id="11" name="num-3"/>
          <p:cNvSpPr/>
          <p:nvPr/>
        </p:nvSpPr>
        <p:spPr>
          <a:xfrm>
            <a:off x="7589520" y="303530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0353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3007868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ใส่อีเมล </a:t>
            </a:r>
            <a:r>
              <a:rPr lang="en-US" sz="1900" b="1" dirty="0">
                <a:solidFill>
                  <a:schemeClr val="tx2"/>
                </a:solidFill>
              </a:rPr>
              <a:t>@primepower.co.th</a:t>
            </a:r>
            <a:r>
              <a:rPr lang="en-US" sz="1900" dirty="0">
                <a:solidFill>
                  <a:schemeClr val="tx1"/>
                </a:solidFill>
              </a:rPr>
              <a:t> และรหัสผ่านเดียวกับ Outlook</a:t>
            </a:r>
            <a:endParaRPr lang="en-US" sz="1900" dirty="0"/>
          </a:p>
        </p:txBody>
      </p:sp>
      <p:sp>
        <p:nvSpPr>
          <p:cNvPr id="14" name="num-4"/>
          <p:cNvSpPr/>
          <p:nvPr/>
        </p:nvSpPr>
        <p:spPr>
          <a:xfrm>
            <a:off x="7589520" y="387629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8762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3848862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ครั้งแรก Microsoft ถามขออนุญาต กด </a:t>
            </a:r>
            <a:r>
              <a:rPr lang="en-US" sz="1900" b="1" dirty="0">
                <a:solidFill>
                  <a:schemeClr val="tx2"/>
                </a:solidFill>
              </a:rPr>
              <a:t>Accept</a:t>
            </a:r>
            <a:endParaRPr lang="en-US" sz="1900" dirty="0"/>
          </a:p>
        </p:txBody>
      </p:sp>
      <p:sp>
        <p:nvSpPr>
          <p:cNvPr id="17" name="num-5"/>
          <p:cNvSpPr/>
          <p:nvPr/>
        </p:nvSpPr>
        <p:spPr>
          <a:xfrm>
            <a:off x="7589520" y="471728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471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8065008" y="4689856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อ่านนโยบาย PDPA ที่ลิงก์ใต้ปุ่ม (หมายเลข 2)</a:t>
            </a:r>
            <a:endParaRPr lang="en-US" sz="1900" dirty="0"/>
          </a:p>
        </p:txBody>
      </p:sp>
      <p:sp>
        <p:nvSpPr>
          <p:cNvPr id="20" name="callout-warn"/>
          <p:cNvSpPr/>
          <p:nvPr/>
        </p:nvSpPr>
        <p:spPr>
          <a:xfrm>
            <a:off x="7589520" y="553212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54112" y="5532120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r>
              <a:rPr lang="en-US" sz="1900" dirty="0">
                <a:solidFill>
                  <a:schemeClr val="tx1"/>
                </a:solidFill>
              </a:rPr>
              <a:t>ไม่ใช้งาน 60 นาที ระบบออกให้เอง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หน้าแรก: ทุกอย่างที่ใช้บ่อยอยู่ตรงนี้</a:t>
            </a:r>
            <a:endParaRPr lang="en-US" sz="4050" dirty="0"/>
          </a:p>
        </p:txBody>
      </p:sp>
      <p:sp>
        <p:nvSpPr>
          <p:cNvPr id="3" name="frame-04-home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04-home" descr="04-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เมนูหลัก</a:t>
            </a:r>
            <a:r>
              <a:rPr lang="en-US" sz="1900" dirty="0">
                <a:solidFill>
                  <a:schemeClr val="tx1"/>
                </a:solidFill>
              </a:rPr>
              <a:t> · ตัวเลขแดง = งานที่รอคุณ</a:t>
            </a:r>
            <a:endParaRPr lang="en-US" sz="1900" dirty="0"/>
          </a:p>
        </p:txBody>
      </p:sp>
      <p:sp>
        <p:nvSpPr>
          <p:cNvPr id="8" name="num-2"/>
          <p:cNvSpPr/>
          <p:nvPr/>
        </p:nvSpPr>
        <p:spPr>
          <a:xfrm>
            <a:off x="8366760" y="22400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2400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12594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ภาพรวมโครงการ</a:t>
            </a:r>
            <a:r>
              <a:rPr lang="en-US" sz="1900" dirty="0">
                <a:solidFill>
                  <a:schemeClr val="tx1"/>
                </a:solidFill>
              </a:rPr>
              <a:t> · ทั้งหมด / กำลังทำ / ล่าช้า</a:t>
            </a:r>
            <a:endParaRPr lang="en-US" sz="1900" dirty="0"/>
          </a:p>
        </p:txBody>
      </p:sp>
      <p:sp>
        <p:nvSpPr>
          <p:cNvPr id="11" name="num-3"/>
          <p:cNvSpPr/>
          <p:nvPr/>
        </p:nvSpPr>
        <p:spPr>
          <a:xfrm>
            <a:off x="8366760" y="30810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081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3053588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แบบฟอร์มที่ใช้บ่อย</a:t>
            </a:r>
            <a:r>
              <a:rPr lang="en-US" sz="1900" dirty="0">
                <a:solidFill>
                  <a:schemeClr val="tx1"/>
                </a:solidFill>
              </a:rPr>
              <a:t> · กดแล้วกรอกได้เลย</a:t>
            </a:r>
            <a:endParaRPr lang="en-US" sz="1900" dirty="0"/>
          </a:p>
        </p:txBody>
      </p:sp>
      <p:sp>
        <p:nvSpPr>
          <p:cNvPr id="14" name="num-4"/>
          <p:cNvSpPr/>
          <p:nvPr/>
        </p:nvSpPr>
        <p:spPr>
          <a:xfrm>
            <a:off x="8366760" y="3922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922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894582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ข่าวประกาศ</a:t>
            </a:r>
            <a:r>
              <a:rPr lang="en-US" sz="1900" dirty="0">
                <a:solidFill>
                  <a:schemeClr val="tx1"/>
                </a:solidFill>
              </a:rPr>
              <a:t> · กดอ่านพร้อมรูปแนบ</a:t>
            </a:r>
            <a:endParaRPr lang="en-US" sz="1900" dirty="0"/>
          </a:p>
        </p:txBody>
      </p:sp>
      <p:sp>
        <p:nvSpPr>
          <p:cNvPr id="17" name="num-5"/>
          <p:cNvSpPr/>
          <p:nvPr/>
        </p:nvSpPr>
        <p:spPr>
          <a:xfrm>
            <a:off x="8366760" y="47630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476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8842248" y="4735576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คู่มือการใช้งาน</a:t>
            </a:r>
            <a:r>
              <a:rPr lang="en-US" sz="1900" dirty="0">
                <a:solidFill>
                  <a:schemeClr val="tx1"/>
                </a:solidFill>
              </a:rPr>
              <a:t> · รวมคู่มือฉบับเต็ม</a:t>
            </a:r>
            <a:endParaRPr lang="en-US" sz="1900" dirty="0"/>
          </a:p>
        </p:txBody>
      </p:sp>
      <p:sp>
        <p:nvSpPr>
          <p:cNvPr id="20" name="callout-tip"/>
          <p:cNvSpPr/>
          <p:nvPr/>
        </p:nvSpPr>
        <p:spPr>
          <a:xfrm>
            <a:off x="8366760" y="52578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31352" y="525780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ประกาศสำคัญจะเด้งขึ้นหลังเข้าสู่ระบบ กด </a:t>
            </a:r>
            <a:r>
              <a:rPr lang="en-US" sz="1900" b="1" dirty="0">
                <a:solidFill>
                  <a:schemeClr val="tx2"/>
                </a:solidFill>
              </a:rPr>
              <a:t>รับทราบ</a:t>
            </a:r>
            <a:r>
              <a:rPr lang="en-US" sz="1900" dirty="0">
                <a:solidFill>
                  <a:schemeClr val="tx1"/>
                </a:solidFill>
              </a:rPr>
              <a:t> เพื่อปิด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2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ยื่นคำขอและติดตามสถานะ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ตัวอย่างจริง: ขอเบิกเงินทดรองจ่าย 12,500 บาท</a:t>
            </a:r>
            <a:endParaRPr lang="en-US" sz="2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คำขอหนึ่งใบเดินทางอย่างไร</a:t>
            </a:r>
            <a:endParaRPr lang="en-US" sz="4050" dirty="0"/>
          </a:p>
        </p:txBody>
      </p:sp>
      <p:sp>
        <p:nvSpPr>
          <p:cNvPr id="3" name="flow-0"/>
          <p:cNvSpPr/>
          <p:nvPr/>
        </p:nvSpPr>
        <p:spPr>
          <a:xfrm>
            <a:off x="457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ยื่นคำขอ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ชัยวัฒน์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6" name="flow-1"/>
          <p:cNvSpPr/>
          <p:nvPr/>
        </p:nvSpPr>
        <p:spPr>
          <a:xfrm>
            <a:off x="2743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ลำดับ 1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ผู้บังคับบัญชา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9" name="flow-2"/>
          <p:cNvSpPr/>
          <p:nvPr/>
        </p:nvSpPr>
        <p:spPr>
          <a:xfrm>
            <a:off x="5029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ลำดับ 2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ผู้บริหาร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12" name="flow-3"/>
          <p:cNvSpPr/>
          <p:nvPr/>
        </p:nvSpPr>
        <p:spPr>
          <a:xfrm>
            <a:off x="7315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ลำดับ 3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การเงินแนบสลิป</a:t>
            </a:r>
            <a:endParaRPr lang="en-US" sz="255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15" name="flow-4"/>
          <p:cNvSpPr/>
          <p:nvPr/>
        </p:nvSpPr>
        <p:spPr>
          <a:xfrm>
            <a:off x="9601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เสร็จสิ้น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แจ้ง Teams + สลิป</a:t>
            </a:r>
            <a:endParaRPr lang="en-US" sz="2550" dirty="0"/>
          </a:p>
        </p:txBody>
      </p:sp>
      <p:sp>
        <p:nvSpPr>
          <p:cNvPr id="17" name="fact-0"/>
          <p:cNvSpPr/>
          <p:nvPr/>
        </p:nvSpPr>
        <p:spPr>
          <a:xfrm>
            <a:off x="45720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🤖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ระบบหาผู้อนุมัติให้เอง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จากหัวหน้าในทะเบียนบุคลากร และเส้นทางอนุมัติของแต่ละฟอร์ม</a:t>
            </a:r>
            <a:endParaRPr lang="en-US" sz="1900" dirty="0"/>
          </a:p>
        </p:txBody>
      </p:sp>
      <p:sp>
        <p:nvSpPr>
          <p:cNvPr id="21" name="fact-1"/>
          <p:cNvSpPr/>
          <p:nvPr/>
        </p:nvSpPr>
        <p:spPr>
          <a:xfrm>
            <a:off x="425196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🔔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แจ้งเตือนทาง Teams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ผู้อนุมัติได้การ์ดใน Teams → Approvals ทุกครั้งที่ถึงคิว</a:t>
            </a:r>
            <a:endParaRPr lang="en-US" sz="1900" dirty="0"/>
          </a:p>
        </p:txBody>
      </p:sp>
      <p:sp>
        <p:nvSpPr>
          <p:cNvPr id="25" name="fact-2"/>
          <p:cNvSpPr/>
          <p:nvPr/>
        </p:nvSpPr>
        <p:spPr>
          <a:xfrm>
            <a:off x="804672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↩️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ส่งกลับได้ทุกลำดับ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ผู้ยื่นแก้แล้วยื่นใหม่ เริ่มอนุมัติจากลำดับแรก เลขที่เดิม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1: หาแบบฟอร์ม</a:t>
            </a:r>
            <a:endParaRPr lang="en-US" sz="4050" dirty="0"/>
          </a:p>
        </p:txBody>
      </p:sp>
      <p:sp>
        <p:nvSpPr>
          <p:cNvPr id="3" name="frame-10-forms-search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-forms-search" descr="10-forms-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เมนู </a:t>
            </a:r>
            <a:r>
              <a:rPr lang="en-US" sz="2050" b="1" dirty="0">
                <a:solidFill>
                  <a:schemeClr val="tx2"/>
                </a:solidFill>
              </a:rPr>
              <a:t>แบบฟอร์มทั้งหมด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8366760" y="196221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934782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พิมพ์ในช่องค้นหา เช่น </a:t>
            </a:r>
            <a:r>
              <a:rPr lang="en-US" sz="2050" b="1" dirty="0">
                <a:solidFill>
                  <a:schemeClr val="tx2"/>
                </a:solidFill>
              </a:rPr>
              <a:t>เบิกเงิน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8366760" y="285083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8508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823401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กดการ์ด </a:t>
            </a:r>
            <a:r>
              <a:rPr lang="en-US" sz="2050" b="1" dirty="0">
                <a:solidFill>
                  <a:schemeClr val="tx2"/>
                </a:solidFill>
              </a:rPr>
              <a:t>แบบฟอร์มขอเบิกเงินทดรองจ่าย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8366760" y="45262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31352" y="452628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ป้าย </a:t>
            </a:r>
            <a:r>
              <a:rPr lang="en-US" sz="1900" b="1" dirty="0">
                <a:solidFill>
                  <a:schemeClr val="tx2"/>
                </a:solidFill>
              </a:rPr>
              <a:t>ใช้บ่อย / ต้องอนุมัติ / ใหม่</a:t>
            </a:r>
            <a:r>
              <a:rPr lang="en-US" sz="1900" dirty="0">
                <a:solidFill>
                  <a:schemeClr val="tx1"/>
                </a:solidFill>
              </a:rPr>
              <a:t> บนการ์ด ช่วยให้หาง่าย · การ์ด “เปิดระบบ ↗” คือระบบภายนอก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2: กรอกข้อมูลทั่วไป</a:t>
            </a:r>
            <a:endParaRPr lang="en-US" sz="4050" dirty="0"/>
          </a:p>
        </p:txBody>
      </p:sp>
      <p:sp>
        <p:nvSpPr>
          <p:cNvPr id="3" name="frame-12-form-fill1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2-form-fill1" descr="12-form-fill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ชื่อเรื่อง</a:t>
            </a:r>
            <a:r>
              <a:rPr lang="en-US" sz="2050" dirty="0">
                <a:solidFill>
                  <a:schemeClr val="tx1"/>
                </a:solidFill>
              </a:rPr>
              <a:t> สั้นและสื่อความ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836676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934782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วันที่</a:t>
            </a:r>
            <a:r>
              <a:rPr lang="en-US" sz="2050" dirty="0">
                <a:solidFill>
                  <a:schemeClr val="tx1"/>
                </a:solidFill>
              </a:rPr>
              <a:t> ระบบใส่วันนี้ให้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836676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497963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ชื่อโครงการ</a:t>
            </a:r>
            <a:r>
              <a:rPr lang="en-US" sz="2050" dirty="0">
                <a:solidFill>
                  <a:schemeClr val="tx1"/>
                </a:solidFill>
              </a:rPr>
              <a:t> พิมพ์บางคำแล้วเลือกจากรายการ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836676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386582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วันที่ขอใช้</a:t>
            </a:r>
            <a:r>
              <a:rPr lang="en-US" sz="2050" dirty="0">
                <a:solidFill>
                  <a:schemeClr val="tx1"/>
                </a:solidFill>
              </a:rPr>
              <a:t> วันที่ต้องใช้เงิน</a:t>
            </a:r>
            <a:endParaRPr lang="en-US" sz="2050" dirty="0"/>
          </a:p>
        </p:txBody>
      </p:sp>
      <p:sp>
        <p:nvSpPr>
          <p:cNvPr id="17" name="callout-note"/>
          <p:cNvSpPr/>
          <p:nvPr/>
        </p:nvSpPr>
        <p:spPr>
          <a:xfrm>
            <a:off x="8366760" y="50749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31352" y="50749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ข้อมูลผู้ยื่น (ช่องสีเทา) ระบบดึงมาให้ ถ้าผิดแจ้ง HR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3: รายละเอียดและไฟล์แนบ</a:t>
            </a:r>
            <a:endParaRPr lang="en-US" sz="4050" dirty="0"/>
          </a:p>
        </p:txBody>
      </p:sp>
      <p:sp>
        <p:nvSpPr>
          <p:cNvPr id="3" name="frame-13-form-fill2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3-form-fill2" descr="13-form-fill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5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เหตุผล</a:t>
            </a:r>
            <a:r>
              <a:rPr lang="en-US" sz="2050" dirty="0">
                <a:solidFill>
                  <a:schemeClr val="tx1"/>
                </a:solidFill>
              </a:rPr>
              <a:t> ซื้ออะไร ใช้ที่ไหน ทำไม</a:t>
            </a:r>
            <a:endParaRPr lang="en-US" sz="2050" dirty="0"/>
          </a:p>
        </p:txBody>
      </p:sp>
      <p:sp>
        <p:nvSpPr>
          <p:cNvPr id="8" name="num-6"/>
          <p:cNvSpPr/>
          <p:nvPr/>
        </p:nvSpPr>
        <p:spPr>
          <a:xfrm>
            <a:off x="836676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6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60219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จำนวนเงิน</a:t>
            </a:r>
            <a:r>
              <a:rPr lang="en-US" sz="2050" dirty="0">
                <a:solidFill>
                  <a:schemeClr val="tx1"/>
                </a:solidFill>
              </a:rPr>
              <a:t> ตัวเลขอย่างเดียว เช่น 12500</a:t>
            </a:r>
            <a:endParaRPr lang="en-US" sz="2050" dirty="0"/>
          </a:p>
        </p:txBody>
      </p:sp>
      <p:sp>
        <p:nvSpPr>
          <p:cNvPr id="11" name="num-7"/>
          <p:cNvSpPr/>
          <p:nvPr/>
        </p:nvSpPr>
        <p:spPr>
          <a:xfrm>
            <a:off x="8366760" y="31762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7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3148838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+ แนบไฟล์</a:t>
            </a:r>
            <a:r>
              <a:rPr lang="en-US" sz="2050" dirty="0">
                <a:solidFill>
                  <a:schemeClr val="tx1"/>
                </a:solidFill>
              </a:rPr>
              <a:t> ใบเสนอราคา / ใบเสร็จ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8366760" y="44805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31352" y="4480560"/>
            <a:ext cx="30540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สูงสุด 5 ไฟล์ ไฟล์ละไม่เกิน 10 MB · รูปภาพหรือ PDF · มือถือถ่ายรูปแนบได้ทันที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4: ลงลายเซ็นและส่งคำขอ</a:t>
            </a:r>
            <a:endParaRPr lang="en-US" sz="4050" dirty="0"/>
          </a:p>
        </p:txBody>
      </p:sp>
      <p:sp>
        <p:nvSpPr>
          <p:cNvPr id="3" name="frame-14-form-sign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4-form-sign" descr="14-form-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8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8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อ่าน </a:t>
            </a:r>
            <a:r>
              <a:rPr lang="en-US" sz="2050" b="1" dirty="0">
                <a:solidFill>
                  <a:schemeClr val="tx2"/>
                </a:solidFill>
              </a:rPr>
              <a:t>หมายเหตุ</a:t>
            </a:r>
            <a:r>
              <a:rPr lang="en-US" sz="2050" dirty="0">
                <a:solidFill>
                  <a:schemeClr val="tx1"/>
                </a:solidFill>
              </a:rPr>
              <a:t> กรอบเหลือง (เงื่อนไขเวลา)</a:t>
            </a:r>
            <a:endParaRPr lang="en-US" sz="2050" dirty="0"/>
          </a:p>
        </p:txBody>
      </p:sp>
      <p:sp>
        <p:nvSpPr>
          <p:cNvPr id="8" name="num-9"/>
          <p:cNvSpPr/>
          <p:nvPr/>
        </p:nvSpPr>
        <p:spPr>
          <a:xfrm>
            <a:off x="836676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9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60219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เซ็น</a:t>
            </a:r>
            <a:r>
              <a:rPr lang="en-US" sz="2050" dirty="0">
                <a:solidFill>
                  <a:schemeClr val="tx1"/>
                </a:solidFill>
              </a:rPr>
              <a:t> ในกรอบ หรืออัปโหลดรูปลายเซ็น</a:t>
            </a:r>
            <a:endParaRPr lang="en-US" sz="2050" dirty="0"/>
          </a:p>
        </p:txBody>
      </p:sp>
      <p:sp>
        <p:nvSpPr>
          <p:cNvPr id="11" name="num-10"/>
          <p:cNvSpPr/>
          <p:nvPr/>
        </p:nvSpPr>
        <p:spPr>
          <a:xfrm>
            <a:off x="8366760" y="31762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10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3148838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ดาวน์โหลดตัวอย่างเอกสาร (ไม่บังคับ)</a:t>
            </a:r>
            <a:endParaRPr lang="en-US" sz="2050" dirty="0"/>
          </a:p>
        </p:txBody>
      </p:sp>
      <p:sp>
        <p:nvSpPr>
          <p:cNvPr id="14" name="num-11"/>
          <p:cNvSpPr/>
          <p:nvPr/>
        </p:nvSpPr>
        <p:spPr>
          <a:xfrm>
            <a:off x="8366760" y="406488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40648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11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4037457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r>
              <a:rPr lang="en-US" sz="2050" b="1" dirty="0">
                <a:solidFill>
                  <a:schemeClr val="tx2"/>
                </a:solidFill>
              </a:rPr>
              <a:t>ส่งคำขอ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5: ตรวจทาน ยืนยัน ได้เลขที่คำขอ</a:t>
            </a:r>
            <a:endParaRPr lang="en-US" sz="4050" dirty="0"/>
          </a:p>
        </p:txBody>
      </p:sp>
      <p:sp>
        <p:nvSpPr>
          <p:cNvPr id="3" name="frame-15-form-confirm"/>
          <p:cNvSpPr/>
          <p:nvPr/>
        </p:nvSpPr>
        <p:spPr>
          <a:xfrm>
            <a:off x="42062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5-form-confirm" descr="15-form-confi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1613"/>
            <a:ext cx="5532120" cy="3457575"/>
          </a:xfrm>
          <a:prstGeom prst="rect">
            <a:avLst/>
          </a:prstGeom>
        </p:spPr>
      </p:pic>
      <p:sp>
        <p:nvSpPr>
          <p:cNvPr id="5" name="frame-16-form-sent"/>
          <p:cNvSpPr/>
          <p:nvPr/>
        </p:nvSpPr>
        <p:spPr>
          <a:xfrm>
            <a:off x="618134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16-form-sent" descr="16-form-s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71613"/>
            <a:ext cx="5532120" cy="34575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349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ตรวจข้อมูลทั้งหมดในหน้าต่างสรุป → ถูกต้องกด ยืนยันส่งคำขอ · ผิดกด กลับไปแก้ไข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349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ส่งสำเร็จได้ เลขที่คำขอ เช่น FM-ACC-002-001-2026 จดไว้อ้างอิง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ติดตามสถานะ: คำขอถึงใครแล้ว</a:t>
            </a:r>
            <a:endParaRPr lang="en-US" sz="4050" dirty="0"/>
          </a:p>
        </p:txBody>
      </p:sp>
      <p:sp>
        <p:nvSpPr>
          <p:cNvPr id="3" name="frame-18-request-detail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8-request-detail" descr="18-request-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สถานะ ผู้ยื่น เวลายื่น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ข้อมูลที่กรอก · กดไฟล์แนบเพื่อเปิด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497963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เส้นทางอนุมัติ</a:t>
            </a:r>
            <a:r>
              <a:rPr lang="en-US" sz="2050" dirty="0">
                <a:solidFill>
                  <a:schemeClr val="tx1"/>
                </a:solidFill>
              </a:rPr>
              <a:t> เขียว = ผ่าน · น้ำเงิน = กำลังรอ (บอกเวลาที่รอ)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แก้ไข / ยกเลิก ได้ก่อนมีคนอนุมัติ</a:t>
            </a:r>
            <a:endParaRPr lang="en-US" sz="2050" dirty="0"/>
          </a:p>
        </p:txBody>
      </p:sp>
      <p:sp>
        <p:nvSpPr>
          <p:cNvPr id="17" name="num-5"/>
          <p:cNvSpPr/>
          <p:nvPr/>
        </p:nvSpPr>
        <p:spPr>
          <a:xfrm>
            <a:off x="7132320" y="39771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39771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3949764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ส่งออกเป็นเอกสาร PDF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ความหมายของสถานะ</a:t>
            </a:r>
            <a:endParaRPr lang="en-US" sz="4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4165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chemeClr val="bg1"/>
                          </a:solidFill>
                        </a:rPr>
                        <a:t>สถานะ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chemeClr val="bg1"/>
                          </a:solidFill>
                        </a:rPr>
                        <a:t>ความหมาย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chemeClr val="bg1"/>
                          </a:solidFill>
                        </a:rPr>
                        <a:t>ต้องทำอะไร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0B5CAD"/>
                          </a:solidFill>
                        </a:rPr>
                        <a:t>รออนุมัติ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อยู่ระหว่างรอผู้อนุมัติ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รอ · ค้างนานติดต่อผู้อนุมัติ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9A5B00"/>
                          </a:solidFill>
                        </a:rPr>
                        <a:t>ส่งกลับแก้ไข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ผู้อนุมัติขอให้แก้หรือเพิ่มข้อมูล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อ่านเหตุผล → แก้ไขและยื่นใหม่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B42318"/>
                          </a:solidFill>
                        </a:rPr>
                        <a:t>ไม่อนุมัติ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ถูกปฏิเสธ จบการพิจารณา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อ่านเหตุผล · ยื่นใหม่ถ้าจำเป็น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E7F4F"/>
                          </a:solidFill>
                        </a:rPr>
                        <a:t>อนุมัติแล้ว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ผ่านครบทุกลำดับ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ดำเนินการตามที่ขอ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E7F4F"/>
                          </a:solidFill>
                        </a:rPr>
                        <a:t>เสร็จสิ้น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ปิดงานแล้ว เช่น โอนเงินแล้ว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ตรวจสลิป · เก็บ PDF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5C6A7A"/>
                          </a:solidFill>
                        </a:rPr>
                        <a:t>ยกเลิก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ผู้ยื่นยกเลิกเอง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ถูกส่งกลับแก้ไข: แก้แล้วยื่นใหม่ได้เลย</a:t>
            </a:r>
            <a:endParaRPr lang="en-US" sz="4050" dirty="0"/>
          </a:p>
        </p:txBody>
      </p:sp>
      <p:sp>
        <p:nvSpPr>
          <p:cNvPr id="3" name="frame-31-sentback-view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31-sentback-view" descr="31-sentback-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สถานะ </a:t>
            </a:r>
            <a:r>
              <a:rPr lang="en-US" sz="2050" b="1" dirty="0">
                <a:solidFill>
                  <a:schemeClr val="tx2"/>
                </a:solidFill>
              </a:rPr>
              <a:t>ส่งกลับแก้ไข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อ่าน </a:t>
            </a:r>
            <a:r>
              <a:rPr lang="en-US" sz="2050" b="1" dirty="0">
                <a:solidFill>
                  <a:schemeClr val="tx2"/>
                </a:solidFill>
              </a:rPr>
              <a:t>เหตุผล</a:t>
            </a:r>
            <a:r>
              <a:rPr lang="en-US" sz="2050" dirty="0">
                <a:solidFill>
                  <a:schemeClr val="tx1"/>
                </a:solidFill>
              </a:rPr>
              <a:t> ในกรอบสีแดง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497963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r>
              <a:rPr lang="en-US" sz="2050" b="1" dirty="0">
                <a:solidFill>
                  <a:schemeClr val="tx2"/>
                </a:solidFill>
              </a:rPr>
              <a:t>แก้ไขและยื่นใหม่</a:t>
            </a:r>
            <a:r>
              <a:rPr lang="en-US" sz="2050" dirty="0">
                <a:solidFill>
                  <a:schemeClr val="tx1"/>
                </a:solidFill>
              </a:rPr>
              <a:t> · ข้อมูลเดิมถูกใส่ไว้ให้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หรือ </a:t>
            </a:r>
            <a:r>
              <a:rPr lang="en-US" sz="2050" b="1" dirty="0">
                <a:solidFill>
                  <a:schemeClr val="tx2"/>
                </a:solidFill>
              </a:rPr>
              <a:t>ยกเลิกคำขอ</a:t>
            </a:r>
            <a:r>
              <a:rPr lang="en-US" sz="2050" dirty="0">
                <a:solidFill>
                  <a:schemeClr val="tx1"/>
                </a:solidFill>
              </a:rPr>
              <a:t> (ถาวร)</a:t>
            </a:r>
            <a:endParaRPr lang="en-US" sz="2050" dirty="0"/>
          </a:p>
        </p:txBody>
      </p:sp>
      <p:sp>
        <p:nvSpPr>
          <p:cNvPr id="17" name="callout-note"/>
          <p:cNvSpPr/>
          <p:nvPr/>
        </p:nvSpPr>
        <p:spPr>
          <a:xfrm>
            <a:off x="7132320" y="51206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5120640"/>
            <a:ext cx="4288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ยื่นใหม่ใช้เลขที่เดิม และเริ่มอนุมัติจากลำดับแรก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3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สำหรับผู้อนุมัติ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อนุมัติในเว็บ · อนุมัติผ่าน Teams · การเงินแนบสลิปและปิดงาน</a:t>
            </a:r>
            <a:endParaRPr lang="en-US" sz="2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อนุมัติในเว็บ: 3 ปุ่มตัดสินใจ</a:t>
            </a:r>
            <a:endParaRPr lang="en-US" sz="4050" dirty="0"/>
          </a:p>
        </p:txBody>
      </p:sp>
      <p:sp>
        <p:nvSpPr>
          <p:cNvPr id="3" name="frame-20-approver-action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0-approver-action" descr="20-approver-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พิมพ์ </a:t>
            </a:r>
            <a:r>
              <a:rPr lang="en-US" sz="2050" b="1" dirty="0">
                <a:solidFill>
                  <a:schemeClr val="tx2"/>
                </a:solidFill>
              </a:rPr>
              <a:t>ความเห็น</a:t>
            </a:r>
            <a:r>
              <a:rPr lang="en-US" sz="2050" dirty="0">
                <a:solidFill>
                  <a:schemeClr val="tx1"/>
                </a:solidFill>
              </a:rPr>
              <a:t> (บังคับเมื่อส่งกลับ/ไม่อนุมัติ) · ผู้ยื่นเห็นเป็นกรอบแดง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✓ อนุมัติ</a:t>
            </a:r>
            <a:r>
              <a:rPr lang="en-US" sz="2050" dirty="0">
                <a:solidFill>
                  <a:schemeClr val="tx1"/>
                </a:solidFill>
              </a:rPr>
              <a:t> ส่งต่อลำดับถัดไป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850833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8508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823401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↩ ส่งกลับแก้ไข</a:t>
            </a:r>
            <a:r>
              <a:rPr lang="en-US" sz="2050" dirty="0">
                <a:solidFill>
                  <a:schemeClr val="tx1"/>
                </a:solidFill>
              </a:rPr>
              <a:t> คืนให้ผู้ยื่นแก้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✗ ไม่อนุมัติ</a:t>
            </a:r>
            <a:r>
              <a:rPr lang="en-US" sz="2050" dirty="0">
                <a:solidFill>
                  <a:schemeClr val="tx1"/>
                </a:solidFill>
              </a:rPr>
              <a:t> ปฏิเสธและจบคำขอ</a:t>
            </a:r>
            <a:endParaRPr lang="en-US" sz="2050" dirty="0"/>
          </a:p>
        </p:txBody>
      </p:sp>
      <p:sp>
        <p:nvSpPr>
          <p:cNvPr id="17" name="callout-tip"/>
          <p:cNvSpPr/>
          <p:nvPr/>
        </p:nvSpPr>
        <p:spPr>
          <a:xfrm>
            <a:off x="7132320" y="51206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5120640"/>
            <a:ext cx="4288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ตัวเลขแดงที่เมนู </a:t>
            </a:r>
            <a:r>
              <a:rPr lang="en-US" sz="1900" b="1" dirty="0">
                <a:solidFill>
                  <a:schemeClr val="tx2"/>
                </a:solidFill>
              </a:rPr>
              <a:t>ติดตามสถานะ</a:t>
            </a:r>
            <a:r>
              <a:rPr lang="en-US" sz="1900" dirty="0">
                <a:solidFill>
                  <a:schemeClr val="tx1"/>
                </a:solidFill>
              </a:rPr>
              <a:t> = คำขอที่ถึงคิวคุณ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อนุมัติผ่าน Microsoft Teams</a:t>
            </a:r>
            <a:endParaRPr lang="en-US" sz="4050" dirty="0"/>
          </a:p>
        </p:txBody>
      </p:sp>
      <p:sp>
        <p:nvSpPr>
          <p:cNvPr id="3" name="num-1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371600"/>
            <a:ext cx="6108192" cy="792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เปิดแอป </a:t>
            </a:r>
            <a:r>
              <a:rPr lang="en-US" sz="2150" b="1" dirty="0">
                <a:solidFill>
                  <a:schemeClr val="tx2"/>
                </a:solidFill>
              </a:rPr>
              <a:t>Teams</a:t>
            </a:r>
            <a:r>
              <a:rPr lang="en-US" sz="2150" dirty="0">
                <a:solidFill>
                  <a:schemeClr val="tx1"/>
                </a:solidFill>
              </a:rPr>
              <a:t> → แถบซ้าย </a:t>
            </a:r>
            <a:r>
              <a:rPr lang="en-US" sz="2150" b="1" dirty="0">
                <a:solidFill>
                  <a:schemeClr val="tx2"/>
                </a:solidFill>
              </a:rPr>
              <a:t>Approvals</a:t>
            </a:r>
            <a:r>
              <a:rPr lang="en-US" sz="2150" dirty="0">
                <a:solidFill>
                  <a:schemeClr val="tx1"/>
                </a:solidFill>
              </a:rPr>
              <a:t> (ไม่เห็นกด “…” แล้วค้นหา)</a:t>
            </a:r>
            <a:endParaRPr lang="en-US" sz="2150" dirty="0"/>
          </a:p>
        </p:txBody>
      </p:sp>
      <p:sp>
        <p:nvSpPr>
          <p:cNvPr id="6" name="num-2"/>
          <p:cNvSpPr/>
          <p:nvPr/>
        </p:nvSpPr>
        <p:spPr>
          <a:xfrm>
            <a:off x="457200" y="231940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194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291969"/>
            <a:ext cx="6108192" cy="4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แท็บ </a:t>
            </a:r>
            <a:r>
              <a:rPr lang="en-US" sz="2150" b="1" dirty="0">
                <a:solidFill>
                  <a:schemeClr val="tx2"/>
                </a:solidFill>
              </a:rPr>
              <a:t>Received</a:t>
            </a:r>
            <a:r>
              <a:rPr lang="en-US" sz="2150" dirty="0">
                <a:solidFill>
                  <a:schemeClr val="tx1"/>
                </a:solidFill>
              </a:rPr>
              <a:t> → การ์ด “ขออนุมัติ FM-xxx จาก …”</a:t>
            </a:r>
            <a:endParaRPr lang="en-US" sz="2150" dirty="0"/>
          </a:p>
        </p:txBody>
      </p:sp>
      <p:sp>
        <p:nvSpPr>
          <p:cNvPr id="9" name="num-3"/>
          <p:cNvSpPr/>
          <p:nvPr/>
        </p:nvSpPr>
        <p:spPr>
          <a:xfrm>
            <a:off x="457200" y="289845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984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871026"/>
            <a:ext cx="6108192" cy="792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กดการ์ด อ่านรายละเอียด · ลิงก์ </a:t>
            </a:r>
            <a:r>
              <a:rPr lang="en-US" sz="2150" b="1" dirty="0">
                <a:solidFill>
                  <a:schemeClr val="tx2"/>
                </a:solidFill>
              </a:rPr>
              <a:t>เปิดดูรายละเอียดคำขอ</a:t>
            </a:r>
            <a:r>
              <a:rPr lang="en-US" sz="2150" dirty="0">
                <a:solidFill>
                  <a:schemeClr val="tx1"/>
                </a:solidFill>
              </a:rPr>
              <a:t> ไปเว็บ</a:t>
            </a:r>
            <a:endParaRPr lang="en-US" sz="2150" dirty="0"/>
          </a:p>
        </p:txBody>
      </p:sp>
      <p:sp>
        <p:nvSpPr>
          <p:cNvPr id="12" name="num-4"/>
          <p:cNvSpPr/>
          <p:nvPr/>
        </p:nvSpPr>
        <p:spPr>
          <a:xfrm>
            <a:off x="457200" y="381882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81882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791394"/>
            <a:ext cx="6108192" cy="792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เลือก </a:t>
            </a:r>
            <a:r>
              <a:rPr lang="en-US" sz="2150" b="1" dirty="0">
                <a:solidFill>
                  <a:schemeClr val="tx2"/>
                </a:solidFill>
              </a:rPr>
              <a:t>อนุมัติ / ส่งกลับแก้ไข / ไม่อนุมัติ</a:t>
            </a:r>
            <a:r>
              <a:rPr lang="en-US" sz="2150" dirty="0">
                <a:solidFill>
                  <a:schemeClr val="tx1"/>
                </a:solidFill>
              </a:rPr>
              <a:t> · พิมพ์เหตุผลใน Comments</a:t>
            </a:r>
            <a:endParaRPr lang="en-US" sz="2150" dirty="0"/>
          </a:p>
        </p:txBody>
      </p:sp>
      <p:sp>
        <p:nvSpPr>
          <p:cNvPr id="15" name="num-5"/>
          <p:cNvSpPr/>
          <p:nvPr/>
        </p:nvSpPr>
        <p:spPr>
          <a:xfrm>
            <a:off x="457200" y="473919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7391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711764"/>
            <a:ext cx="6108192" cy="4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กด </a:t>
            </a:r>
            <a:r>
              <a:rPr lang="en-US" sz="2150" b="1" dirty="0">
                <a:solidFill>
                  <a:schemeClr val="tx2"/>
                </a:solidFill>
              </a:rPr>
              <a:t>Submit</a:t>
            </a:r>
            <a:r>
              <a:rPr lang="en-US" sz="2150" dirty="0">
                <a:solidFill>
                  <a:schemeClr val="tx1"/>
                </a:solidFill>
              </a:rPr>
              <a:t> · สถานะในเว็บเปลี่ยนภายในไม่กี่นาที</a:t>
            </a:r>
            <a:endParaRPr lang="en-US" sz="2150" dirty="0"/>
          </a:p>
        </p:txBody>
      </p:sp>
      <p:sp>
        <p:nvSpPr>
          <p:cNvPr id="18" name="callout-warn"/>
          <p:cNvSpPr/>
          <p:nvPr/>
        </p:nvSpPr>
        <p:spPr>
          <a:xfrm>
            <a:off x="7406640" y="1371600"/>
            <a:ext cx="4343400" cy="1463040"/>
          </a:xfrm>
          <a:prstGeom prst="roundRect">
            <a:avLst>
              <a:gd name="adj" fmla="val 5000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71232" y="1371600"/>
            <a:ext cx="4014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r>
              <a:rPr lang="en-US" sz="1900" dirty="0">
                <a:solidFill>
                  <a:schemeClr val="tx1"/>
                </a:solidFill>
              </a:rPr>
              <a:t>เป็นผู้อนุมัติหลายลำดับในคำขอเดียว จะมีการ์ดชื่อเดียวกัน 2 ใบ — กด</a:t>
            </a:r>
            <a:r>
              <a:rPr lang="en-US" sz="1900" b="1" dirty="0">
                <a:solidFill>
                  <a:schemeClr val="tx2"/>
                </a:solidFill>
              </a:rPr>
              <a:t>ใบล่าสุด</a:t>
            </a:r>
            <a:endParaRPr lang="en-US" sz="1900" dirty="0"/>
          </a:p>
        </p:txBody>
      </p:sp>
      <p:sp>
        <p:nvSpPr>
          <p:cNvPr id="20" name="callout-note"/>
          <p:cNvSpPr/>
          <p:nvPr/>
        </p:nvSpPr>
        <p:spPr>
          <a:xfrm>
            <a:off x="7406640" y="306324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3063240"/>
            <a:ext cx="4014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อนุมัติในเว็บไปแล้ว การ์ดเก่าใน Teams </a:t>
            </a:r>
            <a:r>
              <a:rPr lang="en-US" sz="1900" b="1" dirty="0">
                <a:solidFill>
                  <a:schemeClr val="tx2"/>
                </a:solidFill>
              </a:rPr>
              <a:t>ไม่มีผล</a:t>
            </a:r>
            <a:r>
              <a:rPr lang="en-US" sz="1900" dirty="0">
                <a:solidFill>
                  <a:schemeClr val="tx1"/>
                </a:solidFill>
              </a:rPr>
              <a:t> ไม่ต้องกดซ้ำ</a:t>
            </a:r>
            <a:endParaRPr lang="en-US" sz="1900" dirty="0"/>
          </a:p>
        </p:txBody>
      </p:sp>
      <p:sp>
        <p:nvSpPr>
          <p:cNvPr id="22" name="callout-tip"/>
          <p:cNvSpPr/>
          <p:nvPr/>
        </p:nvSpPr>
        <p:spPr>
          <a:xfrm>
            <a:off x="7406640" y="457200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71232" y="4572000"/>
            <a:ext cx="4014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เกิน 10 นาทีเว็บยังไม่เปลี่ยน ให้อนุมัติในเว็บและแจ้งผู้ดูแลระบบ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การเงิน: อนุมัติโอนเงิน + แนบสลิป</a:t>
            </a:r>
            <a:endParaRPr lang="en-US" sz="4050" dirty="0"/>
          </a:p>
        </p:txBody>
      </p:sp>
      <p:sp>
        <p:nvSpPr>
          <p:cNvPr id="3" name="frame-22-slip-empty"/>
          <p:cNvSpPr/>
          <p:nvPr/>
        </p:nvSpPr>
        <p:spPr>
          <a:xfrm>
            <a:off x="420624" y="1915097"/>
            <a:ext cx="3776472" cy="2387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2-slip-empty" descr="22-slip-emp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51673"/>
            <a:ext cx="3703320" cy="2314575"/>
          </a:xfrm>
          <a:prstGeom prst="rect">
            <a:avLst/>
          </a:prstGeom>
        </p:spPr>
      </p:pic>
      <p:sp>
        <p:nvSpPr>
          <p:cNvPr id="5" name="frame-23-slip-ready"/>
          <p:cNvSpPr/>
          <p:nvPr/>
        </p:nvSpPr>
        <p:spPr>
          <a:xfrm>
            <a:off x="4306824" y="1915097"/>
            <a:ext cx="3776472" cy="2387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23-slip-ready" descr="23-slip-read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51673"/>
            <a:ext cx="3703320" cy="2314575"/>
          </a:xfrm>
          <a:prstGeom prst="rect">
            <a:avLst/>
          </a:prstGeom>
        </p:spPr>
      </p:pic>
      <p:sp>
        <p:nvSpPr>
          <p:cNvPr id="7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8842248" y="1371600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 </a:t>
            </a:r>
            <a:r>
              <a:rPr lang="en-US" sz="1900" b="1" dirty="0">
                <a:solidFill>
                  <a:schemeClr val="tx2"/>
                </a:solidFill>
              </a:rPr>
              <a:t>✓ อนุมัติ (แนบสลิปโอนเงิน)</a:t>
            </a:r>
            <a:endParaRPr lang="en-US" sz="1900" dirty="0"/>
          </a:p>
        </p:txBody>
      </p:sp>
      <p:sp>
        <p:nvSpPr>
          <p:cNvPr id="10" name="num-2"/>
          <p:cNvSpPr/>
          <p:nvPr/>
        </p:nvSpPr>
        <p:spPr>
          <a:xfrm>
            <a:off x="8366760" y="224002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66760" y="22400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2" name="Text 8"/>
          <p:cNvSpPr txBox="1"/>
          <p:nvPr/>
        </p:nvSpPr>
        <p:spPr>
          <a:xfrm>
            <a:off x="8842248" y="2212594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แนบสลิป: </a:t>
            </a:r>
            <a:r>
              <a:rPr lang="en-US" sz="1900" b="1" dirty="0">
                <a:solidFill>
                  <a:schemeClr val="tx2"/>
                </a:solidFill>
              </a:rPr>
              <a:t>คลิกเลือกไฟล์ · ลากวาง · Ctrl+V</a:t>
            </a:r>
            <a:endParaRPr lang="en-US" sz="1900" dirty="0"/>
          </a:p>
        </p:txBody>
      </p:sp>
      <p:sp>
        <p:nvSpPr>
          <p:cNvPr id="13" name="num-3"/>
          <p:cNvSpPr/>
          <p:nvPr/>
        </p:nvSpPr>
        <p:spPr>
          <a:xfrm>
            <a:off x="8366760" y="308102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66760" y="3081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5" name="Text 11"/>
          <p:cNvSpPr txBox="1"/>
          <p:nvPr/>
        </p:nvSpPr>
        <p:spPr>
          <a:xfrm>
            <a:off x="8842248" y="3053588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รอ “✓ แนบแล้ว” แล้วกด </a:t>
            </a:r>
            <a:r>
              <a:rPr lang="en-US" sz="1900" b="1" dirty="0">
                <a:solidFill>
                  <a:schemeClr val="tx2"/>
                </a:solidFill>
              </a:rPr>
              <a:t>ยืนยันอนุมัติและปิดงาน</a:t>
            </a:r>
            <a:endParaRPr lang="en-US" sz="1900" dirty="0"/>
          </a:p>
        </p:txBody>
      </p:sp>
      <p:sp>
        <p:nvSpPr>
          <p:cNvPr id="16" name="num-4"/>
          <p:cNvSpPr/>
          <p:nvPr/>
        </p:nvSpPr>
        <p:spPr>
          <a:xfrm>
            <a:off x="8366760" y="392201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66760" y="3922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8" name="Text 14"/>
          <p:cNvSpPr txBox="1"/>
          <p:nvPr/>
        </p:nvSpPr>
        <p:spPr>
          <a:xfrm>
            <a:off x="8842248" y="3894582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ระบบปิดงานและ </a:t>
            </a:r>
            <a:r>
              <a:rPr lang="en-US" sz="1900" b="1" dirty="0">
                <a:solidFill>
                  <a:schemeClr val="tx2"/>
                </a:solidFill>
              </a:rPr>
              <a:t>แจ้งผู้ยื่นทาง Teams พร้อมรูปสลิป</a:t>
            </a:r>
            <a:endParaRPr lang="en-US" sz="1900" dirty="0"/>
          </a:p>
        </p:txBody>
      </p:sp>
      <p:sp>
        <p:nvSpPr>
          <p:cNvPr id="19" name="callout-note"/>
          <p:cNvSpPr/>
          <p:nvPr/>
        </p:nvSpPr>
        <p:spPr>
          <a:xfrm>
            <a:off x="457200" y="521208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1792" y="5212080"/>
            <a:ext cx="7260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ใช้กับ </a:t>
            </a:r>
            <a:r>
              <a:rPr lang="en-US" sz="1900" b="1" dirty="0">
                <a:solidFill>
                  <a:schemeClr val="tx2"/>
                </a:solidFill>
              </a:rPr>
              <a:t>แบบฟอร์มขอเบิกเงินทดรองจ่าย</a:t>
            </a:r>
            <a:r>
              <a:rPr lang="en-US" sz="1900" dirty="0">
                <a:solidFill>
                  <a:schemeClr val="tx1"/>
                </a:solidFill>
              </a:rPr>
              <a:t> และ </a:t>
            </a:r>
            <a:r>
              <a:rPr lang="en-US" sz="1900" b="1" dirty="0">
                <a:solidFill>
                  <a:schemeClr val="tx2"/>
                </a:solidFill>
              </a:rPr>
              <a:t>แบบฟอร์มเบิกเงินสำรองโครงการ</a:t>
            </a:r>
            <a:r>
              <a:rPr lang="en-US" sz="1900" dirty="0">
                <a:solidFill>
                  <a:schemeClr val="tx1"/>
                </a:solidFill>
              </a:rPr>
              <a:t> · กดยกเลิก = ยังไม่อนุมัติ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ผู้ยื่นเห็นผล: ความเห็นกรอบแดงและสลิป</a:t>
            </a:r>
            <a:endParaRPr lang="en-US" sz="4050" dirty="0"/>
          </a:p>
        </p:txBody>
      </p:sp>
      <p:sp>
        <p:nvSpPr>
          <p:cNvPr id="3" name="frame-26-request-done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6-request-done" descr="26-request-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ทุกลำดับเป็นจุดเขียว พร้อมชื่อ เวลา และเวลาที่ใช้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ความเห็นผู้อนุมัติ</a:t>
            </a:r>
            <a:r>
              <a:rPr lang="en-US" sz="2050" dirty="0">
                <a:solidFill>
                  <a:schemeClr val="tx1"/>
                </a:solidFill>
              </a:rPr>
              <a:t> ในกรอบสีแดง อ่านทุกครั้ง</a:t>
            </a:r>
            <a:endParaRPr lang="en-US" sz="2050" dirty="0"/>
          </a:p>
        </p:txBody>
      </p:sp>
      <p:sp>
        <p:nvSpPr>
          <p:cNvPr id="11" name="callout-tip"/>
          <p:cNvSpPr/>
          <p:nvPr/>
        </p:nvSpPr>
        <p:spPr>
          <a:xfrm>
            <a:off x="7132320" y="324612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24612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ตัวเลขแดงบนเมนูและป้าย </a:t>
            </a:r>
            <a:r>
              <a:rPr lang="en-US" sz="1900" b="1" dirty="0">
                <a:solidFill>
                  <a:schemeClr val="tx2"/>
                </a:solidFill>
              </a:rPr>
              <a:t>ใหม่</a:t>
            </a:r>
            <a:r>
              <a:rPr lang="en-US" sz="1900" dirty="0">
                <a:solidFill>
                  <a:schemeClr val="tx1"/>
                </a:solidFill>
              </a:rPr>
              <a:t> บอกว่าคำขอมีความเคลื่อนไหว เปิดดูแล้วป้ายจะหายไป</a:t>
            </a:r>
            <a:endParaRPr lang="en-US" sz="19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66344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663440"/>
            <a:ext cx="4288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เลื่อนลงจะเห็น </a:t>
            </a:r>
            <a:r>
              <a:rPr lang="en-US" sz="1900" b="1" dirty="0">
                <a:solidFill>
                  <a:schemeClr val="tx2"/>
                </a:solidFill>
              </a:rPr>
              <a:t>หลักฐานการโอนเงิน</a:t>
            </a:r>
            <a:r>
              <a:rPr lang="en-US" sz="1900" dirty="0">
                <a:solidFill>
                  <a:schemeClr val="tx1"/>
                </a:solidFill>
              </a:rPr>
              <a:t> กดรูปดูขนาดเต็ม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ส่งออกเอกสาร PDF</a:t>
            </a:r>
            <a:endParaRPr lang="en-US" sz="4050" dirty="0"/>
          </a:p>
        </p:txBody>
      </p:sp>
      <p:sp>
        <p:nvSpPr>
          <p:cNvPr id="3" name="frame-28-export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8-export" descr="28-ex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ลายเซ็นผู้ยื่น เปลี่ยนได้ → </a:t>
            </a:r>
            <a:r>
              <a:rPr lang="en-US" sz="2050" b="1" dirty="0">
                <a:solidFill>
                  <a:schemeClr val="tx2"/>
                </a:solidFill>
              </a:rPr>
              <a:t>ใส่ลายเซ็นนี้ในเอกสาร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ตัวอย่างเอกสารมีหัวกระดาษ ข้อมูล และผลอนุมัติจากระบบ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31762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48838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พิมพ์ / บันทึกเป็น PDF</a:t>
            </a:r>
            <a:r>
              <a:rPr lang="en-US" sz="2050" dirty="0">
                <a:solidFill>
                  <a:schemeClr val="tx1"/>
                </a:solidFill>
              </a:rPr>
              <a:t> → เลือก Save as PDF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ฟอร์ม PR, Memo, เบิกค่าเดินทาง และใบรับรองแทนใบเสร็จ ส่งออกเหมือนต้นฉบับกระดาษ ISO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4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เมนูอื่น ๆ ที่ใช้ทุกวัน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ห้องประชุม · ประเมินผล · บุคลากร · ติดต่อ · มือถือ</a:t>
            </a:r>
            <a:endParaRPr lang="en-US" sz="2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จองห้องประชุม: นัดใน Outlook อัตโนมัติ</a:t>
            </a:r>
            <a:endParaRPr lang="en-US" sz="4050" dirty="0"/>
          </a:p>
        </p:txBody>
      </p:sp>
      <p:sp>
        <p:nvSpPr>
          <p:cNvPr id="3" name="frame-50-rooms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0-rooms" descr="50-roo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เลือกห้อง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8366760" y="190735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073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879918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หัวข้อการประชุม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8366760" y="2415667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4156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388235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วันที่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8366760" y="292398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9239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2896553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เวลาเริ่ม–สิ้นสุด</a:t>
            </a:r>
            <a:endParaRPr lang="en-US" sz="2050" dirty="0"/>
          </a:p>
        </p:txBody>
      </p:sp>
      <p:sp>
        <p:nvSpPr>
          <p:cNvPr id="17" name="num-5"/>
          <p:cNvSpPr/>
          <p:nvPr/>
        </p:nvSpPr>
        <p:spPr>
          <a:xfrm>
            <a:off x="8366760" y="343230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343230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8842248" y="3404870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อีเมลผู้เข้าร่วม คั่นด้วย ,</a:t>
            </a:r>
            <a:endParaRPr lang="en-US" sz="2050" dirty="0"/>
          </a:p>
        </p:txBody>
      </p:sp>
      <p:sp>
        <p:nvSpPr>
          <p:cNvPr id="20" name="num-6"/>
          <p:cNvSpPr/>
          <p:nvPr/>
        </p:nvSpPr>
        <p:spPr>
          <a:xfrm>
            <a:off x="8366760" y="4266057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42660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6</a:t>
            </a:r>
            <a:endParaRPr lang="en-US" sz="1750" dirty="0"/>
          </a:p>
        </p:txBody>
      </p:sp>
      <p:sp>
        <p:nvSpPr>
          <p:cNvPr id="22" name="Text 19"/>
          <p:cNvSpPr txBox="1"/>
          <p:nvPr/>
        </p:nvSpPr>
        <p:spPr>
          <a:xfrm>
            <a:off x="8842248" y="4238625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r>
              <a:rPr lang="en-US" sz="2050" b="1" dirty="0">
                <a:solidFill>
                  <a:schemeClr val="tx2"/>
                </a:solidFill>
              </a:rPr>
              <a:t>จองห้อง</a:t>
            </a:r>
            <a:endParaRPr lang="en-US" sz="2050" dirty="0"/>
          </a:p>
        </p:txBody>
      </p:sp>
      <p:sp>
        <p:nvSpPr>
          <p:cNvPr id="23" name="callout-tip"/>
          <p:cNvSpPr/>
          <p:nvPr/>
        </p:nvSpPr>
        <p:spPr>
          <a:xfrm>
            <a:off x="8366760" y="4892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31352" y="48920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ครั้งแรกอาจขออนุญาตปฏิทิน กดยอมรับ · ยกเลิก/เลื่อนนัดทำใน Outlook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ประเมินผลบุคลากร: หัวหน้าประเมิน</a:t>
            </a:r>
            <a:endParaRPr lang="en-US" sz="4050" dirty="0"/>
          </a:p>
        </p:txBody>
      </p:sp>
      <p:sp>
        <p:nvSpPr>
          <p:cNvPr id="3" name="frame-43-ap-scoring"/>
          <p:cNvSpPr/>
          <p:nvPr/>
        </p:nvSpPr>
        <p:spPr>
          <a:xfrm>
            <a:off x="420624" y="1312164"/>
            <a:ext cx="5559552" cy="35021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43-ap-scoring" descr="43-ap-sc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8740"/>
            <a:ext cx="5486400" cy="3429000"/>
          </a:xfrm>
          <a:prstGeom prst="rect">
            <a:avLst/>
          </a:prstGeom>
        </p:spPr>
      </p:pic>
      <p:sp>
        <p:nvSpPr>
          <p:cNvPr id="5" name="frame-44-ap-sign-submit"/>
          <p:cNvSpPr/>
          <p:nvPr/>
        </p:nvSpPr>
        <p:spPr>
          <a:xfrm>
            <a:off x="6227064" y="1312164"/>
            <a:ext cx="5559552" cy="35021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44-ap-sign-submit" descr="44-ap-sign-subm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48740"/>
            <a:ext cx="5486400" cy="3429000"/>
          </a:xfrm>
          <a:prstGeom prst="rect">
            <a:avLst/>
          </a:prstGeom>
        </p:spPr>
      </p:pic>
      <p:sp>
        <p:nvSpPr>
          <p:cNvPr id="7" name="ap-step-0"/>
          <p:cNvSpPr/>
          <p:nvPr/>
        </p:nvSpPr>
        <p:spPr>
          <a:xfrm>
            <a:off x="457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1. หัวหน้าประเมินและลงนาม</a:t>
            </a:r>
            <a:endParaRPr lang="en-US" sz="1750" dirty="0"/>
          </a:p>
        </p:txBody>
      </p:sp>
      <p:sp>
        <p:nvSpPr>
          <p:cNvPr id="9" name="ap-step-1"/>
          <p:cNvSpPr/>
          <p:nvPr/>
        </p:nvSpPr>
        <p:spPr>
          <a:xfrm>
            <a:off x="2743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834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2. พนักงานรับทราบ</a:t>
            </a:r>
            <a:endParaRPr lang="en-US" sz="1750" dirty="0"/>
          </a:p>
        </p:txBody>
      </p:sp>
      <p:sp>
        <p:nvSpPr>
          <p:cNvPr id="11" name="ap-step-2"/>
          <p:cNvSpPr/>
          <p:nvPr/>
        </p:nvSpPr>
        <p:spPr>
          <a:xfrm>
            <a:off x="5029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20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3. ฝ่ายบุคคลตรวจสอบ</a:t>
            </a:r>
            <a:endParaRPr lang="en-US" sz="1750" dirty="0"/>
          </a:p>
        </p:txBody>
      </p:sp>
      <p:sp>
        <p:nvSpPr>
          <p:cNvPr id="13" name="ap-step-3"/>
          <p:cNvSpPr/>
          <p:nvPr/>
        </p:nvSpPr>
        <p:spPr>
          <a:xfrm>
            <a:off x="7315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06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4. ส่งผู้บริหาร</a:t>
            </a:r>
            <a:endParaRPr lang="en-US" sz="1750" dirty="0"/>
          </a:p>
        </p:txBody>
      </p:sp>
      <p:sp>
        <p:nvSpPr>
          <p:cNvPr id="15" name="ap-step-4"/>
          <p:cNvSpPr/>
          <p:nvPr/>
        </p:nvSpPr>
        <p:spPr>
          <a:xfrm>
            <a:off x="9601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92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5. ผู้บริหารรับทราบ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ประเมินผล: พนักงานรับทราบและลงนาม</a:t>
            </a:r>
            <a:endParaRPr lang="en-US" sz="4050" dirty="0"/>
          </a:p>
        </p:txBody>
      </p:sp>
      <p:sp>
        <p:nvSpPr>
          <p:cNvPr id="3" name="frame-47-ap-ack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47-ap-ack" descr="47-ap-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แท็บ </a:t>
            </a:r>
            <a:r>
              <a:rPr lang="en-US" sz="2050" b="1" dirty="0">
                <a:solidFill>
                  <a:schemeClr val="tx2"/>
                </a:solidFill>
              </a:rPr>
              <a:t>การประเมินของฉัน</a:t>
            </a:r>
            <a:r>
              <a:rPr lang="en-US" sz="2050" dirty="0">
                <a:solidFill>
                  <a:schemeClr val="tx1"/>
                </a:solidFill>
              </a:rPr>
              <a:t> · เห็นคะแนนและเกรด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r>
              <a:rPr lang="en-US" sz="2050" b="1" dirty="0">
                <a:solidFill>
                  <a:schemeClr val="tx2"/>
                </a:solidFill>
              </a:rPr>
              <a:t>เปิดใบเพื่อลงนามรับทราบ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85083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8508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823401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ใส่ความเห็น (ถ้ามี) และ </a:t>
            </a:r>
            <a:r>
              <a:rPr lang="en-US" sz="2050" b="1" dirty="0">
                <a:solidFill>
                  <a:schemeClr val="tx2"/>
                </a:solidFill>
              </a:rPr>
              <a:t>เซ็นในกรอบ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r>
              <a:rPr lang="en-US" sz="2050" b="1" dirty="0">
                <a:solidFill>
                  <a:schemeClr val="tx2"/>
                </a:solidFill>
              </a:rPr>
              <a:t>ลงนามรับทราบ</a:t>
            </a:r>
            <a:endParaRPr lang="en-US" sz="2050" dirty="0"/>
          </a:p>
        </p:txBody>
      </p:sp>
      <p:sp>
        <p:nvSpPr>
          <p:cNvPr id="17" name="callout-note"/>
          <p:cNvSpPr/>
          <p:nvPr/>
        </p:nvSpPr>
        <p:spPr>
          <a:xfrm>
            <a:off x="7132320" y="4526280"/>
            <a:ext cx="4617720" cy="164592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526280"/>
            <a:ext cx="4288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ลงนามรับทราบ </a:t>
            </a:r>
            <a:r>
              <a:rPr lang="en-US" sz="1900" b="1" dirty="0">
                <a:solidFill>
                  <a:schemeClr val="tx2"/>
                </a:solidFill>
              </a:rPr>
              <a:t>ไม่ได้แปลว่าเห็นด้วยทุกข้อ</a:t>
            </a:r>
            <a:r>
              <a:rPr lang="en-US" sz="1900" dirty="0">
                <a:solidFill>
                  <a:schemeClr val="tx1"/>
                </a:solidFill>
              </a:rPr>
              <a:t> เขียนความเห็นได้ · ดาวน์โหลดใบประเมินและดูประวัติได้ทุกเมื่อ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บุคลากรและแผนผังองค์กร</a:t>
            </a:r>
            <a:endParaRPr lang="en-US" sz="4050" dirty="0"/>
          </a:p>
        </p:txBody>
      </p:sp>
      <p:sp>
        <p:nvSpPr>
          <p:cNvPr id="3" name="frame-52-directory"/>
          <p:cNvSpPr/>
          <p:nvPr/>
        </p:nvSpPr>
        <p:spPr>
          <a:xfrm>
            <a:off x="42062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2-directory" descr="52-direc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1613"/>
            <a:ext cx="5532120" cy="3457575"/>
          </a:xfrm>
          <a:prstGeom prst="rect">
            <a:avLst/>
          </a:prstGeom>
        </p:spPr>
      </p:pic>
      <p:sp>
        <p:nvSpPr>
          <p:cNvPr id="5" name="frame-54-orgchart"/>
          <p:cNvSpPr/>
          <p:nvPr/>
        </p:nvSpPr>
        <p:spPr>
          <a:xfrm>
            <a:off x="618134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54-orgchart" descr="54-org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71613"/>
            <a:ext cx="5532120" cy="34575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34924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ค้นหาชื่อจริง ชื่อเล่น ตำแหน่ง ฝ่าย · กดการ์ดดูข้อมูลเต็ม · กดอีเมลเพื่อส่งเมล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34924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แท็บแผนผังองค์กร ตามฉบับประกาศ · กดฝ่าย/แผนกเพื่อดูรายชื่อคนในหน่วย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ติดต่อและกล่องรับฟังความคิดเห็น</a:t>
            </a:r>
            <a:endParaRPr lang="en-US" sz="4050" dirty="0"/>
          </a:p>
        </p:txBody>
      </p:sp>
      <p:sp>
        <p:nvSpPr>
          <p:cNvPr id="3" name="frame-57-feedback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7-feedback" descr="57-feedb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3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เลือกเรื่องที่เสนอ</a:t>
            </a:r>
            <a:endParaRPr lang="en-US" sz="2050" dirty="0"/>
          </a:p>
        </p:txBody>
      </p:sp>
      <p:sp>
        <p:nvSpPr>
          <p:cNvPr id="8" name="num-4"/>
          <p:cNvSpPr/>
          <p:nvPr/>
        </p:nvSpPr>
        <p:spPr>
          <a:xfrm>
            <a:off x="836676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934782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เล่ารายละเอียด</a:t>
            </a:r>
            <a:endParaRPr lang="en-US" sz="2050" dirty="0"/>
          </a:p>
        </p:txBody>
      </p:sp>
      <p:sp>
        <p:nvSpPr>
          <p:cNvPr id="11" name="num-5"/>
          <p:cNvSpPr/>
          <p:nvPr/>
        </p:nvSpPr>
        <p:spPr>
          <a:xfrm>
            <a:off x="836676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497963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ติ๊กถ้า </a:t>
            </a:r>
            <a:r>
              <a:rPr lang="en-US" sz="2050" b="1" dirty="0">
                <a:solidFill>
                  <a:schemeClr val="tx2"/>
                </a:solidFill>
              </a:rPr>
              <a:t>ไม่ต้องการระบุชื่อ</a:t>
            </a:r>
            <a:endParaRPr lang="en-US" sz="2050" dirty="0"/>
          </a:p>
        </p:txBody>
      </p:sp>
      <p:sp>
        <p:nvSpPr>
          <p:cNvPr id="14" name="num-6"/>
          <p:cNvSpPr/>
          <p:nvPr/>
        </p:nvSpPr>
        <p:spPr>
          <a:xfrm>
            <a:off x="8366760" y="3088577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0885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6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061145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r>
              <a:rPr lang="en-US" sz="2050" b="1" dirty="0">
                <a:solidFill>
                  <a:schemeClr val="tx2"/>
                </a:solidFill>
              </a:rPr>
              <a:t>ส่งความคิดเห็น</a:t>
            </a:r>
            <a:endParaRPr lang="en-US" sz="2050" dirty="0"/>
          </a:p>
        </p:txBody>
      </p:sp>
      <p:sp>
        <p:nvSpPr>
          <p:cNvPr id="17" name="callout-tip"/>
          <p:cNvSpPr/>
          <p:nvPr/>
        </p:nvSpPr>
        <p:spPr>
          <a:xfrm>
            <a:off x="8366760" y="4892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31352" y="48920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หน้าติดต่อมีสมุดโทรศัพท์ทุกหน่วยงาน และผู้ดูแลระบบ ต่อ 216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ใช้งานบนมือถือ</a:t>
            </a:r>
            <a:endParaRPr lang="en-US" sz="4050" dirty="0"/>
          </a:p>
        </p:txBody>
      </p:sp>
      <p:sp>
        <p:nvSpPr>
          <p:cNvPr id="3" name="frame-60-m-home"/>
          <p:cNvSpPr/>
          <p:nvPr/>
        </p:nvSpPr>
        <p:spPr>
          <a:xfrm>
            <a:off x="42062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60-m-home" descr="60-m-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1025"/>
            <a:ext cx="2148840" cy="4650310"/>
          </a:xfrm>
          <a:prstGeom prst="rect">
            <a:avLst/>
          </a:prstGeom>
        </p:spPr>
      </p:pic>
      <p:sp>
        <p:nvSpPr>
          <p:cNvPr id="5" name="frame-61-m-menu"/>
          <p:cNvSpPr/>
          <p:nvPr/>
        </p:nvSpPr>
        <p:spPr>
          <a:xfrm>
            <a:off x="275234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61-m-menu" descr="61-m-men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401025"/>
            <a:ext cx="2148840" cy="4650310"/>
          </a:xfrm>
          <a:prstGeom prst="rect">
            <a:avLst/>
          </a:prstGeom>
        </p:spPr>
      </p:pic>
      <p:sp>
        <p:nvSpPr>
          <p:cNvPr id="7" name="frame-62-m-form"/>
          <p:cNvSpPr/>
          <p:nvPr/>
        </p:nvSpPr>
        <p:spPr>
          <a:xfrm>
            <a:off x="508406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8" name="shot-62-m-form" descr="62-m-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01025"/>
            <a:ext cx="2148840" cy="4650310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76809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809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11" name="Text 6"/>
          <p:cNvSpPr txBox="1"/>
          <p:nvPr/>
        </p:nvSpPr>
        <p:spPr>
          <a:xfrm>
            <a:off x="8156448" y="1371600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เปิดลิงก์ด้วย Safari / Chrome แล้วเข้าสู่ระบบ</a:t>
            </a:r>
            <a:endParaRPr lang="en-US" sz="2050" dirty="0"/>
          </a:p>
        </p:txBody>
      </p:sp>
      <p:sp>
        <p:nvSpPr>
          <p:cNvPr id="12" name="num-2"/>
          <p:cNvSpPr/>
          <p:nvPr/>
        </p:nvSpPr>
        <p:spPr>
          <a:xfrm>
            <a:off x="7680960" y="228765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8096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8156448" y="2260219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ติดตั้งเป็นแอป</a:t>
            </a:r>
            <a:r>
              <a:rPr lang="en-US" sz="2050" dirty="0">
                <a:solidFill>
                  <a:schemeClr val="tx1"/>
                </a:solidFill>
              </a:rPr>
              <a:t>: เพิ่มไปยังหน้าจอโฮม / ติดตั้งแอป</a:t>
            </a:r>
            <a:endParaRPr lang="en-US" sz="2050" dirty="0"/>
          </a:p>
        </p:txBody>
      </p:sp>
      <p:sp>
        <p:nvSpPr>
          <p:cNvPr id="15" name="num-3"/>
          <p:cNvSpPr/>
          <p:nvPr/>
        </p:nvSpPr>
        <p:spPr>
          <a:xfrm>
            <a:off x="7680960" y="317627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8096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7" name="Text 12"/>
          <p:cNvSpPr txBox="1"/>
          <p:nvPr/>
        </p:nvSpPr>
        <p:spPr>
          <a:xfrm>
            <a:off x="8156448" y="3148838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เมนูอยู่ที่ปุ่ม </a:t>
            </a:r>
            <a:r>
              <a:rPr lang="en-US" sz="2050" b="1" dirty="0">
                <a:solidFill>
                  <a:schemeClr val="tx2"/>
                </a:solidFill>
              </a:rPr>
              <a:t>☰ เมนู</a:t>
            </a:r>
            <a:r>
              <a:rPr lang="en-US" sz="2050" dirty="0">
                <a:solidFill>
                  <a:schemeClr val="tx1"/>
                </a:solidFill>
              </a:rPr>
              <a:t> มุมขวาบน · เลือกแล้วปิดเอง</a:t>
            </a:r>
            <a:endParaRPr lang="en-US" sz="2050" dirty="0"/>
          </a:p>
        </p:txBody>
      </p:sp>
      <p:sp>
        <p:nvSpPr>
          <p:cNvPr id="18" name="num-4"/>
          <p:cNvSpPr/>
          <p:nvPr/>
        </p:nvSpPr>
        <p:spPr>
          <a:xfrm>
            <a:off x="7680960" y="4064889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680960" y="40648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20" name="Text 15"/>
          <p:cNvSpPr txBox="1"/>
          <p:nvPr/>
        </p:nvSpPr>
        <p:spPr>
          <a:xfrm>
            <a:off x="8156448" y="4037457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แนบไฟล์เลือก “ถ่ายรูป” · เซ็นด้วยนิ้ว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5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ฟีเจอร์ใหม่ ฉบับ 1.1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ใบขอสั่งซื้อ (PR) · ฝ่ายจัดซื้อ · ค้นหาทั้งเว็บ · ผู้ปฏิบัติแทน</a:t>
            </a:r>
            <a:endParaRPr lang="en-US" sz="2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ใบขอสั่งซื้อ (PR): เซ็นชื่อทุกขั้น</a:t>
            </a:r>
            <a:endParaRPr lang="en-US" sz="4050" dirty="0"/>
          </a:p>
        </p:txBody>
      </p:sp>
      <p:sp>
        <p:nvSpPr>
          <p:cNvPr id="3" name="pr-step-0"/>
          <p:cNvSpPr/>
          <p:nvPr/>
        </p:nvSpPr>
        <p:spPr>
          <a:xfrm>
            <a:off x="457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0</a:t>
            </a:r>
            <a:endParaRPr lang="en-US" sz="2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ผู้ขอซื้อ</a:t>
            </a:r>
            <a:endParaRPr lang="en-US" sz="2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กรอก เลือกโครงการ เซ็น แล้วส่ง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9" name="pr-step-1"/>
          <p:cNvSpPr/>
          <p:nvPr/>
        </p:nvSpPr>
        <p:spPr>
          <a:xfrm>
            <a:off x="2743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1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ผู้ทบทวน</a:t>
            </a:r>
            <a:endParaRPr lang="en-US" sz="21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คนใดคนหนึ่งในฝ่ายที่กำหนด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15" name="pr-step-2"/>
          <p:cNvSpPr/>
          <p:nvPr/>
        </p:nvSpPr>
        <p:spPr>
          <a:xfrm>
            <a:off x="5029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2</a:t>
            </a:r>
            <a:endParaRPr lang="en-US" sz="24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ผู้อนุมัติ</a:t>
            </a:r>
            <a:endParaRPr lang="en-US" sz="215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ผจก.ฝ่าย / ผจก.โครงการ / ผู้รับผิดชอบโครงการ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21" name="pr-step-3"/>
          <p:cNvSpPr/>
          <p:nvPr/>
        </p:nvSpPr>
        <p:spPr>
          <a:xfrm>
            <a:off x="7315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1600200"/>
            <a:ext cx="548640" cy="548640"/>
          </a:xfrm>
          <a:prstGeom prst="ellipse">
            <a:avLst/>
          </a:prstGeom>
          <a:solidFill>
            <a:srgbClr val="8B96A3"/>
          </a:solidFill>
          <a:ln w="12700">
            <a:solidFill>
              <a:srgbClr val="8B96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2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3</a:t>
            </a:r>
            <a:endParaRPr lang="en-US" sz="245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ผู้อำนวยการโครงการ</a:t>
            </a:r>
            <a:endParaRPr lang="en-US" sz="215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ไม่บังคับ · กดข้ามได้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27" name="pr-step-4"/>
          <p:cNvSpPr/>
          <p:nvPr/>
        </p:nvSpPr>
        <p:spPr>
          <a:xfrm>
            <a:off x="9601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78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4</a:t>
            </a:r>
            <a:endParaRPr lang="en-US" sz="245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ฝ่ายจัดซื้อ</a:t>
            </a:r>
            <a:endParaRPr lang="en-US" sz="215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อัปเดตสถานะจนส่งของ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33" name="callout-note"/>
          <p:cNvSpPr/>
          <p:nvPr/>
        </p:nvSpPr>
        <p:spPr>
          <a:xfrm>
            <a:off x="457200" y="40690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" y="4069080"/>
            <a:ext cx="10945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b="1" dirty="0">
                <a:solidFill>
                  <a:schemeClr val="tx2"/>
                </a:solidFill>
              </a:rPr>
              <a:t>ไม่เกี่ยวกับโครงการ</a:t>
            </a:r>
            <a:r>
              <a:rPr lang="en-US" sz="1900" dirty="0">
                <a:solidFill>
                  <a:schemeClr val="tx1"/>
                </a:solidFill>
              </a:rPr>
              <a:t> → ผู้บังคับบัญชาของคุณอนุมัติ · </a:t>
            </a:r>
            <a:r>
              <a:rPr lang="en-US" sz="1900" b="1" dirty="0">
                <a:solidFill>
                  <a:schemeClr val="tx2"/>
                </a:solidFill>
              </a:rPr>
              <a:t>เลือกโครงการ</a:t>
            </a:r>
            <a:r>
              <a:rPr lang="en-US" sz="1900" dirty="0">
                <a:solidFill>
                  <a:schemeClr val="tx1"/>
                </a:solidFill>
              </a:rPr>
              <a:t> → ทีมโครงการอนุมัติ · ไม่ได้อยู่ในทีมโครงการ → เพิ่มผู้บังคับบัญชาให้ด้วย</a:t>
            </a:r>
            <a:endParaRPr lang="en-US" sz="1900" dirty="0"/>
          </a:p>
        </p:txBody>
      </p:sp>
      <p:sp>
        <p:nvSpPr>
          <p:cNvPr id="35" name="callout-warn"/>
          <p:cNvSpPr/>
          <p:nvPr/>
        </p:nvSpPr>
        <p:spPr>
          <a:xfrm>
            <a:off x="457200" y="52120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5212080"/>
            <a:ext cx="10945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r>
              <a:rPr lang="en-US" sz="1900" dirty="0">
                <a:solidFill>
                  <a:schemeClr val="tx1"/>
                </a:solidFill>
              </a:rPr>
              <a:t>ทุกขั้นต้อง </a:t>
            </a:r>
            <a:r>
              <a:rPr lang="en-US" sz="1900" b="1" dirty="0">
                <a:solidFill>
                  <a:schemeClr val="tx2"/>
                </a:solidFill>
              </a:rPr>
              <a:t>วาดหรืออัปโหลดลายเซ็น</a:t>
            </a:r>
            <a:r>
              <a:rPr lang="en-US" sz="1900" dirty="0">
                <a:solidFill>
                  <a:schemeClr val="tx1"/>
                </a:solidFill>
              </a:rPr>
              <a:t> ก่อนกดอนุมัติ — ลายเซ็นลงช่องของขั้นนั้นในใบขอสั่งซื้อ PDF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PR ผู้ยื่น: เลือกโครงการและเซ็นชื่อ</a:t>
            </a:r>
            <a:endParaRPr lang="en-US" sz="4050" dirty="0"/>
          </a:p>
        </p:txBody>
      </p:sp>
      <p:sp>
        <p:nvSpPr>
          <p:cNvPr id="3" name="frame-71-pr-project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1-pr-project" descr="71-pr-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ช่อง </a:t>
            </a:r>
            <a:r>
              <a:rPr lang="en-US" sz="2050" b="1" dirty="0">
                <a:solidFill>
                  <a:schemeClr val="tx2"/>
                </a:solidFill>
              </a:rPr>
              <a:t>โครงการ</a:t>
            </a:r>
            <a:r>
              <a:rPr lang="en-US" sz="2050" dirty="0">
                <a:solidFill>
                  <a:schemeClr val="tx1"/>
                </a:solidFill>
              </a:rPr>
              <a:t> พิมพ์ชื่อ/รหัสแล้ว</a:t>
            </a:r>
            <a:r>
              <a:rPr lang="en-US" sz="2050" b="1" dirty="0">
                <a:solidFill>
                  <a:schemeClr val="tx2"/>
                </a:solidFill>
              </a:rPr>
              <a:t>เลือกจากรายการ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ข้อความใต้ช่องบอกว่า </a:t>
            </a:r>
            <a:r>
              <a:rPr lang="en-US" sz="2050" b="1" dirty="0">
                <a:solidFill>
                  <a:schemeClr val="tx2"/>
                </a:solidFill>
              </a:rPr>
              <a:t>ใครจะอนุมัติ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309067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06324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กรอกรายการ เหตุผล แนบใบเสนอราคา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80015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80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72726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เซ็นในกรอบ </a:t>
            </a:r>
            <a:r>
              <a:rPr lang="en-US" sz="2050" b="1" dirty="0">
                <a:solidFill>
                  <a:schemeClr val="tx2"/>
                </a:solidFill>
              </a:rPr>
              <a:t>ลายเซ็นผู้ยื่น</a:t>
            </a:r>
            <a:r>
              <a:rPr lang="en-US" sz="2050" dirty="0">
                <a:solidFill>
                  <a:schemeClr val="tx1"/>
                </a:solidFill>
              </a:rPr>
              <a:t> (จำเป็น) แล้วกด </a:t>
            </a:r>
            <a:r>
              <a:rPr lang="en-US" sz="2050" b="1" dirty="0">
                <a:solidFill>
                  <a:schemeClr val="tx2"/>
                </a:solidFill>
              </a:rPr>
              <a:t>ส่งคำขอ</a:t>
            </a:r>
            <a:endParaRPr lang="en-US" sz="2050" dirty="0"/>
          </a:p>
        </p:txBody>
      </p:sp>
      <p:sp>
        <p:nvSpPr>
          <p:cNvPr id="17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ไม่ใช่งานโครงการ เลือก </a:t>
            </a:r>
            <a:r>
              <a:rPr lang="en-US" sz="1900" b="1" dirty="0">
                <a:solidFill>
                  <a:schemeClr val="tx2"/>
                </a:solidFill>
              </a:rPr>
              <a:t>“ไม่เกี่ยวกับโครงการ”</a:t>
            </a:r>
            <a:r>
              <a:rPr lang="en-US" sz="1900" dirty="0">
                <a:solidFill>
                  <a:schemeClr val="tx1"/>
                </a:solidFill>
              </a:rPr>
              <a:t> · พิมพ์ชื่อที่ไม่มีในระบบจะส่งไม่ได้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PR ผู้อนุมัติ: เซ็นแล้วกดอนุมัติ</a:t>
            </a:r>
            <a:endParaRPr lang="en-US" sz="4050" dirty="0"/>
          </a:p>
        </p:txBody>
      </p:sp>
      <p:sp>
        <p:nvSpPr>
          <p:cNvPr id="3" name="frame-73-pr-approve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3-pr-approve" descr="73-pr-appr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เซ็นในกรอบ </a:t>
            </a:r>
            <a:r>
              <a:rPr lang="en-US" sz="2050" b="1" dirty="0">
                <a:solidFill>
                  <a:schemeClr val="tx2"/>
                </a:solidFill>
              </a:rPr>
              <a:t>✍ ลายเซ็นผู้อนุมัติ </a:t>
            </a:r>
            <a:r>
              <a:rPr lang="en-US" sz="2050" dirty="0">
                <a:solidFill>
                  <a:schemeClr val="tx1"/>
                </a:solidFill>
              </a:rPr>
              <a:t>* ทุกขั้น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r>
              <a:rPr lang="en-US" sz="2050" b="1" dirty="0">
                <a:solidFill>
                  <a:schemeClr val="tx2"/>
                </a:solidFill>
              </a:rPr>
              <a:t>✓ อนุมัติ</a:t>
            </a:r>
            <a:r>
              <a:rPr lang="en-US" sz="2050" dirty="0">
                <a:solidFill>
                  <a:schemeClr val="tx1"/>
                </a:solidFill>
              </a:rPr>
              <a:t> · ส่งกลับ/ไม่อนุมัติไม่ต้องเซ็น แต่ต้องพิมพ์เหตุผล</a:t>
            </a:r>
            <a:endParaRPr lang="en-US" sz="2050" dirty="0"/>
          </a:p>
        </p:txBody>
      </p:sp>
      <p:sp>
        <p:nvSpPr>
          <p:cNvPr id="11" name="callout-warn"/>
          <p:cNvSpPr/>
          <p:nvPr/>
        </p:nvSpPr>
        <p:spPr>
          <a:xfrm>
            <a:off x="7132320" y="310896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10896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r>
              <a:rPr lang="en-US" sz="1900" dirty="0">
                <a:solidFill>
                  <a:schemeClr val="tx1"/>
                </a:solidFill>
              </a:rPr>
              <a:t>PR อนุมัติได้</a:t>
            </a:r>
            <a:r>
              <a:rPr lang="en-US" sz="1900" b="1" dirty="0">
                <a:solidFill>
                  <a:schemeClr val="tx2"/>
                </a:solidFill>
              </a:rPr>
              <a:t>ในเว็บเท่านั้น</a:t>
            </a:r>
            <a:r>
              <a:rPr lang="en-US" sz="1900" dirty="0">
                <a:solidFill>
                  <a:schemeClr val="tx1"/>
                </a:solidFill>
              </a:rPr>
              <a:t> — อีเมล/Teams ส่งลิงก์ “เปิดคำขอเพื่อเซ็นและอนุมัติ” (ไม่มีปุ่มอนุมัติในการ์ด)</a:t>
            </a:r>
            <a:endParaRPr lang="en-US" sz="19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526280"/>
            <a:ext cx="4617720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526280"/>
            <a:ext cx="4288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ผู้อำนวยการโครงการมีปุ่ม </a:t>
            </a:r>
            <a:r>
              <a:rPr lang="en-US" sz="1900" b="1" dirty="0">
                <a:solidFill>
                  <a:schemeClr val="tx2"/>
                </a:solidFill>
              </a:rPr>
              <a:t>⏭ ข้ามขั้นนี้</a:t>
            </a:r>
            <a:r>
              <a:rPr lang="en-US" sz="1900" dirty="0">
                <a:solidFill>
                  <a:schemeClr val="tx1"/>
                </a:solidFill>
              </a:rPr>
              <a:t> · มีคนอนุมัติไปก่อน ปุ่มจะหายและบอกว่าใครอนุมัติ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ฝ่ายจัดซื้อ: อัปเดตสถานะแทนปุ่มอนุมัติ</a:t>
            </a:r>
            <a:endParaRPr lang="en-US" sz="4050" dirty="0"/>
          </a:p>
        </p:txBody>
      </p:sp>
      <p:sp>
        <p:nvSpPr>
          <p:cNvPr id="3" name="frame-74-pr-purchase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4-pr-purchase" descr="74-pr-purch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รอขั้นไม่บังคับอยู่ → </a:t>
            </a:r>
            <a:r>
              <a:rPr lang="en-US" sz="1900" b="1" dirty="0">
                <a:solidFill>
                  <a:schemeClr val="tx2"/>
                </a:solidFill>
              </a:rPr>
              <a:t>เริ่มงานได้เลย</a:t>
            </a:r>
            <a:r>
              <a:rPr lang="en-US" sz="1900" dirty="0">
                <a:solidFill>
                  <a:schemeClr val="tx1"/>
                </a:solidFill>
              </a:rPr>
              <a:t> ระบบข้ามให้</a:t>
            </a:r>
            <a:endParaRPr lang="en-US" sz="1900" dirty="0"/>
          </a:p>
        </p:txBody>
      </p:sp>
      <p:sp>
        <p:nvSpPr>
          <p:cNvPr id="8" name="num-2"/>
          <p:cNvSpPr/>
          <p:nvPr/>
        </p:nvSpPr>
        <p:spPr>
          <a:xfrm>
            <a:off x="7132320" y="22400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400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12594"/>
            <a:ext cx="41422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เลือก </a:t>
            </a:r>
            <a:r>
              <a:rPr lang="en-US" sz="1900" b="1" dirty="0">
                <a:solidFill>
                  <a:schemeClr val="tx2"/>
                </a:solidFill>
              </a:rPr>
              <a:t>สถานะ</a:t>
            </a:r>
            <a:r>
              <a:rPr lang="en-US" sz="1900" dirty="0">
                <a:solidFill>
                  <a:schemeClr val="tx1"/>
                </a:solidFill>
              </a:rPr>
              <a:t>: เบิก Store · รับ PR · รับใบเสนอราคา · ออก PO แล้ว · ส่ง Sup แล้ว</a:t>
            </a:r>
            <a:endParaRPr lang="en-US" sz="1900" dirty="0"/>
          </a:p>
        </p:txBody>
      </p:sp>
      <p:sp>
        <p:nvSpPr>
          <p:cNvPr id="11" name="num-3"/>
          <p:cNvSpPr/>
          <p:nvPr/>
        </p:nvSpPr>
        <p:spPr>
          <a:xfrm>
            <a:off x="7132320" y="30810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081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053588"/>
            <a:ext cx="4142232" cy="41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เซ็นครั้งแรกครั้งเดียว</a:t>
            </a:r>
            <a:r>
              <a:rPr lang="en-US" sz="1900" dirty="0">
                <a:solidFill>
                  <a:schemeClr val="tx1"/>
                </a:solidFill>
              </a:rPr>
              <a:t> ลงช่องฝ่ายจัดซื้อ</a:t>
            </a:r>
            <a:endParaRPr lang="en-US" sz="1900" dirty="0"/>
          </a:p>
        </p:txBody>
      </p:sp>
      <p:sp>
        <p:nvSpPr>
          <p:cNvPr id="14" name="num-4"/>
          <p:cNvSpPr/>
          <p:nvPr/>
        </p:nvSpPr>
        <p:spPr>
          <a:xfrm>
            <a:off x="7132320" y="362038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6203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592957"/>
            <a:ext cx="4142232" cy="41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 </a:t>
            </a:r>
            <a:r>
              <a:rPr lang="en-US" sz="1900" b="1" dirty="0">
                <a:solidFill>
                  <a:schemeClr val="tx2"/>
                </a:solidFill>
              </a:rPr>
              <a:t>บันทึกสถานะ</a:t>
            </a:r>
            <a:r>
              <a:rPr lang="en-US" sz="1900" dirty="0">
                <a:solidFill>
                  <a:schemeClr val="tx1"/>
                </a:solidFill>
              </a:rPr>
              <a:t> · อัปเดตซ้ำได้</a:t>
            </a:r>
            <a:endParaRPr lang="en-US" sz="1900" dirty="0"/>
          </a:p>
        </p:txBody>
      </p:sp>
      <p:sp>
        <p:nvSpPr>
          <p:cNvPr id="17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ได้รับแจ้ง </a:t>
            </a:r>
            <a:r>
              <a:rPr lang="en-US" sz="1900" b="1" dirty="0">
                <a:solidFill>
                  <a:schemeClr val="tx2"/>
                </a:solidFill>
              </a:rPr>
              <a:t>ตั้งแต่ผู้ยื่นกดส่ง</a:t>
            </a:r>
            <a:r>
              <a:rPr lang="en-US" sz="1900" dirty="0">
                <a:solidFill>
                  <a:schemeClr val="tx1"/>
                </a:solidFill>
              </a:rPr>
              <a:t> (ดูอย่างเดียว) และอีกครั้งเมื่อ </a:t>
            </a:r>
            <a:r>
              <a:rPr lang="en-US" sz="1900" b="1" dirty="0">
                <a:solidFill>
                  <a:schemeClr val="tx2"/>
                </a:solidFill>
              </a:rPr>
              <a:t>ถึงคิวคุณ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ปิดงานจัดซื้อ: ส่งของแล้ว / Cancel</a:t>
            </a:r>
            <a:endParaRPr lang="en-US" sz="4050" dirty="0"/>
          </a:p>
        </p:txBody>
      </p:sp>
      <p:sp>
        <p:nvSpPr>
          <p:cNvPr id="3" name="frame-75-pr-timeline"/>
          <p:cNvSpPr/>
          <p:nvPr/>
        </p:nvSpPr>
        <p:spPr>
          <a:xfrm>
            <a:off x="496627" y="1197864"/>
            <a:ext cx="321298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5-pr-timeline" descr="75-pr-tim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03" y="1234440"/>
            <a:ext cx="3139834" cy="4983480"/>
          </a:xfrm>
          <a:prstGeom prst="rect">
            <a:avLst/>
          </a:prstGeom>
        </p:spPr>
      </p:pic>
      <p:sp>
        <p:nvSpPr>
          <p:cNvPr id="5" name="frame-76-pr-done-box"/>
          <p:cNvSpPr/>
          <p:nvPr/>
        </p:nvSpPr>
        <p:spPr>
          <a:xfrm>
            <a:off x="4054785" y="1197864"/>
            <a:ext cx="7709549" cy="30449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76-pr-done-box" descr="76-pr-done-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361" y="1234440"/>
            <a:ext cx="7636397" cy="2971800"/>
          </a:xfrm>
          <a:prstGeom prst="rect">
            <a:avLst/>
          </a:prstGeom>
        </p:spPr>
      </p:pic>
      <p:sp>
        <p:nvSpPr>
          <p:cNvPr id="7" name="callout-warn"/>
          <p:cNvSpPr/>
          <p:nvPr/>
        </p:nvSpPr>
        <p:spPr>
          <a:xfrm>
            <a:off x="4069080" y="443484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233672" y="4434840"/>
            <a:ext cx="7351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r>
              <a:rPr lang="en-US" sz="1900" b="1" dirty="0">
                <a:solidFill>
                  <a:schemeClr val="tx2"/>
                </a:solidFill>
              </a:rPr>
              <a:t>ส่งของแล้ว</a:t>
            </a:r>
            <a:r>
              <a:rPr lang="en-US" sz="1900" dirty="0">
                <a:solidFill>
                  <a:schemeClr val="tx1"/>
                </a:solidFill>
              </a:rPr>
              <a:t> = ปิดคำขอเป็น </a:t>
            </a:r>
            <a:r>
              <a:rPr lang="en-US" sz="1900" b="1" dirty="0">
                <a:solidFill>
                  <a:schemeClr val="tx2"/>
                </a:solidFill>
              </a:rPr>
              <a:t>เสร็จสิ้น</a:t>
            </a:r>
            <a:r>
              <a:rPr lang="en-US" sz="1900" dirty="0">
                <a:solidFill>
                  <a:schemeClr val="tx1"/>
                </a:solidFill>
              </a:rPr>
              <a:t> · </a:t>
            </a:r>
            <a:r>
              <a:rPr lang="en-US" sz="1900" b="1" dirty="0">
                <a:solidFill>
                  <a:schemeClr val="tx2"/>
                </a:solidFill>
              </a:rPr>
              <a:t>Cancel</a:t>
            </a:r>
            <a:r>
              <a:rPr lang="en-US" sz="1900" dirty="0">
                <a:solidFill>
                  <a:schemeClr val="tx1"/>
                </a:solidFill>
              </a:rPr>
              <a:t> = ปิดเป็นยกเลิก · ระบบถามยืนยันก่อน แก้ไขต่อไม่ได้</a:t>
            </a:r>
            <a:endParaRPr lang="en-US" sz="1900" dirty="0"/>
          </a:p>
        </p:txBody>
      </p:sp>
      <p:sp>
        <p:nvSpPr>
          <p:cNvPr id="9" name="callout-note"/>
          <p:cNvSpPr/>
          <p:nvPr/>
        </p:nvSpPr>
        <p:spPr>
          <a:xfrm>
            <a:off x="4069080" y="544068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233672" y="5440680"/>
            <a:ext cx="7351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ผู้ยื่นเห็นสถานะจัดซื้อทุกครั้งเป็น </a:t>
            </a:r>
            <a:r>
              <a:rPr lang="en-US" sz="1900" b="1" dirty="0">
                <a:solidFill>
                  <a:schemeClr val="tx2"/>
                </a:solidFill>
              </a:rPr>
              <a:t>กรอบสีฟ้า</a:t>
            </a:r>
            <a:r>
              <a:rPr lang="en-US" sz="1900" dirty="0">
                <a:solidFill>
                  <a:schemeClr val="tx1"/>
                </a:solidFill>
              </a:rPr>
              <a:t> ในเส้นทางอนุมัติ (ภาพซ้าย)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ค้นหาทั้งเว็บ</a:t>
            </a:r>
            <a:endParaRPr lang="en-US" sz="4050" dirty="0"/>
          </a:p>
        </p:txBody>
      </p:sp>
      <p:sp>
        <p:nvSpPr>
          <p:cNvPr id="3" name="frame-70-search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0-search" descr="70-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ช่อง </a:t>
            </a:r>
            <a:r>
              <a:rPr lang="en-US" sz="2050" b="1" dirty="0">
                <a:solidFill>
                  <a:schemeClr val="tx2"/>
                </a:solidFill>
              </a:rPr>
              <a:t>ค้นหาทั้งเว็บ</a:t>
            </a:r>
            <a:r>
              <a:rPr lang="en-US" sz="2050" dirty="0">
                <a:solidFill>
                  <a:schemeClr val="tx1"/>
                </a:solidFill>
              </a:rPr>
              <a:t> แถบบน หรือกดปุ่ม </a:t>
            </a:r>
            <a:r>
              <a:rPr lang="en-US" sz="2050" b="1" dirty="0">
                <a:solidFill>
                  <a:schemeClr val="tx2"/>
                </a:solidFill>
              </a:rPr>
              <a:t>/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ผลแยกหมวด: บุคลากร · แบบฟอร์ม · นโยบาย · เอกสาร · โครงการ · คำขอ</a:t>
            </a:r>
            <a:endParaRPr lang="en-US" sz="2050" dirty="0"/>
          </a:p>
        </p:txBody>
      </p:sp>
      <p:sp>
        <p:nvSpPr>
          <p:cNvPr id="11" name="callout-tip"/>
          <p:cNvSpPr/>
          <p:nvPr/>
        </p:nvSpPr>
        <p:spPr>
          <a:xfrm>
            <a:off x="7132320" y="329184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29184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ค้นได้ทั้งชื่อเล่น เบอร์ต่อ รหัสแบบฟอร์ม เลขที่คำขอ · พิมพ์หลายคำเพื่อให้แคบลง</a:t>
            </a:r>
            <a:endParaRPr lang="en-US" sz="19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709160"/>
            <a:ext cx="4288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กดชื่อคนเพื่อดูการ์ดข้อมูลติดต่อทันที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ผู้ปฏิบัติแทนช่วงลา · ผู้บริหารดูคำขอ</a:t>
            </a:r>
            <a:endParaRPr lang="en-US" sz="4050" dirty="0"/>
          </a:p>
        </p:txBody>
      </p:sp>
      <p:sp>
        <p:nvSpPr>
          <p:cNvPr id="3" name="frame-77-delegate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7-delegate" descr="77-deleg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ไม่อยู่ตั้งแต่วันที่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ถึงวันที่</a:t>
            </a:r>
            <a:r>
              <a:rPr lang="en-US" sz="2050" dirty="0">
                <a:solidFill>
                  <a:schemeClr val="tx1"/>
                </a:solidFill>
              </a:rPr>
              <a:t> (ว่าง = วันเดียว)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497963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ผู้ปฏิบัติแทน — คำขอช่วงนั้นไปหาคนนี้อัตโนมัติ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7132320" y="333756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96912" y="3337560"/>
            <a:ext cx="4288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จะลา แจ้ง </a:t>
            </a:r>
            <a:r>
              <a:rPr lang="en-US" sz="1900" b="1" dirty="0">
                <a:solidFill>
                  <a:schemeClr val="tx2"/>
                </a:solidFill>
              </a:rPr>
              <a:t>HR / ผู้ดูแลระบบ</a:t>
            </a:r>
            <a:r>
              <a:rPr lang="en-US" sz="1900" dirty="0">
                <a:solidFill>
                  <a:schemeClr val="tx1"/>
                </a:solidFill>
              </a:rPr>
              <a:t> ให้ตั้งค่าในทะเบียนบุคลากร</a:t>
            </a:r>
            <a:endParaRPr lang="en-US" sz="1900" dirty="0"/>
          </a:p>
        </p:txBody>
      </p:sp>
      <p:sp>
        <p:nvSpPr>
          <p:cNvPr id="16" name="callout-note"/>
          <p:cNvSpPr/>
          <p:nvPr/>
        </p:nvSpPr>
        <p:spPr>
          <a:xfrm>
            <a:off x="7132320" y="45262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96912" y="45262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b="1" dirty="0">
                <a:solidFill>
                  <a:schemeClr val="tx2"/>
                </a:solidFill>
              </a:rPr>
              <a:t>ผู้บริหาร</a:t>
            </a:r>
            <a:r>
              <a:rPr lang="en-US" sz="1900" dirty="0">
                <a:solidFill>
                  <a:schemeClr val="tx1"/>
                </a:solidFill>
              </a:rPr>
              <a:t> เห็นคำขอทุกใบ (ดูอย่างเดียว) อนุมัติได้เฉพาะใบที่มีชื่ออยู่ในเส้นทาง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6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ฟีเจอร์ใหม่ ฉบับ 1.2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ตัวกรองสถานะ · ทะเบียน/Excel · เลข PR อัตโนมัติ · งาน O&amp;M · Messenger · จองรถ · แจ้งซ่อม</a:t>
            </a:r>
            <a:endParaRPr lang="en-US" sz="2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มีอะไรใหม่ในฉบับ 1.2</a:t>
            </a:r>
            <a:endParaRPr lang="en-US" sz="4050" dirty="0"/>
          </a:p>
        </p:txBody>
      </p:sp>
      <p:sp>
        <p:nvSpPr>
          <p:cNvPr id="3" name="new12-0"/>
          <p:cNvSpPr/>
          <p:nvPr/>
        </p:nvSpPr>
        <p:spPr>
          <a:xfrm>
            <a:off x="45720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🔎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ตัวกรองสถานะ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กรองตามสถานะ · ตัวเลขแดงบอกจำนวนรออนุมัติ</a:t>
            </a:r>
            <a:endParaRPr lang="en-US" sz="1750" dirty="0"/>
          </a:p>
        </p:txBody>
      </p:sp>
      <p:sp>
        <p:nvSpPr>
          <p:cNvPr id="7" name="new12-1"/>
          <p:cNvSpPr/>
          <p:nvPr/>
        </p:nvSpPr>
        <p:spPr>
          <a:xfrm>
            <a:off x="329184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📋</a:t>
            </a:r>
            <a:endParaRPr lang="en-US" sz="3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ทะเบียนคำขอ + Excel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ทุกแบบฟอร์ม กรองวัน/เดือน/ปี แล้วส่งออก</a:t>
            </a:r>
            <a:endParaRPr lang="en-US" sz="1750" dirty="0"/>
          </a:p>
        </p:txBody>
      </p:sp>
      <p:sp>
        <p:nvSpPr>
          <p:cNvPr id="11" name="new12-2"/>
          <p:cNvSpPr/>
          <p:nvPr/>
        </p:nvSpPr>
        <p:spPr>
          <a:xfrm>
            <a:off x="612648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🛒</a:t>
            </a:r>
            <a:endParaRPr lang="en-US" sz="3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ใบขอสั่งซื้อ</a:t>
            </a:r>
            <a:endParaRPr lang="en-US" sz="22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เลข PR อัตโนมัติ · ต้องเซ็นก่อนอนุมัติ</a:t>
            </a:r>
            <a:endParaRPr lang="en-US" sz="1750" dirty="0"/>
          </a:p>
        </p:txBody>
      </p:sp>
      <p:sp>
        <p:nvSpPr>
          <p:cNvPr id="15" name="new12-3"/>
          <p:cNvSpPr/>
          <p:nvPr/>
        </p:nvSpPr>
        <p:spPr>
          <a:xfrm>
            <a:off x="896112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🔧</a:t>
            </a:r>
            <a:endParaRPr lang="en-US" sz="35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งาน O&amp;M</a:t>
            </a:r>
            <a:endParaRPr lang="en-US" sz="225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เลือกโครงการ O&amp;M หรือเพิ่มเองได้</a:t>
            </a:r>
            <a:endParaRPr lang="en-US" sz="1750" dirty="0"/>
          </a:p>
        </p:txBody>
      </p:sp>
      <p:sp>
        <p:nvSpPr>
          <p:cNvPr id="19" name="new12-4"/>
          <p:cNvSpPr/>
          <p:nvPr/>
        </p:nvSpPr>
        <p:spPr>
          <a:xfrm>
            <a:off x="45720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🏍</a:t>
            </a:r>
            <a:endParaRPr lang="en-US" sz="3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คิว Messenger</a:t>
            </a:r>
            <a:endParaRPr lang="en-US" sz="2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ทุกสถานะเป็นสี · จองทับได้ (สีม่วง)</a:t>
            </a:r>
            <a:endParaRPr lang="en-US" sz="1750" dirty="0"/>
          </a:p>
        </p:txBody>
      </p:sp>
      <p:sp>
        <p:nvSpPr>
          <p:cNvPr id="23" name="new12-5"/>
          <p:cNvSpPr/>
          <p:nvPr/>
        </p:nvSpPr>
        <p:spPr>
          <a:xfrm>
            <a:off x="329184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🚗</a:t>
            </a:r>
            <a:endParaRPr lang="en-US" sz="35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จองรถยนต์บริษัทฯ</a:t>
            </a:r>
            <a:endParaRPr lang="en-US" sz="225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ปฏิทินรถ · เลือกทะเบียน · คืนรถ</a:t>
            </a:r>
            <a:endParaRPr lang="en-US" sz="1750" dirty="0"/>
          </a:p>
        </p:txBody>
      </p:sp>
      <p:sp>
        <p:nvSpPr>
          <p:cNvPr id="27" name="new12-6"/>
          <p:cNvSpPr/>
          <p:nvPr/>
        </p:nvSpPr>
        <p:spPr>
          <a:xfrm>
            <a:off x="612648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🛠</a:t>
            </a:r>
            <a:endParaRPr lang="en-US" sz="35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แจ้งซ่อม</a:t>
            </a:r>
            <a:endParaRPr lang="en-US" sz="225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ส่งให้ฝ่ายตามประเภทงานซ่อมอัตโนมัติ</a:t>
            </a:r>
            <a:endParaRPr lang="en-US" sz="1750" dirty="0"/>
          </a:p>
        </p:txBody>
      </p:sp>
      <p:sp>
        <p:nvSpPr>
          <p:cNvPr id="31" name="new12-7"/>
          <p:cNvSpPr/>
          <p:nvPr/>
        </p:nvSpPr>
        <p:spPr>
          <a:xfrm>
            <a:off x="896112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897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🖼</a:t>
            </a:r>
            <a:endParaRPr lang="en-US" sz="35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ปฏิทินเต็มจอ + PNG</a:t>
            </a:r>
            <a:endParaRPr lang="en-US" sz="225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แนวตั้ง 1080×1920 · แนวนอน 1920×1080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ติดตามสถานะ: กรองตามสถานะ</a:t>
            </a:r>
            <a:endParaRPr lang="en-US" sz="4050" dirty="0"/>
          </a:p>
        </p:txBody>
      </p:sp>
      <p:sp>
        <p:nvSpPr>
          <p:cNvPr id="3" name="frame-81-track-filters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1-track-filters" descr="81-track-fil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เลือก</a:t>
            </a:r>
            <a:r>
              <a:rPr lang="en-US" sz="1950" b="1" dirty="0">
                <a:solidFill>
                  <a:schemeClr val="tx2"/>
                </a:solidFill>
              </a:rPr>
              <a:t>แถบแบบฟอร์ม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194633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94633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1918907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กด</a:t>
            </a:r>
            <a:r>
              <a:rPr lang="en-US" sz="1950" b="1" dirty="0">
                <a:solidFill>
                  <a:schemeClr val="tx2"/>
                </a:solidFill>
              </a:rPr>
              <a:t>สถานะ</a:t>
            </a:r>
            <a:r>
              <a:rPr lang="en-US" sz="1950" dirty="0">
                <a:solidFill>
                  <a:schemeClr val="tx1"/>
                </a:solidFill>
              </a:rPr>
              <a:t>ที่ต้องการ (มีจำนวนกำกับ)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49364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4936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466213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ปุ่ม </a:t>
            </a:r>
            <a:r>
              <a:rPr lang="en-US" sz="1950" b="1" dirty="0">
                <a:solidFill>
                  <a:schemeClr val="tx2"/>
                </a:solidFill>
              </a:rPr>
              <a:t>รออนุมัติ</a:t>
            </a:r>
            <a:r>
              <a:rPr lang="en-US" sz="1950" dirty="0">
                <a:solidFill>
                  <a:schemeClr val="tx1"/>
                </a:solidFill>
              </a:rPr>
              <a:t> มีตัวเลขแดง = จำนวนที่ยังรอ</a:t>
            </a:r>
            <a:endParaRPr lang="en-US" sz="1950" dirty="0"/>
          </a:p>
        </p:txBody>
      </p:sp>
      <p:sp>
        <p:nvSpPr>
          <p:cNvPr id="14" name="num-4"/>
          <p:cNvSpPr/>
          <p:nvPr/>
        </p:nvSpPr>
        <p:spPr>
          <a:xfrm>
            <a:off x="7589520" y="33505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3505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3323082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📋 ทะเบียนคำขอ · ส่งออก Excel</a:t>
            </a:r>
            <a:endParaRPr lang="en-US" sz="1950" dirty="0"/>
          </a:p>
        </p:txBody>
      </p:sp>
      <p:sp>
        <p:nvSpPr>
          <p:cNvPr id="17" name="callout-tip"/>
          <p:cNvSpPr/>
          <p:nvPr/>
        </p:nvSpPr>
        <p:spPr>
          <a:xfrm>
            <a:off x="7589520" y="466344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54112" y="4663440"/>
            <a:ext cx="38313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สถานะที่เลือกคงอยู่เมื่อเปลี่ยนแบบฟอร์ม · กด </a:t>
            </a:r>
            <a:r>
              <a:rPr lang="en-US" sz="1900" b="1" dirty="0">
                <a:solidFill>
                  <a:schemeClr val="tx2"/>
                </a:solidFill>
              </a:rPr>
              <a:t>ทั้งหมด</a:t>
            </a:r>
            <a:r>
              <a:rPr lang="en-US" sz="1900" dirty="0">
                <a:solidFill>
                  <a:schemeClr val="tx1"/>
                </a:solidFill>
              </a:rPr>
              <a:t> เพื่อเลิกกรอง · </a:t>
            </a:r>
            <a:r>
              <a:rPr lang="en-US" sz="1900" b="1" dirty="0">
                <a:solidFill>
                  <a:schemeClr val="tx2"/>
                </a:solidFill>
              </a:rPr>
              <a:t>ยกเลิก/Cancel</a:t>
            </a:r>
            <a:r>
              <a:rPr lang="en-US" sz="1900" dirty="0">
                <a:solidFill>
                  <a:schemeClr val="tx1"/>
                </a:solidFill>
              </a:rPr>
              <a:t> เป็นสีแดง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ทะเบียนคำขอของแต่ละฟอร์ม + ส่งออก Excel</a:t>
            </a:r>
            <a:endParaRPr lang="en-US" sz="4050" dirty="0"/>
          </a:p>
        </p:txBody>
      </p:sp>
      <p:sp>
        <p:nvSpPr>
          <p:cNvPr id="3" name="frame-84-form-register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4-form-register" descr="84-form-regi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กรองช่วงเวลา </a:t>
            </a:r>
            <a:r>
              <a:rPr lang="en-US" sz="1950" b="1" dirty="0">
                <a:solidFill>
                  <a:schemeClr val="tx2"/>
                </a:solidFill>
              </a:rPr>
              <a:t>วัน / เดือน / ปี / ทั้งหมด</a:t>
            </a:r>
            <a:r>
              <a:rPr lang="en-US" sz="1950" dirty="0">
                <a:solidFill>
                  <a:schemeClr val="tx1"/>
                </a:solidFill>
              </a:rPr>
              <a:t> · สถานะ · โครงการ · ค้นหา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225590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2559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228469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กด </a:t>
            </a:r>
            <a:r>
              <a:rPr lang="en-US" sz="1950" b="1" dirty="0">
                <a:solidFill>
                  <a:schemeClr val="tx2"/>
                </a:solidFill>
              </a:rPr>
              <a:t>⬇ ส่งออก Excel</a:t>
            </a:r>
            <a:r>
              <a:rPr lang="en-US" sz="1950" dirty="0">
                <a:solidFill>
                  <a:schemeClr val="tx1"/>
                </a:solidFill>
              </a:rPr>
              <a:t> (ตามตัวกรอง)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8032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80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775776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ตรวจในตาราง กดเลขที่เพื่อเปิดคำขอ</a:t>
            </a:r>
            <a:endParaRPr lang="en-US" sz="1950" dirty="0"/>
          </a:p>
        </p:txBody>
      </p:sp>
      <p:sp>
        <p:nvSpPr>
          <p:cNvPr id="14" name="callout-note"/>
          <p:cNvSpPr/>
          <p:nvPr/>
        </p:nvSpPr>
        <p:spPr>
          <a:xfrm>
            <a:off x="7589520" y="37490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374904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Excel </a:t>
            </a:r>
            <a:r>
              <a:rPr lang="en-US" sz="1900" b="1" dirty="0">
                <a:solidFill>
                  <a:schemeClr val="tx2"/>
                </a:solidFill>
              </a:rPr>
              <a:t>1 แถว = 1 คำขอ</a:t>
            </a:r>
            <a:r>
              <a:rPr lang="en-US" sz="1900" dirty="0">
                <a:solidFill>
                  <a:schemeClr val="tx1"/>
                </a:solidFill>
              </a:rPr>
              <a:t> · ทุกช่องในฟอร์ม · วันที่/ตัวเลขรวมยอดได้</a:t>
            </a:r>
            <a:endParaRPr lang="en-US" sz="1900" dirty="0"/>
          </a:p>
        </p:txBody>
      </p:sp>
      <p:sp>
        <p:nvSpPr>
          <p:cNvPr id="16" name="callout-tip"/>
          <p:cNvSpPr/>
          <p:nvPr/>
        </p:nvSpPr>
        <p:spPr>
          <a:xfrm>
            <a:off x="7589520" y="49834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4983480"/>
            <a:ext cx="3831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ฝ่ายบัญชีฯ เห็นคำขอ</a:t>
            </a:r>
            <a:r>
              <a:rPr lang="en-US" sz="1900" b="1" dirty="0">
                <a:solidFill>
                  <a:schemeClr val="tx2"/>
                </a:solidFill>
              </a:rPr>
              <a:t>เบิกเงินทุกใบ</a:t>
            </a:r>
            <a:r>
              <a:rPr lang="en-US" sz="1900" dirty="0">
                <a:solidFill>
                  <a:schemeClr val="tx1"/>
                </a:solidFill>
              </a:rPr>
              <a:t> — ดูอย่างเดียวถ้าไม่ได้อยู่ในเส้นทาง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ใบขอสั่งซื้อ: เลข PR อัตโนมัติ</a:t>
            </a:r>
            <a:endParaRPr lang="en-US" sz="4050" dirty="0"/>
          </a:p>
        </p:txBody>
      </p:sp>
      <p:sp>
        <p:nvSpPr>
          <p:cNvPr id="3" name="frame-85-pr-detail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5-pr-detail" descr="85-pr-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prno-0"/>
          <p:cNvSpPr/>
          <p:nvPr/>
        </p:nvSpPr>
        <p:spPr>
          <a:xfrm>
            <a:off x="7589520" y="1371600"/>
            <a:ext cx="960120" cy="123444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7160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PR</a:t>
            </a:r>
            <a:endParaRPr lang="en-US" sz="27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9E4F2"/>
                </a:solidFill>
              </a:rPr>
              <a:t>ใบขอสั่งซื้อ</a:t>
            </a:r>
            <a:endParaRPr lang="en-US" sz="2700" dirty="0"/>
          </a:p>
        </p:txBody>
      </p:sp>
      <p:sp>
        <p:nvSpPr>
          <p:cNvPr id="7" name="prno-1"/>
          <p:cNvSpPr/>
          <p:nvPr/>
        </p:nvSpPr>
        <p:spPr>
          <a:xfrm>
            <a:off x="8641080" y="1371600"/>
            <a:ext cx="960120" cy="123444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137160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26</a:t>
            </a:r>
            <a:endParaRPr lang="en-US" sz="27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9E4F2"/>
                </a:solidFill>
              </a:rPr>
              <a:t>ปี ค.ศ.</a:t>
            </a:r>
            <a:endParaRPr lang="en-US" sz="2700" dirty="0"/>
          </a:p>
        </p:txBody>
      </p:sp>
      <p:sp>
        <p:nvSpPr>
          <p:cNvPr id="9" name="prno-2"/>
          <p:cNvSpPr/>
          <p:nvPr/>
        </p:nvSpPr>
        <p:spPr>
          <a:xfrm>
            <a:off x="9692640" y="1371600"/>
            <a:ext cx="960120" cy="123444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37160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10</a:t>
            </a:r>
            <a:endParaRPr lang="en-US" sz="27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9E4F2"/>
                </a:solidFill>
              </a:rPr>
              <a:t>เดือน</a:t>
            </a:r>
            <a:endParaRPr lang="en-US" sz="2700" dirty="0"/>
          </a:p>
        </p:txBody>
      </p:sp>
      <p:sp>
        <p:nvSpPr>
          <p:cNvPr id="11" name="prno-3"/>
          <p:cNvSpPr/>
          <p:nvPr/>
        </p:nvSpPr>
        <p:spPr>
          <a:xfrm>
            <a:off x="10744200" y="1371600"/>
            <a:ext cx="960120" cy="123444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744200" y="137160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175</a:t>
            </a:r>
            <a:endParaRPr lang="en-US" sz="27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9E4F2"/>
                </a:solidFill>
              </a:rPr>
              <a:t>ลำดับในเดือน</a:t>
            </a:r>
            <a:endParaRPr lang="en-US" sz="2700" dirty="0"/>
          </a:p>
        </p:txBody>
      </p:sp>
      <p:sp>
        <p:nvSpPr>
          <p:cNvPr id="13" name="num-1"/>
          <p:cNvSpPr/>
          <p:nvPr/>
        </p:nvSpPr>
        <p:spPr>
          <a:xfrm>
            <a:off x="7589520" y="290779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15" name="Text 12"/>
          <p:cNvSpPr txBox="1"/>
          <p:nvPr/>
        </p:nvSpPr>
        <p:spPr>
          <a:xfrm>
            <a:off x="8065008" y="2880360"/>
            <a:ext cx="3685032" cy="41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ออกให้ทันทีที่ผู้ยื่นกด</a:t>
            </a:r>
            <a:r>
              <a:rPr lang="en-US" sz="1900" b="1" dirty="0">
                <a:solidFill>
                  <a:schemeClr val="tx2"/>
                </a:solidFill>
              </a:rPr>
              <a:t>ส่งคำขอ</a:t>
            </a:r>
            <a:endParaRPr lang="en-US" sz="1900" dirty="0"/>
          </a:p>
        </p:txBody>
      </p:sp>
      <p:sp>
        <p:nvSpPr>
          <p:cNvPr id="16" name="num-2"/>
          <p:cNvSpPr/>
          <p:nvPr/>
        </p:nvSpPr>
        <p:spPr>
          <a:xfrm>
            <a:off x="7589520" y="344716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34471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8" name="Text 15"/>
          <p:cNvSpPr txBox="1"/>
          <p:nvPr/>
        </p:nvSpPr>
        <p:spPr>
          <a:xfrm>
            <a:off x="8065008" y="3419729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ขึ้นเดือนใหม่เริ่ม 001</a:t>
            </a:r>
            <a:r>
              <a:rPr lang="en-US" sz="1900" dirty="0">
                <a:solidFill>
                  <a:schemeClr val="tx1"/>
                </a:solidFill>
              </a:rPr>
              <a:t> เช่น PR2611001</a:t>
            </a:r>
            <a:endParaRPr lang="en-US" sz="1900" dirty="0"/>
          </a:p>
        </p:txBody>
      </p:sp>
      <p:sp>
        <p:nvSpPr>
          <p:cNvPr id="19" name="num-3"/>
          <p:cNvSpPr/>
          <p:nvPr/>
        </p:nvSpPr>
        <p:spPr>
          <a:xfrm>
            <a:off x="7589520" y="4288155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0" y="42881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21" name="Text 18"/>
          <p:cNvSpPr txBox="1"/>
          <p:nvPr/>
        </p:nvSpPr>
        <p:spPr>
          <a:xfrm>
            <a:off x="8065008" y="4260723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ฝ่ายจัดซื้อแก้เลข/วันที่ได้ (ห้ามซ้ำ)</a:t>
            </a:r>
            <a:endParaRPr lang="en-US" sz="1900" dirty="0"/>
          </a:p>
        </p:txBody>
      </p:sp>
      <p:sp>
        <p:nvSpPr>
          <p:cNvPr id="22" name="callout-note"/>
          <p:cNvSpPr/>
          <p:nvPr/>
        </p:nvSpPr>
        <p:spPr>
          <a:xfrm>
            <a:off x="7589520" y="49377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54112" y="4937760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ภาพ: ① เลข PR · ② ขั้นผู้ทบทวนไม่แสดงรายชื่อ · ③ ขั้นอื่นแสดงชื่อผู้มีสิทธิ์อนุมัติ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ใบขอสั่งซื้อ: ต้องเซ็นก่อนอนุมัติทุกครั้ง</a:t>
            </a:r>
            <a:endParaRPr lang="en-US" sz="4050" dirty="0"/>
          </a:p>
        </p:txBody>
      </p:sp>
      <p:sp>
        <p:nvSpPr>
          <p:cNvPr id="3" name="frame-85b-pr-sign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5b-pr-sign" descr="85b-pr-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ได้อีเมล/Teams </a:t>
            </a:r>
            <a:r>
              <a:rPr lang="en-US" sz="1950" b="1" dirty="0">
                <a:solidFill>
                  <a:schemeClr val="tx2"/>
                </a:solidFill>
              </a:rPr>
              <a:t>“ถึงคิวคุณแล้ว — กรุณาเซ็นและอนุมัติ”</a:t>
            </a:r>
            <a:r>
              <a:rPr lang="en-US" sz="1950" dirty="0">
                <a:solidFill>
                  <a:schemeClr val="tx1"/>
                </a:solidFill>
              </a:rPr>
              <a:t> กดลิงก์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225590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2559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228469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เซ็นในกรอบ </a:t>
            </a:r>
            <a:r>
              <a:rPr lang="en-US" sz="1950" b="1" dirty="0">
                <a:solidFill>
                  <a:schemeClr val="tx2"/>
                </a:solidFill>
              </a:rPr>
              <a:t>✍ ลายเซ็นผู้อนุมัติ </a:t>
            </a:r>
            <a:r>
              <a:rPr lang="en-US" sz="1950" dirty="0">
                <a:solidFill>
                  <a:schemeClr val="tx1"/>
                </a:solidFill>
              </a:rPr>
              <a:t>*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80320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80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775776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กด </a:t>
            </a:r>
            <a:r>
              <a:rPr lang="en-US" sz="1950" b="1" dirty="0">
                <a:solidFill>
                  <a:schemeClr val="tx2"/>
                </a:solidFill>
              </a:rPr>
              <a:t>✓ อนุมัติ</a:t>
            </a:r>
            <a:endParaRPr lang="en-US" sz="1950" dirty="0"/>
          </a:p>
        </p:txBody>
      </p:sp>
      <p:sp>
        <p:nvSpPr>
          <p:cNvPr id="14" name="callout-warn"/>
          <p:cNvSpPr/>
          <p:nvPr/>
        </p:nvSpPr>
        <p:spPr>
          <a:xfrm>
            <a:off x="7589520" y="365760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3657600"/>
            <a:ext cx="3831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r>
              <a:rPr lang="en-US" sz="1900" dirty="0">
                <a:solidFill>
                  <a:schemeClr val="tx1"/>
                </a:solidFill>
              </a:rPr>
              <a:t>ไม่เซ็น หรืออัปโหลดลายเซ็นไม่สำเร็จ → </a:t>
            </a:r>
            <a:r>
              <a:rPr lang="en-US" sz="1900" b="1" dirty="0">
                <a:solidFill>
                  <a:schemeClr val="tx2"/>
                </a:solidFill>
              </a:rPr>
              <a:t>ระบบไม่บันทึก</a:t>
            </a:r>
            <a:r>
              <a:rPr lang="en-US" sz="1900" dirty="0">
                <a:solidFill>
                  <a:schemeClr val="tx1"/>
                </a:solidFill>
              </a:rPr>
              <a:t> แจ้งให้เซ็นใหม่</a:t>
            </a:r>
            <a:endParaRPr lang="en-US" sz="1900" dirty="0"/>
          </a:p>
        </p:txBody>
      </p:sp>
      <p:sp>
        <p:nvSpPr>
          <p:cNvPr id="16" name="callout-note"/>
          <p:cNvSpPr/>
          <p:nvPr/>
        </p:nvSpPr>
        <p:spPr>
          <a:xfrm>
            <a:off x="7589520" y="49377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4937760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ขั้นที่อนุมัติโดยไม่มีลายเซ็น (การ์ดเก่า) ขึ้นป้าย </a:t>
            </a:r>
            <a:r>
              <a:rPr lang="en-US" sz="1900" b="1" dirty="0">
                <a:solidFill>
                  <a:schemeClr val="tx2"/>
                </a:solidFill>
              </a:rPr>
              <a:t>⚠ ไม่มีลายเซ็น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ทะเบียน PR และตัวกรองสถานะจัดซื้อ</a:t>
            </a:r>
            <a:endParaRPr lang="en-US" sz="4050" dirty="0"/>
          </a:p>
        </p:txBody>
      </p:sp>
      <p:sp>
        <p:nvSpPr>
          <p:cNvPr id="3" name="frame-82-pr-tab"/>
          <p:cNvSpPr/>
          <p:nvPr/>
        </p:nvSpPr>
        <p:spPr>
          <a:xfrm>
            <a:off x="420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2-pr-tab" descr="82-pr-t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7869"/>
            <a:ext cx="5577840" cy="3486150"/>
          </a:xfrm>
          <a:prstGeom prst="rect">
            <a:avLst/>
          </a:prstGeom>
        </p:spPr>
      </p:pic>
      <p:sp>
        <p:nvSpPr>
          <p:cNvPr id="5" name="frame-83-pr-register"/>
          <p:cNvSpPr/>
          <p:nvPr/>
        </p:nvSpPr>
        <p:spPr>
          <a:xfrm>
            <a:off x="6135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83-pr-register" descr="83-pr-regi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7869"/>
            <a:ext cx="5577840" cy="3486150"/>
          </a:xfrm>
          <a:prstGeom prst="rect">
            <a:avLst/>
          </a:prstGeom>
        </p:spPr>
      </p:pic>
      <p:sp>
        <p:nvSpPr>
          <p:cNvPr id="7" name="callout-tip"/>
          <p:cNvSpPr/>
          <p:nvPr/>
        </p:nvSpPr>
        <p:spPr>
          <a:xfrm>
            <a:off x="457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แถบใบขอสั่งซื้อ: กรอง </a:t>
            </a:r>
            <a:r>
              <a:rPr lang="en-US" sz="1900" b="1" dirty="0">
                <a:solidFill>
                  <a:schemeClr val="tx2"/>
                </a:solidFill>
              </a:rPr>
              <a:t>เบิก Store · รับ PR · รับใบเสนอราคา · ออก PO แล้ว · ส่ง Sup แล้ว · ส่งของแล้ว · Cancel</a:t>
            </a:r>
            <a:endParaRPr lang="en-US" sz="1900" dirty="0"/>
          </a:p>
        </p:txBody>
      </p:sp>
      <p:sp>
        <p:nvSpPr>
          <p:cNvPr id="9" name="callout-note"/>
          <p:cNvSpPr/>
          <p:nvPr/>
        </p:nvSpPr>
        <p:spPr>
          <a:xfrm>
            <a:off x="6172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36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b="1" dirty="0">
                <a:solidFill>
                  <a:schemeClr val="tx2"/>
                </a:solidFill>
              </a:rPr>
              <a:t>ทะเบียน PR</a:t>
            </a:r>
            <a:r>
              <a:rPr lang="en-US" sz="1900" dirty="0">
                <a:solidFill>
                  <a:schemeClr val="tx1"/>
                </a:solidFill>
              </a:rPr>
              <a:t>: กรองวัน/เดือน/ปี โครงการ สถานะ → Excel </a:t>
            </a:r>
            <a:r>
              <a:rPr lang="en-US" sz="1900" b="1" dirty="0">
                <a:solidFill>
                  <a:schemeClr val="tx2"/>
                </a:solidFill>
              </a:rPr>
              <a:t>1 แถวต่อ 1 รายการสินค้า</a:t>
            </a:r>
            <a:r>
              <a:rPr lang="en-US" sz="1900" dirty="0">
                <a:solidFill>
                  <a:schemeClr val="tx1"/>
                </a:solidFill>
              </a:rPr>
              <a:t> · เห็นเฉพาะแอดมิน ผู้บริหาร ฝ่ายจัดซื้อ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งาน O&amp;M</a:t>
            </a:r>
            <a:endParaRPr lang="en-US" sz="4050" dirty="0"/>
          </a:p>
        </p:txBody>
      </p:sp>
      <p:sp>
        <p:nvSpPr>
          <p:cNvPr id="3" name="frame-103-om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3-om" descr="103-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ช่อง </a:t>
            </a:r>
            <a:r>
              <a:rPr lang="en-US" sz="1950" b="1" dirty="0">
                <a:solidFill>
                  <a:schemeClr val="tx2"/>
                </a:solidFill>
              </a:rPr>
              <a:t>โครงการ</a:t>
            </a:r>
            <a:r>
              <a:rPr lang="en-US" sz="1950" dirty="0">
                <a:solidFill>
                  <a:schemeClr val="tx1"/>
                </a:solidFill>
              </a:rPr>
              <a:t> เลือก </a:t>
            </a:r>
            <a:r>
              <a:rPr lang="en-US" sz="1950" b="1" dirty="0">
                <a:solidFill>
                  <a:schemeClr val="tx2"/>
                </a:solidFill>
              </a:rPr>
              <a:t>งาน O&amp;M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194633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94633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1918907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เลือก </a:t>
            </a:r>
            <a:r>
              <a:rPr lang="en-US" sz="1950" b="1" dirty="0">
                <a:solidFill>
                  <a:schemeClr val="tx2"/>
                </a:solidFill>
              </a:rPr>
              <a:t>โครงการ O&amp;M</a:t>
            </a:r>
            <a:r>
              <a:rPr lang="en-US" sz="1950" dirty="0">
                <a:solidFill>
                  <a:schemeClr val="tx1"/>
                </a:solidFill>
              </a:rPr>
              <a:t> (WHA Group / Gulf Solar)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8032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80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775776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ไม่มีในรายการ → </a:t>
            </a:r>
            <a:r>
              <a:rPr lang="en-US" sz="1950" b="1" dirty="0">
                <a:solidFill>
                  <a:schemeClr val="tx2"/>
                </a:solidFill>
              </a:rPr>
              <a:t>➕ อื่นๆ</a:t>
            </a:r>
            <a:r>
              <a:rPr lang="en-US" sz="1950" dirty="0">
                <a:solidFill>
                  <a:schemeClr val="tx1"/>
                </a:solidFill>
              </a:rPr>
              <a:t> แล้วพิมพ์ชื่อ</a:t>
            </a:r>
            <a:endParaRPr lang="en-US" sz="1950" dirty="0"/>
          </a:p>
        </p:txBody>
      </p:sp>
      <p:sp>
        <p:nvSpPr>
          <p:cNvPr id="14" name="callout-note"/>
          <p:cNvSpPr/>
          <p:nvPr/>
        </p:nvSpPr>
        <p:spPr>
          <a:xfrm>
            <a:off x="7589520" y="37033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3703320"/>
            <a:ext cx="3831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ใช้ในฟอร์มเบิกเงิน 3 ฟอร์มและ</a:t>
            </a:r>
            <a:r>
              <a:rPr lang="en-US" sz="1900" b="1" dirty="0">
                <a:solidFill>
                  <a:schemeClr val="tx2"/>
                </a:solidFill>
              </a:rPr>
              <a:t>ใบขอสั่งซื้อ</a:t>
            </a:r>
            <a:r>
              <a:rPr lang="en-US" sz="1900" dirty="0">
                <a:solidFill>
                  <a:schemeClr val="tx1"/>
                </a:solidFill>
              </a:rPr>
              <a:t> · แสดงเป็น “งาน O&amp;M · โครงการ ALS”</a:t>
            </a:r>
            <a:endParaRPr lang="en-US" sz="1900" dirty="0"/>
          </a:p>
        </p:txBody>
      </p:sp>
      <p:sp>
        <p:nvSpPr>
          <p:cNvPr id="16" name="callout-tip"/>
          <p:cNvSpPr/>
          <p:nvPr/>
        </p:nvSpPr>
        <p:spPr>
          <a:xfrm>
            <a:off x="7589520" y="502920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5029200"/>
            <a:ext cx="3831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ผู้อนุมัติขั้นโครงการ = </a:t>
            </a:r>
            <a:r>
              <a:rPr lang="en-US" sz="1900" b="1" dirty="0">
                <a:solidFill>
                  <a:schemeClr val="tx2"/>
                </a:solidFill>
              </a:rPr>
              <a:t>ผู้บังคับบัญชาของผู้ยื่น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จองคิว Messenger: สถานะเป็นสี และจองทับ</a:t>
            </a:r>
            <a:endParaRPr lang="en-US" sz="4050" dirty="0"/>
          </a:p>
        </p:txBody>
      </p:sp>
      <p:sp>
        <p:nvSpPr>
          <p:cNvPr id="3" name="frame-91-msg-overlap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1-msg-overlap" descr="91-msg-overl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เวลาชน → กล่องส้มบอก </a:t>
            </a:r>
            <a:r>
              <a:rPr lang="en-US" sz="1950" b="1" dirty="0">
                <a:solidFill>
                  <a:schemeClr val="tx2"/>
                </a:solidFill>
              </a:rPr>
              <a:t>ชนกับใคร เรื่องอะไร</a:t>
            </a:r>
            <a:r>
              <a:rPr lang="en-US" sz="1950" dirty="0">
                <a:solidFill>
                  <a:schemeClr val="tx1"/>
                </a:solidFill>
              </a:rPr>
              <a:t> และช่วงที่ยังว่าง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225590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2559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228469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กดส่ง → ยืนยัน </a:t>
            </a:r>
            <a:r>
              <a:rPr lang="en-US" sz="1950" b="1" dirty="0">
                <a:solidFill>
                  <a:schemeClr val="tx2"/>
                </a:solidFill>
              </a:rPr>
              <a:t>“จองทับ”</a:t>
            </a:r>
            <a:r>
              <a:rPr lang="en-US" sz="1950" dirty="0">
                <a:solidFill>
                  <a:schemeClr val="tx1"/>
                </a:solidFill>
              </a:rPr>
              <a:t> → ปฏิทินเป็น </a:t>
            </a:r>
            <a:r>
              <a:rPr lang="en-US" sz="1950" b="1" dirty="0">
                <a:solidFill>
                  <a:schemeClr val="tx2"/>
                </a:solidFill>
              </a:rPr>
              <a:t>สีม่วง</a:t>
            </a:r>
            <a:endParaRPr lang="en-US" sz="1950" dirty="0"/>
          </a:p>
        </p:txBody>
      </p:sp>
      <p:sp>
        <p:nvSpPr>
          <p:cNvPr id="11" name="tone-0"/>
          <p:cNvSpPr/>
          <p:nvPr/>
        </p:nvSpPr>
        <p:spPr>
          <a:xfrm>
            <a:off x="7589520" y="350215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รออนุมัติ</a:t>
            </a:r>
            <a:endParaRPr lang="en-US" sz="1900" dirty="0"/>
          </a:p>
        </p:txBody>
      </p:sp>
      <p:sp>
        <p:nvSpPr>
          <p:cNvPr id="13" name="tone-1"/>
          <p:cNvSpPr/>
          <p:nvPr/>
        </p:nvSpPr>
        <p:spPr>
          <a:xfrm>
            <a:off x="7589520" y="405079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816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ส่งกลับแก้ไข</a:t>
            </a:r>
            <a:endParaRPr lang="en-US" sz="1900" dirty="0"/>
          </a:p>
        </p:txBody>
      </p:sp>
      <p:sp>
        <p:nvSpPr>
          <p:cNvPr id="15" name="tone-2"/>
          <p:cNvSpPr/>
          <p:nvPr/>
        </p:nvSpPr>
        <p:spPr>
          <a:xfrm>
            <a:off x="7589520" y="459943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00A94F"/>
          </a:solidFill>
          <a:ln w="12700">
            <a:solidFill>
              <a:srgbClr val="00A9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38160" y="4526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อนุมัติแล้ว/เสร็จสิ้น</a:t>
            </a:r>
            <a:endParaRPr lang="en-US" sz="1900" dirty="0"/>
          </a:p>
        </p:txBody>
      </p:sp>
      <p:sp>
        <p:nvSpPr>
          <p:cNvPr id="17" name="tone-3"/>
          <p:cNvSpPr/>
          <p:nvPr/>
        </p:nvSpPr>
        <p:spPr>
          <a:xfrm>
            <a:off x="7589520" y="514807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5074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เวลาชนกัน</a:t>
            </a:r>
            <a:endParaRPr lang="en-US" sz="1900" dirty="0"/>
          </a:p>
        </p:txBody>
      </p:sp>
      <p:sp>
        <p:nvSpPr>
          <p:cNvPr id="19" name="tone-4"/>
          <p:cNvSpPr/>
          <p:nvPr/>
        </p:nvSpPr>
        <p:spPr>
          <a:xfrm>
            <a:off x="7589520" y="569671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B0B8C4"/>
          </a:solidFill>
          <a:ln w="12700">
            <a:solidFill>
              <a:srgbClr val="B0B8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38160" y="5623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ยกเลิก (ขีดฆ่า)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ปฏิทินเต็มจอ + บันทึกเป็นภาพ PNG</a:t>
            </a:r>
            <a:endParaRPr lang="en-US" sz="4050" dirty="0"/>
          </a:p>
        </p:txBody>
      </p:sp>
      <p:sp>
        <p:nvSpPr>
          <p:cNvPr id="3" name="frame-93-cal-full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3-cal-full" descr="93-cal-f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frame-94-png-wide"/>
          <p:cNvSpPr/>
          <p:nvPr/>
        </p:nvSpPr>
        <p:spPr>
          <a:xfrm>
            <a:off x="7552944" y="1216438"/>
            <a:ext cx="4233672" cy="2413445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94-png-wide" descr="94-png-w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53014"/>
            <a:ext cx="4160520" cy="2340293"/>
          </a:xfrm>
          <a:prstGeom prst="rect">
            <a:avLst/>
          </a:prstGeom>
        </p:spPr>
      </p:pic>
      <p:sp>
        <p:nvSpPr>
          <p:cNvPr id="7" name="num-1"/>
          <p:cNvSpPr/>
          <p:nvPr/>
        </p:nvSpPr>
        <p:spPr>
          <a:xfrm>
            <a:off x="7589520" y="38679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58952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8065008" y="3840480"/>
            <a:ext cx="3685032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⛶ ขยายเต็มจอ</a:t>
            </a:r>
            <a:r>
              <a:rPr lang="en-US" sz="1800" dirty="0">
                <a:solidFill>
                  <a:schemeClr val="tx1"/>
                </a:solidFill>
              </a:rPr>
              <a:t> เห็นทุกคิว + คำอธิบายสี</a:t>
            </a:r>
            <a:endParaRPr 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7589520" y="439140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589520" y="4391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2" name="Text 8"/>
          <p:cNvSpPr txBox="1"/>
          <p:nvPr/>
        </p:nvSpPr>
        <p:spPr>
          <a:xfrm>
            <a:off x="8065008" y="4363974"/>
            <a:ext cx="3685032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PNG แนวตั้ง 1080×1920</a:t>
            </a:r>
            <a:r>
              <a:rPr lang="en-US" sz="1800" dirty="0">
                <a:solidFill>
                  <a:schemeClr val="tx1"/>
                </a:solidFill>
              </a:rPr>
              <a:t> ส่งกลุ่มแชท</a:t>
            </a:r>
            <a:endParaRPr 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7589520" y="491490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589520" y="4914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5" name="Text 11"/>
          <p:cNvSpPr txBox="1"/>
          <p:nvPr/>
        </p:nvSpPr>
        <p:spPr>
          <a:xfrm>
            <a:off x="8065008" y="4887468"/>
            <a:ext cx="3685032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PNG แนวนอน 1920×1080</a:t>
            </a:r>
            <a:r>
              <a:rPr lang="en-US" sz="1800" dirty="0">
                <a:solidFill>
                  <a:schemeClr val="tx1"/>
                </a:solidFill>
              </a:rPr>
              <a:t> นำเสนอ/จอประชุม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จองรถยนต์บริษัทฯ: ผู้ยื่น</a:t>
            </a:r>
            <a:endParaRPr lang="en-US" sz="4050" dirty="0"/>
          </a:p>
        </p:txBody>
      </p:sp>
      <p:sp>
        <p:nvSpPr>
          <p:cNvPr id="3" name="frame-95-car-form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5-car-form" descr="95-car-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วันที่เริ่ม – สิ้นสุด</a:t>
            </a:r>
            <a:r>
              <a:rPr lang="en-US" sz="1950" dirty="0">
                <a:solidFill>
                  <a:schemeClr val="tx1"/>
                </a:solidFill>
              </a:rPr>
              <a:t> (ข้ามวันได้)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194633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94633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1918907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เวลา</a:t>
            </a:r>
            <a:r>
              <a:rPr lang="en-US" sz="1950" dirty="0">
                <a:solidFill>
                  <a:schemeClr val="tx1"/>
                </a:solidFill>
              </a:rPr>
              <a:t> ทุกครึ่งชั่วโมง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49364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4936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466213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ดู</a:t>
            </a:r>
            <a:r>
              <a:rPr lang="en-US" sz="1950" b="1" dirty="0">
                <a:solidFill>
                  <a:schemeClr val="tx2"/>
                </a:solidFill>
              </a:rPr>
              <a:t>ปฏิทินรถ</a:t>
            </a:r>
            <a:r>
              <a:rPr lang="en-US" sz="1950" dirty="0">
                <a:solidFill>
                  <a:schemeClr val="tx1"/>
                </a:solidFill>
              </a:rPr>
              <a:t>ก่อน — คำขอขึ้นตั้งแต่ยื่น</a:t>
            </a:r>
            <a:endParaRPr lang="en-US" sz="1950" dirty="0"/>
          </a:p>
        </p:txBody>
      </p:sp>
      <p:sp>
        <p:nvSpPr>
          <p:cNvPr id="14" name="callout-tip"/>
          <p:cNvSpPr/>
          <p:nvPr/>
        </p:nvSpPr>
        <p:spPr>
          <a:xfrm>
            <a:off x="7589520" y="35204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352044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สถานที่ กด </a:t>
            </a:r>
            <a:r>
              <a:rPr lang="en-US" sz="1900" b="1" dirty="0">
                <a:solidFill>
                  <a:schemeClr val="tx2"/>
                </a:solidFill>
              </a:rPr>
              <a:t>🗺 เปิดในแผนที่</a:t>
            </a:r>
            <a:r>
              <a:rPr lang="en-US" sz="1900" dirty="0">
                <a:solidFill>
                  <a:schemeClr val="tx1"/>
                </a:solidFill>
              </a:rPr>
              <a:t> ตรวจตำแหน่งใน Google Maps</a:t>
            </a:r>
            <a:endParaRPr lang="en-US" sz="1900" dirty="0"/>
          </a:p>
        </p:txBody>
      </p:sp>
      <p:sp>
        <p:nvSpPr>
          <p:cNvPr id="16" name="callout-warn"/>
          <p:cNvSpPr/>
          <p:nvPr/>
        </p:nvSpPr>
        <p:spPr>
          <a:xfrm>
            <a:off x="7589520" y="475488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4754880"/>
            <a:ext cx="3831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r>
              <a:rPr lang="en-US" sz="1900" dirty="0">
                <a:solidFill>
                  <a:schemeClr val="tx1"/>
                </a:solidFill>
              </a:rPr>
              <a:t>ช่วงเวลานั้น</a:t>
            </a:r>
            <a:r>
              <a:rPr lang="en-US" sz="1900" b="1" dirty="0">
                <a:solidFill>
                  <a:schemeClr val="tx2"/>
                </a:solidFill>
              </a:rPr>
              <a:t>รถเต็ม</a:t>
            </a:r>
            <a:r>
              <a:rPr lang="en-US" sz="1900" dirty="0">
                <a:solidFill>
                  <a:schemeClr val="tx1"/>
                </a:solidFill>
              </a:rPr>
              <a:t> (นับใบรออนุมัติด้วย) → ส่งไม่ได้ ให้ติดต่อผู้ดูแลรถหรือเลือกเวลาอื่น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จองรถ: ผู้ดูแลเลือกรถ · คืนรถ</a:t>
            </a:r>
            <a:endParaRPr lang="en-US" sz="4050" dirty="0"/>
          </a:p>
        </p:txBody>
      </p:sp>
      <p:sp>
        <p:nvSpPr>
          <p:cNvPr id="3" name="frame-96-car-approve"/>
          <p:cNvSpPr/>
          <p:nvPr/>
        </p:nvSpPr>
        <p:spPr>
          <a:xfrm>
            <a:off x="420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6-car-approve" descr="96-car-appr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7869"/>
            <a:ext cx="5577840" cy="3486150"/>
          </a:xfrm>
          <a:prstGeom prst="rect">
            <a:avLst/>
          </a:prstGeom>
        </p:spPr>
      </p:pic>
      <p:sp>
        <p:nvSpPr>
          <p:cNvPr id="5" name="frame-97b-car-manage"/>
          <p:cNvSpPr/>
          <p:nvPr/>
        </p:nvSpPr>
        <p:spPr>
          <a:xfrm>
            <a:off x="6135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97b-car-manage" descr="97b-car-man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7869"/>
            <a:ext cx="5577840" cy="3486150"/>
          </a:xfrm>
          <a:prstGeom prst="rect">
            <a:avLst/>
          </a:prstGeom>
        </p:spPr>
      </p:pic>
      <p:sp>
        <p:nvSpPr>
          <p:cNvPr id="7" name="callout-note"/>
          <p:cNvSpPr/>
          <p:nvPr/>
        </p:nvSpPr>
        <p:spPr>
          <a:xfrm>
            <a:off x="457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ผู้ดูแล </a:t>
            </a:r>
            <a:r>
              <a:rPr lang="en-US" sz="1900" b="1" dirty="0">
                <a:solidFill>
                  <a:schemeClr val="tx2"/>
                </a:solidFill>
              </a:rPr>
              <a:t>เลือกทะเบียนรถ</a:t>
            </a:r>
            <a:r>
              <a:rPr lang="en-US" sz="1900" dirty="0">
                <a:solidFill>
                  <a:schemeClr val="tx1"/>
                </a:solidFill>
              </a:rPr>
              <a:t> ก่อนกดอนุมัติ · รถคันเดียวกันซ้อนเวลา ระบบถามยืนยัน</a:t>
            </a:r>
            <a:endParaRPr lang="en-US" sz="1900" dirty="0"/>
          </a:p>
        </p:txBody>
      </p:sp>
      <p:sp>
        <p:nvSpPr>
          <p:cNvPr id="9" name="callout-tip"/>
          <p:cNvSpPr/>
          <p:nvPr/>
        </p:nvSpPr>
        <p:spPr>
          <a:xfrm>
            <a:off x="6172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36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b="1" dirty="0">
                <a:solidFill>
                  <a:schemeClr val="tx2"/>
                </a:solidFill>
              </a:rPr>
              <a:t>🔑 คืนรถ</a:t>
            </a:r>
            <a:r>
              <a:rPr lang="en-US" sz="1900" dirty="0">
                <a:solidFill>
                  <a:schemeClr val="tx1"/>
                </a:solidFill>
              </a:rPr>
              <a:t> ผู้ยื่นหรือผู้ดูแลกดแทน → ปิดคำขอ รถว่างทันที · เปลี่ยนรถ/ยกเลิกได้ทุกเมื่อ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แบบฟอร์มแจ้งซ่อม</a:t>
            </a:r>
            <a:endParaRPr lang="en-US" sz="4050" dirty="0"/>
          </a:p>
        </p:txBody>
      </p:sp>
      <p:sp>
        <p:nvSpPr>
          <p:cNvPr id="3" name="frame-98-repair-route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8-repair-route" descr="98-repair-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rep-0"/>
          <p:cNvSpPr/>
          <p:nvPr/>
        </p:nvSpPr>
        <p:spPr>
          <a:xfrm>
            <a:off x="7589520" y="1371600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3716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คอมพิวเตอร์/อุปกรณ์ 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ฝ่ายประสานงานฯ (IT)</a:t>
            </a:r>
            <a:endParaRPr lang="en-US" sz="1600" dirty="0"/>
          </a:p>
        </p:txBody>
      </p:sp>
      <p:sp>
        <p:nvSpPr>
          <p:cNvPr id="7" name="rep-1"/>
          <p:cNvSpPr/>
          <p:nvPr/>
        </p:nvSpPr>
        <p:spPr>
          <a:xfrm>
            <a:off x="7589520" y="2084832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20848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เครื่องมือวัด/เครื่องมือช่าง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ฝ่ายจัดซื้อและคลังสินค้า</a:t>
            </a:r>
            <a:endParaRPr lang="en-US" sz="1600" dirty="0"/>
          </a:p>
        </p:txBody>
      </p:sp>
      <p:sp>
        <p:nvSpPr>
          <p:cNvPr id="9" name="rep-2"/>
          <p:cNvSpPr/>
          <p:nvPr/>
        </p:nvSpPr>
        <p:spPr>
          <a:xfrm>
            <a:off x="7589520" y="2798064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7980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อาคาร-สถานที่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ฝ่ายควบคุมการเดินระบบฯ</a:t>
            </a:r>
            <a:endParaRPr lang="en-US" sz="1600" dirty="0"/>
          </a:p>
        </p:txBody>
      </p:sp>
      <p:sp>
        <p:nvSpPr>
          <p:cNvPr id="11" name="rep-3"/>
          <p:cNvSpPr/>
          <p:nvPr/>
        </p:nvSpPr>
        <p:spPr>
          <a:xfrm>
            <a:off x="7589520" y="3511296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35112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อื่นๆ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ฝ่ายประสานงานฯ</a:t>
            </a:r>
            <a:endParaRPr lang="en-US" sz="1600" dirty="0"/>
          </a:p>
        </p:txBody>
      </p:sp>
      <p:sp>
        <p:nvSpPr>
          <p:cNvPr id="13" name="callout-note"/>
          <p:cNvSpPr/>
          <p:nvPr/>
        </p:nvSpPr>
        <p:spPr>
          <a:xfrm>
            <a:off x="7589520" y="434340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54112" y="4343400"/>
            <a:ext cx="3831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จากนั้นผู้บริหารลงนาม: </a:t>
            </a:r>
            <a:r>
              <a:rPr lang="en-US" sz="1900" b="1" dirty="0">
                <a:solidFill>
                  <a:schemeClr val="tx2"/>
                </a:solidFill>
              </a:rPr>
              <a:t>กานต์ธิดา ใสสะอาด → ไพรัช เขียนเขว้า</a:t>
            </a:r>
            <a:endParaRPr lang="en-US" sz="1900" dirty="0"/>
          </a:p>
        </p:txBody>
      </p:sp>
      <p:sp>
        <p:nvSpPr>
          <p:cNvPr id="15" name="callout-tip"/>
          <p:cNvSpPr/>
          <p:nvPr/>
        </p:nvSpPr>
        <p:spPr>
          <a:xfrm>
            <a:off x="7589520" y="539496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5394960"/>
            <a:ext cx="3831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รูปความเสียหายแสดงเป็นภาพใน PDF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เส้นทางอนุมัติ: อ่านให้เป็น</a:t>
            </a:r>
            <a:endParaRPr lang="en-US" sz="4050" dirty="0"/>
          </a:p>
        </p:txBody>
      </p:sp>
      <p:sp>
        <p:nvSpPr>
          <p:cNvPr id="3" name="rv-0"/>
          <p:cNvSpPr/>
          <p:nvPr/>
        </p:nvSpPr>
        <p:spPr>
          <a:xfrm>
            <a:off x="457200" y="132588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ถึงคิวคุณแล้ว</a:t>
            </a:r>
            <a:endParaRPr lang="en-US" sz="205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3258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มีปุ่มอนุมัติด้านล่าง</a:t>
            </a:r>
            <a:endParaRPr lang="en-US" sz="1900" dirty="0"/>
          </a:p>
        </p:txBody>
      </p:sp>
      <p:sp>
        <p:nvSpPr>
          <p:cNvPr id="6" name="rv-1"/>
          <p:cNvSpPr/>
          <p:nvPr/>
        </p:nvSpPr>
        <p:spPr>
          <a:xfrm>
            <a:off x="457200" y="2130552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305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คุณเป็นผู้อนุมัติขั้นนี้ · รอลำดับก่อนหน้า</a:t>
            </a:r>
            <a:endParaRPr lang="en-US" sz="20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1305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ยังไม่ถึงคิว ระบบแจ้งอีกครั้งเมื่อถึง</a:t>
            </a:r>
            <a:endParaRPr lang="en-US" sz="1900" dirty="0"/>
          </a:p>
        </p:txBody>
      </p:sp>
      <p:sp>
        <p:nvSpPr>
          <p:cNvPr id="9" name="rv-2"/>
          <p:cNvSpPr/>
          <p:nvPr/>
        </p:nvSpPr>
        <p:spPr>
          <a:xfrm>
            <a:off x="457200" y="2935224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3522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ต้องอนุมัติครบทุกคน · อนุมัติแล้ว 1/3 · รออีก 2</a:t>
            </a:r>
            <a:endParaRPr lang="en-US" sz="2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93522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ยังไม่ผ่านจนกว่าจะครบ</a:t>
            </a:r>
            <a:endParaRPr lang="en-US" sz="1900" dirty="0"/>
          </a:p>
        </p:txBody>
      </p:sp>
      <p:sp>
        <p:nvSpPr>
          <p:cNvPr id="12" name="rv-3"/>
          <p:cNvSpPr/>
          <p:nvPr/>
        </p:nvSpPr>
        <p:spPr>
          <a:xfrm>
            <a:off x="457200" y="3739896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39896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⚠ อนุมัติแล้วแต่ระบบยังไม่เลื่อน</a:t>
            </a:r>
            <a:endParaRPr lang="en-US" sz="20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73989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แจ้งแอดมินกด ↻ ส่งแจ้งอนุมัติใหม่</a:t>
            </a:r>
            <a:endParaRPr lang="en-US" sz="1900" dirty="0"/>
          </a:p>
        </p:txBody>
      </p:sp>
      <p:sp>
        <p:nvSpPr>
          <p:cNvPr id="15" name="rv-4"/>
          <p:cNvSpPr/>
          <p:nvPr/>
        </p:nvSpPr>
        <p:spPr>
          <a:xfrm>
            <a:off x="457200" y="4544568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54456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ขั้นผู้ทบทวนไม่แสดงรายชื่อ</a:t>
            </a:r>
            <a:endParaRPr lang="en-US" sz="20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54456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ชื่อขึ้นเมื่อมีคนกดแล้ว</a:t>
            </a:r>
            <a:endParaRPr lang="en-US" sz="1900" dirty="0"/>
          </a:p>
        </p:txBody>
      </p:sp>
      <p:sp>
        <p:nvSpPr>
          <p:cNvPr id="18" name="rv-5"/>
          <p:cNvSpPr/>
          <p:nvPr/>
        </p:nvSpPr>
        <p:spPr>
          <a:xfrm>
            <a:off x="457200" y="534924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34924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ส่งกลับแก้ไขแล้วยื่นใหม่</a:t>
            </a:r>
            <a:endParaRPr lang="en-US" sz="20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534924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ไฟล์แนบเดิม เลข PR ทะเบียนรถ ยังอยู่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ผู้ดูแลระบบ: เครื่องมือใหม่ 1.2</a:t>
            </a:r>
            <a:endParaRPr lang="en-US" sz="4050" dirty="0"/>
          </a:p>
        </p:txBody>
      </p:sp>
      <p:sp>
        <p:nvSpPr>
          <p:cNvPr id="3" name="frame-100-route-cond"/>
          <p:cNvSpPr/>
          <p:nvPr/>
        </p:nvSpPr>
        <p:spPr>
          <a:xfrm>
            <a:off x="420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0-route-cond" descr="100-route-co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7869"/>
            <a:ext cx="5577840" cy="3486150"/>
          </a:xfrm>
          <a:prstGeom prst="rect">
            <a:avLst/>
          </a:prstGeom>
        </p:spPr>
      </p:pic>
      <p:sp>
        <p:nvSpPr>
          <p:cNvPr id="5" name="frame-101-health"/>
          <p:cNvSpPr/>
          <p:nvPr/>
        </p:nvSpPr>
        <p:spPr>
          <a:xfrm>
            <a:off x="6135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101-health" descr="101-heal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7869"/>
            <a:ext cx="5577840" cy="3486150"/>
          </a:xfrm>
          <a:prstGeom prst="rect">
            <a:avLst/>
          </a:prstGeom>
        </p:spPr>
      </p:pic>
      <p:sp>
        <p:nvSpPr>
          <p:cNvPr id="7" name="callout-note"/>
          <p:cNvSpPr/>
          <p:nvPr/>
        </p:nvSpPr>
        <p:spPr>
          <a:xfrm>
            <a:off x="457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b="1" dirty="0">
                <a:solidFill>
                  <a:schemeClr val="tx2"/>
                </a:solidFill>
              </a:rPr>
              <a:t>ขั้นตามเงื่อนไข</a:t>
            </a:r>
            <a:r>
              <a:rPr lang="en-US" sz="1900" dirty="0">
                <a:solidFill>
                  <a:schemeClr val="tx1"/>
                </a:solidFill>
              </a:rPr>
              <a:t> (เช่น ประเภทงานซ่อม) · </a:t>
            </a:r>
            <a:r>
              <a:rPr lang="en-US" sz="1900" b="1" dirty="0">
                <a:solidFill>
                  <a:schemeClr val="tx2"/>
                </a:solidFill>
              </a:rPr>
              <a:t>+ ชื่อผู้อนุมัติเพิ่ม</a:t>
            </a:r>
            <a:r>
              <a:rPr lang="en-US" sz="1900" dirty="0">
                <a:solidFill>
                  <a:schemeClr val="tx1"/>
                </a:solidFill>
              </a:rPr>
              <a:t>ต่อขั้น · สูงสุด 8 ขั้น</a:t>
            </a:r>
            <a:endParaRPr lang="en-US" sz="1900" dirty="0"/>
          </a:p>
        </p:txBody>
      </p:sp>
      <p:sp>
        <p:nvSpPr>
          <p:cNvPr id="9" name="callout-tip"/>
          <p:cNvSpPr/>
          <p:nvPr/>
        </p:nvSpPr>
        <p:spPr>
          <a:xfrm>
            <a:off x="6172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36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b="1" dirty="0">
                <a:solidFill>
                  <a:schemeClr val="tx2"/>
                </a:solidFill>
              </a:rPr>
              <a:t>ตรวจสุขภาพ</a:t>
            </a:r>
            <a:r>
              <a:rPr lang="en-US" sz="1900" dirty="0">
                <a:solidFill>
                  <a:schemeClr val="tx1"/>
                </a:solidFill>
              </a:rPr>
              <a:t> บอกสาเหตุคำขอค้าง + ปุ่มส่งแจ้งใหม่ทุกใบ · </a:t>
            </a:r>
            <a:r>
              <a:rPr lang="en-US" sz="1900" b="1" dirty="0">
                <a:solidFill>
                  <a:schemeClr val="tx2"/>
                </a:solidFill>
              </a:rPr>
              <a:t>ตรวจสิทธิ์เข้าถึงเว็บ</a:t>
            </a:r>
            <a:r>
              <a:rPr lang="en-US" sz="1900" dirty="0">
                <a:solidFill>
                  <a:schemeClr val="tx1"/>
                </a:solidFill>
              </a:rPr>
              <a:t> · ตั้งค่า CarPlates / PRNoStart / OMSites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7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ฉบับ 1.3: ทุกแบบฟอร์ม และฟีเจอร์ใหม่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คู่มือทุกแบบฟอร์ม · รายละเอียดทีละฟอร์ม · ค้นหา · วันที่ต้องใช้เงิน · ช่องโครงการ · เมนูเร็วขึ้น</a:t>
            </a:r>
            <a:endParaRPr lang="en-US" sz="24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มีอะไรใหม่ในฉบับ 1.3</a:t>
            </a:r>
            <a:endParaRPr lang="en-US" sz="4050" dirty="0"/>
          </a:p>
        </p:txBody>
      </p:sp>
      <p:sp>
        <p:nvSpPr>
          <p:cNvPr id="3" name="new13-0"/>
          <p:cNvSpPr/>
          <p:nvPr/>
        </p:nvSpPr>
        <p:spPr>
          <a:xfrm>
            <a:off x="45720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📘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คู่มือทุกแบบฟอร์ม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ในระบบ · ทุกฟอร์มที่เปิดใช้ · ไม่มีตกหล่น</a:t>
            </a:r>
            <a:endParaRPr lang="en-US" sz="1750" dirty="0"/>
          </a:p>
        </p:txBody>
      </p:sp>
      <p:sp>
        <p:nvSpPr>
          <p:cNvPr id="7" name="new13-1"/>
          <p:cNvSpPr/>
          <p:nvPr/>
        </p:nvSpPr>
        <p:spPr>
          <a:xfrm>
            <a:off x="329184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📑</a:t>
            </a:r>
            <a:endParaRPr lang="en-US" sz="3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รายละเอียดทีละฟอร์ม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กรอกอะไร ใครอนุมัติ หลังอนุมัติ</a:t>
            </a:r>
            <a:endParaRPr lang="en-US" sz="1750" dirty="0"/>
          </a:p>
        </p:txBody>
      </p:sp>
      <p:sp>
        <p:nvSpPr>
          <p:cNvPr id="11" name="new13-2"/>
          <p:cNvSpPr/>
          <p:nvPr/>
        </p:nvSpPr>
        <p:spPr>
          <a:xfrm>
            <a:off x="612648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🔍</a:t>
            </a:r>
            <a:endParaRPr lang="en-US" sz="3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ค้นหาคำขอ</a:t>
            </a:r>
            <a:endParaRPr lang="en-US" sz="22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ชื่อโครงการ ชื่อพนักงาน เลขที่</a:t>
            </a:r>
            <a:endParaRPr lang="en-US" sz="1750" dirty="0"/>
          </a:p>
        </p:txBody>
      </p:sp>
      <p:sp>
        <p:nvSpPr>
          <p:cNvPr id="15" name="new13-3"/>
          <p:cNvSpPr/>
          <p:nvPr/>
        </p:nvSpPr>
        <p:spPr>
          <a:xfrm>
            <a:off x="896112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🏗</a:t>
            </a:r>
            <a:endParaRPr lang="en-US" sz="35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ชื่อโครงการในกรอบ</a:t>
            </a:r>
            <a:endParaRPr lang="en-US" sz="225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ต่อจากชื่อฟอร์ม · รวมที่พิมพ์เอง</a:t>
            </a:r>
            <a:endParaRPr lang="en-US" sz="1750" dirty="0"/>
          </a:p>
        </p:txBody>
      </p:sp>
      <p:sp>
        <p:nvSpPr>
          <p:cNvPr id="19" name="new13-4"/>
          <p:cNvSpPr/>
          <p:nvPr/>
        </p:nvSpPr>
        <p:spPr>
          <a:xfrm>
            <a:off x="45720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📅</a:t>
            </a:r>
            <a:endParaRPr lang="en-US" sz="3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วันที่ต้องใช้เงิน</a:t>
            </a:r>
            <a:endParaRPr lang="en-US" sz="2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🔴 ถึงกำหนด · 🟡 ใกล้ถึง · กรองได้</a:t>
            </a:r>
            <a:endParaRPr lang="en-US" sz="1750" dirty="0"/>
          </a:p>
        </p:txBody>
      </p:sp>
      <p:sp>
        <p:nvSpPr>
          <p:cNvPr id="23" name="new13-5"/>
          <p:cNvSpPr/>
          <p:nvPr/>
        </p:nvSpPr>
        <p:spPr>
          <a:xfrm>
            <a:off x="329184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🏢</a:t>
            </a:r>
            <a:endParaRPr lang="en-US" sz="35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ช่องโครงการ</a:t>
            </a:r>
            <a:endParaRPr lang="en-US" sz="225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สำนักงานใหญ่ / สำนักงานชลบุรี</a:t>
            </a:r>
            <a:endParaRPr lang="en-US" sz="1750" dirty="0"/>
          </a:p>
        </p:txBody>
      </p:sp>
      <p:sp>
        <p:nvSpPr>
          <p:cNvPr id="27" name="new13-6"/>
          <p:cNvSpPr/>
          <p:nvPr/>
        </p:nvSpPr>
        <p:spPr>
          <a:xfrm>
            <a:off x="612648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⚡</a:t>
            </a:r>
            <a:endParaRPr lang="en-US" sz="35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กดเมนูขึ้นทันที</a:t>
            </a:r>
            <a:endParaRPr lang="en-US" sz="225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ทุกเมนูไม่ถึงครึ่งวินาที</a:t>
            </a:r>
            <a:endParaRPr lang="en-US" sz="1750" dirty="0"/>
          </a:p>
        </p:txBody>
      </p:sp>
      <p:sp>
        <p:nvSpPr>
          <p:cNvPr id="31" name="new13-7"/>
          <p:cNvSpPr/>
          <p:nvPr/>
        </p:nvSpPr>
        <p:spPr>
          <a:xfrm>
            <a:off x="896112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897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📚</a:t>
            </a:r>
            <a:endParaRPr lang="en-US" sz="35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อื่น ๆ</a:t>
            </a:r>
            <a:endParaRPr lang="en-US" sz="225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ลำดับเอกสาร · ลิงก์ฟอร์มหน้าแรก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📘 คู่มือทุกแบบฟอร์ม: เปิดได้ 2 ทาง</a:t>
            </a:r>
            <a:endParaRPr lang="en-US" sz="4050" dirty="0"/>
          </a:p>
        </p:txBody>
      </p:sp>
      <p:sp>
        <p:nvSpPr>
          <p:cNvPr id="3" name="frame-104-forms-guide-btn"/>
          <p:cNvSpPr/>
          <p:nvPr/>
        </p:nvSpPr>
        <p:spPr>
          <a:xfrm>
            <a:off x="420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4-forms-guide-btn" descr="104-forms-guide-bt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7869"/>
            <a:ext cx="5577840" cy="3486150"/>
          </a:xfrm>
          <a:prstGeom prst="rect">
            <a:avLst/>
          </a:prstGeom>
        </p:spPr>
      </p:pic>
      <p:sp>
        <p:nvSpPr>
          <p:cNvPr id="5" name="frame-110-form-guide-link"/>
          <p:cNvSpPr/>
          <p:nvPr/>
        </p:nvSpPr>
        <p:spPr>
          <a:xfrm>
            <a:off x="6135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110-form-guide-link" descr="110-form-guide-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7869"/>
            <a:ext cx="5577840" cy="3486150"/>
          </a:xfrm>
          <a:prstGeom prst="rect">
            <a:avLst/>
          </a:prstGeom>
        </p:spPr>
      </p:pic>
      <p:sp>
        <p:nvSpPr>
          <p:cNvPr id="7" name="callout-note"/>
          <p:cNvSpPr/>
          <p:nvPr/>
        </p:nvSpPr>
        <p:spPr>
          <a:xfrm>
            <a:off x="457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หน้า</a:t>
            </a:r>
            <a:r>
              <a:rPr lang="en-US" sz="1900" b="1" dirty="0">
                <a:solidFill>
                  <a:schemeClr val="tx2"/>
                </a:solidFill>
              </a:rPr>
              <a:t>แบบฟอร์มทั้งหมด</a:t>
            </a:r>
            <a:r>
              <a:rPr lang="en-US" sz="1900" dirty="0">
                <a:solidFill>
                  <a:schemeClr val="tx1"/>
                </a:solidFill>
              </a:rPr>
              <a:t> → ปุ่ม </a:t>
            </a:r>
            <a:r>
              <a:rPr lang="en-US" sz="1900" b="1" dirty="0">
                <a:solidFill>
                  <a:schemeClr val="tx2"/>
                </a:solidFill>
              </a:rPr>
              <a:t>📘 คู่มือทุกแบบฟอร์ม</a:t>
            </a:r>
            <a:r>
              <a:rPr lang="en-US" sz="1900" dirty="0">
                <a:solidFill>
                  <a:schemeClr val="tx1"/>
                </a:solidFill>
              </a:rPr>
              <a:t> (ทุกฟอร์ม)</a:t>
            </a:r>
            <a:endParaRPr lang="en-US" sz="1900" dirty="0"/>
          </a:p>
        </p:txBody>
      </p:sp>
      <p:sp>
        <p:nvSpPr>
          <p:cNvPr id="9" name="callout-tip"/>
          <p:cNvSpPr/>
          <p:nvPr/>
        </p:nvSpPr>
        <p:spPr>
          <a:xfrm>
            <a:off x="6172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36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หัว</a:t>
            </a:r>
            <a:r>
              <a:rPr lang="en-US" sz="1900" b="1" dirty="0">
                <a:solidFill>
                  <a:schemeClr val="tx2"/>
                </a:solidFill>
              </a:rPr>
              <a:t>ทุกแบบฟอร์ม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b="1" dirty="0">
                <a:solidFill>
                  <a:schemeClr val="tx2"/>
                </a:solidFill>
              </a:rPr>
              <a:t>📘 วิธีกรอกและเส้นทางอนุมัติของฟอร์มนี้</a:t>
            </a:r>
            <a:r>
              <a:rPr lang="en-US" sz="1900" dirty="0">
                <a:solidFill>
                  <a:schemeClr val="tx1"/>
                </a:solidFill>
              </a:rPr>
              <a:t> (เฉพาะฟอร์มนั้น)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หน้าคู่มือทุกแบบฟอร์ม</a:t>
            </a:r>
            <a:endParaRPr lang="en-US" sz="4050" dirty="0"/>
          </a:p>
        </p:txBody>
      </p:sp>
      <p:sp>
        <p:nvSpPr>
          <p:cNvPr id="3" name="frame-105-guide-top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5-guide-top" descr="105-guide-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ค้นหา</a:t>
            </a:r>
            <a:r>
              <a:rPr lang="en-US" sz="1950" dirty="0">
                <a:solidFill>
                  <a:schemeClr val="tx1"/>
                </a:solidFill>
              </a:rPr>
              <a:t> ชื่อฟอร์ม รหัส หรือฝ่าย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194633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94633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1918907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🖨 พิมพ์ / บันทึกเป็น PDF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49364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4936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466213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ผู้ดูแล/HR: </a:t>
            </a:r>
            <a:r>
              <a:rPr lang="en-US" sz="1950" b="1" dirty="0">
                <a:solidFill>
                  <a:schemeClr val="tx2"/>
                </a:solidFill>
              </a:rPr>
              <a:t>⬇ ข้อมูลแบบฟอร์ม (JSON)</a:t>
            </a:r>
            <a:r>
              <a:rPr lang="en-US" sz="1950" dirty="0">
                <a:solidFill>
                  <a:schemeClr val="tx1"/>
                </a:solidFill>
              </a:rPr>
              <a:t> · ดูฟอร์มที่ปิดใช้งาน</a:t>
            </a:r>
            <a:endParaRPr lang="en-US" sz="1950" dirty="0"/>
          </a:p>
        </p:txBody>
      </p:sp>
      <p:sp>
        <p:nvSpPr>
          <p:cNvPr id="14" name="num-4"/>
          <p:cNvSpPr/>
          <p:nvPr/>
        </p:nvSpPr>
        <p:spPr>
          <a:xfrm>
            <a:off x="7589520" y="33505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3505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3323082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สารบัญแยกตามฝ่าย</a:t>
            </a:r>
            <a:r>
              <a:rPr lang="en-US" sz="1950" dirty="0">
                <a:solidFill>
                  <a:schemeClr val="tx1"/>
                </a:solidFill>
              </a:rPr>
              <a:t> กดชื่อเพื่อเลื่อนไปที่ฟอร์ม</a:t>
            </a:r>
            <a:endParaRPr lang="en-US" sz="1950" dirty="0"/>
          </a:p>
        </p:txBody>
      </p:sp>
      <p:sp>
        <p:nvSpPr>
          <p:cNvPr id="17" name="callout-tip"/>
          <p:cNvSpPr/>
          <p:nvPr/>
        </p:nvSpPr>
        <p:spPr>
          <a:xfrm>
            <a:off x="7589520" y="475488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54112" y="4754880"/>
            <a:ext cx="3831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แต่ละฟอร์มอธิบาย 3 ส่วน: </a:t>
            </a:r>
            <a:r>
              <a:rPr lang="en-US" sz="1900" b="1" dirty="0">
                <a:solidFill>
                  <a:schemeClr val="tx2"/>
                </a:solidFill>
              </a:rPr>
              <a:t>ช่องที่ต้องกรอก · ลำดับการอนุมัติ · กติกาพิเศษ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ส่วนที่ 1: ช่องที่ต้องกรอก</a:t>
            </a:r>
            <a:endParaRPr lang="en-US" sz="4050" dirty="0"/>
          </a:p>
        </p:txBody>
      </p:sp>
      <p:sp>
        <p:nvSpPr>
          <p:cNvPr id="3" name="frame-106-guide-fields"/>
          <p:cNvSpPr/>
          <p:nvPr/>
        </p:nvSpPr>
        <p:spPr>
          <a:xfrm>
            <a:off x="420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6-guide-fields" descr="106-guide-fiel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7869"/>
            <a:ext cx="5577840" cy="3486150"/>
          </a:xfrm>
          <a:prstGeom prst="rect">
            <a:avLst/>
          </a:prstGeom>
        </p:spPr>
      </p:pic>
      <p:sp>
        <p:nvSpPr>
          <p:cNvPr id="5" name="frame-108-guide-showif"/>
          <p:cNvSpPr/>
          <p:nvPr/>
        </p:nvSpPr>
        <p:spPr>
          <a:xfrm>
            <a:off x="6135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108-guide-showif" descr="108-guide-show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7869"/>
            <a:ext cx="5577840" cy="3486150"/>
          </a:xfrm>
          <a:prstGeom prst="rect">
            <a:avLst/>
          </a:prstGeom>
        </p:spPr>
      </p:pic>
      <p:sp>
        <p:nvSpPr>
          <p:cNvPr id="7" name="callout-note"/>
          <p:cNvSpPr/>
          <p:nvPr/>
        </p:nvSpPr>
        <p:spPr>
          <a:xfrm>
            <a:off x="457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b="1" dirty="0">
                <a:solidFill>
                  <a:schemeClr val="tx2"/>
                </a:solidFill>
              </a:rPr>
              <a:t>ต้องกรอก</a:t>
            </a:r>
            <a:r>
              <a:rPr lang="en-US" sz="1900" dirty="0">
                <a:solidFill>
                  <a:schemeClr val="tx1"/>
                </a:solidFill>
              </a:rPr>
              <a:t> สีแดง คือช่องบังคับ · วิธีกรอก · ตัวเลือกทั้งหมด · คำแนะนำ</a:t>
            </a:r>
            <a:endParaRPr lang="en-US" sz="1900" dirty="0"/>
          </a:p>
        </p:txBody>
      </p:sp>
      <p:sp>
        <p:nvSpPr>
          <p:cNvPr id="9" name="callout-tip"/>
          <p:cNvSpPr/>
          <p:nvPr/>
        </p:nvSpPr>
        <p:spPr>
          <a:xfrm>
            <a:off x="6172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36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b="1" dirty="0">
                <a:solidFill>
                  <a:schemeClr val="tx2"/>
                </a:solidFill>
              </a:rPr>
              <a:t>แสดงเมื่อ…</a:t>
            </a:r>
            <a:r>
              <a:rPr lang="en-US" sz="1900" dirty="0">
                <a:solidFill>
                  <a:schemeClr val="tx1"/>
                </a:solidFill>
              </a:rPr>
              <a:t> คือช่องที่โผล่เฉพาะเมื่อเลือกคำตอบนั้น เช่น เลือก “อื่นๆ” แล้วต้องระบุ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ส่วนที่ 2–3: ลำดับการอนุมัติ และกติกาพิเศษ</a:t>
            </a:r>
            <a:endParaRPr lang="en-US" sz="4050" dirty="0"/>
          </a:p>
        </p:txBody>
      </p:sp>
      <p:sp>
        <p:nvSpPr>
          <p:cNvPr id="3" name="frame-107-guide-route-rules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7-guide-route-rules" descr="107-guide-route-ru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rt13-0"/>
          <p:cNvSpPr/>
          <p:nvPr/>
        </p:nvSpPr>
        <p:spPr>
          <a:xfrm>
            <a:off x="7589520" y="1325880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32588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คนใดคนหนึ่งอนุมัติก็ผ่าน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ใครกดก่อนก็ไปต่อ</a:t>
            </a:r>
            <a:endParaRPr lang="en-US" sz="1600" dirty="0"/>
          </a:p>
        </p:txBody>
      </p:sp>
      <p:sp>
        <p:nvSpPr>
          <p:cNvPr id="7" name="rt13-1"/>
          <p:cNvSpPr/>
          <p:nvPr/>
        </p:nvSpPr>
        <p:spPr>
          <a:xfrm>
            <a:off x="7589520" y="2112264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211226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ทุกคนต้องอนุมัติ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ต้องครบทุกคน</a:t>
            </a:r>
            <a:endParaRPr lang="en-US" sz="1600" dirty="0"/>
          </a:p>
        </p:txBody>
      </p:sp>
      <p:sp>
        <p:nvSpPr>
          <p:cNvPr id="9" name="rt13-2"/>
          <p:cNvSpPr/>
          <p:nvPr/>
        </p:nvSpPr>
        <p:spPr>
          <a:xfrm>
            <a:off x="7589520" y="2898648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89864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ใช้เฉพาะเมื่อ “ช่อง” = ค่า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ไม่ตรงเงื่อนไข ระบบข้ามให้</a:t>
            </a:r>
            <a:endParaRPr lang="en-US" sz="1600" dirty="0"/>
          </a:p>
        </p:txBody>
      </p:sp>
      <p:sp>
        <p:nvSpPr>
          <p:cNvPr id="11" name="rt13-3"/>
          <p:cNvSpPr/>
          <p:nvPr/>
        </p:nvSpPr>
        <p:spPr>
          <a:xfrm>
            <a:off x="7589520" y="3685032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368503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ข้ามได้ถ้าไม่มีผู้อนุมัติ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ลำดับไม่บังคับ</a:t>
            </a:r>
            <a:endParaRPr lang="en-US" sz="1600" dirty="0"/>
          </a:p>
        </p:txBody>
      </p:sp>
      <p:sp>
        <p:nvSpPr>
          <p:cNvPr id="13" name="rt13-4"/>
          <p:cNvSpPr/>
          <p:nvPr/>
        </p:nvSpPr>
        <p:spPr>
          <a:xfrm>
            <a:off x="7589520" y="4471416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26680" y="447141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🔔 ได้รับแจ้งตั้งแต่ยื่น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เตรียมงานล่วงหน้า</a:t>
            </a:r>
            <a:endParaRPr lang="en-US" sz="1600" dirty="0"/>
          </a:p>
        </p:txBody>
      </p:sp>
      <p:sp>
        <p:nvSpPr>
          <p:cNvPr id="15" name="rt13-5"/>
          <p:cNvSpPr/>
          <p:nvPr/>
        </p:nvSpPr>
        <p:spPr>
          <a:xfrm>
            <a:off x="7589520" y="5257800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26680" y="52578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ยังไม่ได้ตั้งเส้นทาง (แดง)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แจ้งผู้ดูแลระบบ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แบบฟอร์มทั้งหมดในระบบ</a:t>
            </a:r>
            <a:endParaRPr lang="en-US" sz="4050" dirty="0"/>
          </a:p>
        </p:txBody>
      </p:sp>
      <p:sp>
        <p:nvSpPr>
          <p:cNvPr id="3" name="fl-0"/>
          <p:cNvSpPr/>
          <p:nvPr/>
        </p:nvSpPr>
        <p:spPr>
          <a:xfrm>
            <a:off x="457200" y="1234440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ขอเบิกเงินทดรองจ่าย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23444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FM-ACC-002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2344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เงินล่วงหน้า · สลิป · วันที่ต้องใช้</a:t>
            </a:r>
            <a:endParaRPr lang="en-US" sz="1400" dirty="0"/>
          </a:p>
        </p:txBody>
      </p:sp>
      <p:sp>
        <p:nvSpPr>
          <p:cNvPr id="7" name="fl-1"/>
          <p:cNvSpPr/>
          <p:nvPr/>
        </p:nvSpPr>
        <p:spPr>
          <a:xfrm>
            <a:off x="6126480" y="1234440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123444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เบิกเงินสำรองโครงการ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23444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FM-ACC-003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29800" y="12344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ซื้อของหน้างาน · สลิป · วันที่ต้องใช้</a:t>
            </a:r>
            <a:endParaRPr lang="en-US" sz="1400" dirty="0"/>
          </a:p>
        </p:txBody>
      </p:sp>
      <p:sp>
        <p:nvSpPr>
          <p:cNvPr id="11" name="fl-2"/>
          <p:cNvSpPr/>
          <p:nvPr/>
        </p:nvSpPr>
        <p:spPr>
          <a:xfrm>
            <a:off x="457200" y="1929384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92938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ขอเบิกค่าแรงผู้รับเหมา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1929384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FM-ACC-004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19293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ค่าแรงตามงวด · บัญชีเห็นทุกใบ</a:t>
            </a:r>
            <a:endParaRPr lang="en-US" sz="1400" dirty="0"/>
          </a:p>
        </p:txBody>
      </p:sp>
      <p:sp>
        <p:nvSpPr>
          <p:cNvPr id="15" name="fl-3"/>
          <p:cNvSpPr/>
          <p:nvPr/>
        </p:nvSpPr>
        <p:spPr>
          <a:xfrm>
            <a:off x="6126480" y="1929384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92938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ใบขอสั่งซื้อ (PR)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929384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FM-PUR-004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19293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เลข PR · เซ็นทุกขั้น · สถานะจัดซื้อ</a:t>
            </a:r>
            <a:endParaRPr lang="en-US" sz="1400" dirty="0"/>
          </a:p>
        </p:txBody>
      </p:sp>
      <p:sp>
        <p:nvSpPr>
          <p:cNvPr id="19" name="fl-4"/>
          <p:cNvSpPr/>
          <p:nvPr/>
        </p:nvSpPr>
        <p:spPr>
          <a:xfrm>
            <a:off x="457200" y="2624328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6243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ขอใช้รถยนต์บริษัทฯ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2624328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FM-ADM-002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262432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ปฏิทินรถ · เลือกทะเบียน · คืนรถ</a:t>
            </a:r>
            <a:endParaRPr lang="en-US" sz="1400" dirty="0"/>
          </a:p>
        </p:txBody>
      </p:sp>
      <p:sp>
        <p:nvSpPr>
          <p:cNvPr id="23" name="fl-5"/>
          <p:cNvSpPr/>
          <p:nvPr/>
        </p:nvSpPr>
        <p:spPr>
          <a:xfrm>
            <a:off x="6126480" y="2624328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26243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จองคิว Messenger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2624328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FM-ADM-006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262432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ปฏิทินคิว · เตือนเวลาชน</a:t>
            </a:r>
            <a:endParaRPr lang="en-US" sz="1400" dirty="0"/>
          </a:p>
        </p:txBody>
      </p:sp>
      <p:sp>
        <p:nvSpPr>
          <p:cNvPr id="27" name="fl-6"/>
          <p:cNvSpPr/>
          <p:nvPr/>
        </p:nvSpPr>
        <p:spPr>
          <a:xfrm>
            <a:off x="457200" y="3319272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31927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แบบฟอร์มแจ้งซ่อม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331927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FM-ADM-007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160520" y="331927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ส่งฝ่ายตามประเภทงานซ่อม</a:t>
            </a:r>
            <a:endParaRPr lang="en-US" sz="1400" dirty="0"/>
          </a:p>
        </p:txBody>
      </p:sp>
      <p:sp>
        <p:nvSpPr>
          <p:cNvPr id="31" name="fl-7"/>
          <p:cNvSpPr/>
          <p:nvPr/>
        </p:nvSpPr>
        <p:spPr>
          <a:xfrm>
            <a:off x="6126480" y="3319272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331927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ขอสิทธิ์เข้าถึงระบบ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31927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FM-ADM-001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331927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ตนเอง/ลูกทีม · ชั่วคราวได้</a:t>
            </a:r>
            <a:endParaRPr lang="en-US" sz="1400" dirty="0"/>
          </a:p>
        </p:txBody>
      </p:sp>
      <p:sp>
        <p:nvSpPr>
          <p:cNvPr id="35" name="fl-8"/>
          <p:cNvSpPr/>
          <p:nvPr/>
        </p:nvSpPr>
        <p:spPr>
          <a:xfrm>
            <a:off x="457200" y="4014216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401421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MEMORANDUM บันทึกข้อความ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3108960" y="4014216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FM-HRM-001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160520" y="401421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ลา/สาย/ลืมลงเวลา/ขออนุมัติ</a:t>
            </a:r>
            <a:endParaRPr lang="en-US" sz="1400" dirty="0"/>
          </a:p>
        </p:txBody>
      </p:sp>
      <p:sp>
        <p:nvSpPr>
          <p:cNvPr id="39" name="fl-9"/>
          <p:cNvSpPr/>
          <p:nvPr/>
        </p:nvSpPr>
        <p:spPr>
          <a:xfrm>
            <a:off x="6126480" y="4014216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01421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Memo ลืมลงเวลาเข้า-ออก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8778240" y="4014216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FM-HRM-008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829800" y="401421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ผู้บังคับบัญชาอนุมัติ</a:t>
            </a:r>
            <a:endParaRPr lang="en-US" sz="1400" dirty="0"/>
          </a:p>
        </p:txBody>
      </p:sp>
      <p:sp>
        <p:nvSpPr>
          <p:cNvPr id="43" name="fl-10"/>
          <p:cNvSpPr/>
          <p:nvPr/>
        </p:nvSpPr>
        <p:spPr>
          <a:xfrm>
            <a:off x="457200" y="4709160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70916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ขอจัดหาที่พัก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3108960" y="470916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FM-HRM-002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160520" y="47091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คำถามเปลี่ยนตามลักษณะงาน</a:t>
            </a:r>
            <a:endParaRPr lang="en-US" sz="1400" dirty="0"/>
          </a:p>
        </p:txBody>
      </p:sp>
      <p:sp>
        <p:nvSpPr>
          <p:cNvPr id="47" name="fl-11"/>
          <p:cNvSpPr/>
          <p:nvPr/>
        </p:nvSpPr>
        <p:spPr>
          <a:xfrm>
            <a:off x="6126480" y="4709160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63640" y="470916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เบิกสวัสดิการ</a:t>
            </a:r>
            <a:endParaRPr lang="en-US" sz="1700" dirty="0"/>
          </a:p>
        </p:txBody>
      </p:sp>
      <p:sp>
        <p:nvSpPr>
          <p:cNvPr id="49" name="Text 47"/>
          <p:cNvSpPr txBox="1"/>
          <p:nvPr/>
        </p:nvSpPr>
        <p:spPr>
          <a:xfrm>
            <a:off x="8778240" y="470916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FM-HRM-006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829800" y="47091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ใบเสร็จในนามบริษัท</a:t>
            </a:r>
            <a:endParaRPr lang="en-US" sz="1400" dirty="0"/>
          </a:p>
        </p:txBody>
      </p:sp>
      <p:sp>
        <p:nvSpPr>
          <p:cNvPr id="51" name="fl-12"/>
          <p:cNvSpPr/>
          <p:nvPr/>
        </p:nvSpPr>
        <p:spPr>
          <a:xfrm>
            <a:off x="457200" y="5404104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4360" y="540410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เบิกอุปกรณ์สำนักงาน (HR) / PPE</a:t>
            </a:r>
            <a:endParaRPr lang="en-US" sz="1700" dirty="0"/>
          </a:p>
        </p:txBody>
      </p:sp>
      <p:sp>
        <p:nvSpPr>
          <p:cNvPr id="53" name="Text 51"/>
          <p:cNvSpPr txBox="1"/>
          <p:nvPr/>
        </p:nvSpPr>
        <p:spPr>
          <a:xfrm>
            <a:off x="3108960" y="5404104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HRM / HSE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160520" y="540410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ตารางรายการ</a:t>
            </a:r>
            <a:endParaRPr lang="en-US" sz="1400" dirty="0"/>
          </a:p>
        </p:txBody>
      </p:sp>
      <p:sp>
        <p:nvSpPr>
          <p:cNvPr id="55" name="fl-13"/>
          <p:cNvSpPr/>
          <p:nvPr/>
        </p:nvSpPr>
        <p:spPr>
          <a:xfrm>
            <a:off x="6126480" y="5404104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63640" y="540410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PPG e-Service ขอแบบ</a:t>
            </a:r>
            <a:endParaRPr lang="en-US" sz="1700" dirty="0"/>
          </a:p>
        </p:txBody>
      </p:sp>
      <p:sp>
        <p:nvSpPr>
          <p:cNvPr id="57" name="Text 55"/>
          <p:cNvSpPr txBox="1"/>
          <p:nvPr/>
        </p:nvSpPr>
        <p:spPr>
          <a:xfrm>
            <a:off x="8778240" y="5404104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FM-DWG-001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9829800" y="540410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ระบบภายนอก ↗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ขอเบิกเงินทดรองจ่าย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15544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FM-ACC-002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972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ต้องการเงินล่วงหน้าไปจ่ายในงาน แล้วเคลียร์ภายหลัง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ชื่อเรื่อง / วันที่</a:t>
            </a:r>
            <a:r>
              <a:rPr lang="en-US" sz="1700" dirty="0">
                <a:solidFill>
                  <a:schemeClr val="tx1"/>
                </a:solidFill>
              </a:rPr>
              <a:t> (วันที่ตั้งเป็นวันนี้)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69464"/>
            <a:ext cx="6327648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โครงการ</a:t>
            </a:r>
            <a:r>
              <a:rPr lang="en-US" sz="1700" dirty="0">
                <a:solidFill>
                  <a:schemeClr val="tx1"/>
                </a:solidFill>
              </a:rPr>
              <a:t> — ทะเบียน / สำนักงานใหญ่ / ชลบุรี / งาน O&amp;M / ไม่เกี่ยวกับโครงการ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5551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255518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กรอกชื่อโครงการ (กรณีไม่มีในรายการ)</a:t>
            </a:r>
            <a:r>
              <a:rPr lang="en-US" sz="1700" dirty="0">
                <a:solidFill>
                  <a:schemeClr val="tx1"/>
                </a:solidFill>
              </a:rPr>
              <a:t> — พิมพ์เอง แสดงในกรอบคำขอ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7614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67614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วันที่ขอใช้</a:t>
            </a:r>
            <a:r>
              <a:rPr lang="en-US" sz="1700" dirty="0">
                <a:solidFill>
                  <a:schemeClr val="tx1"/>
                </a:solidFill>
              </a:rPr>
              <a:t> — ใช้คำนวณสีเตือนผู้บริหาร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9676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096766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เหตุผลในการขอใช้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dirty="0">
                <a:solidFill>
                  <a:schemeClr val="accent1"/>
                </a:solidFill>
              </a:rPr>
              <a:t>จำนวนเงิน (บาท)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1739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1739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แนบเอกสารประกอบ (ถ้ามี)</a:t>
            </a:r>
            <a:endParaRPr lang="en-US" sz="1700" dirty="0"/>
          </a:p>
        </p:txBody>
      </p:sp>
      <p:sp>
        <p:nvSpPr>
          <p:cNvPr id="19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21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23" name="Text 21"/>
          <p:cNvSpPr txBox="1"/>
          <p:nvPr/>
        </p:nvSpPr>
        <p:spPr>
          <a:xfrm>
            <a:off x="7973568" y="2240280"/>
            <a:ext cx="3639312" cy="61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ผู้รับผิดชอบหลักโครงการ (ไม่มีโครงการ → ผู้บังคับบัญชา)</a:t>
            </a:r>
            <a:endParaRPr lang="en-US" sz="1600" dirty="0"/>
          </a:p>
        </p:txBody>
      </p:sp>
      <p:sp>
        <p:nvSpPr>
          <p:cNvPr id="24" name="num-2"/>
          <p:cNvSpPr/>
          <p:nvPr/>
        </p:nvSpPr>
        <p:spPr>
          <a:xfrm>
            <a:off x="7498080" y="29403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2940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26" name="Text 24"/>
          <p:cNvSpPr txBox="1"/>
          <p:nvPr/>
        </p:nvSpPr>
        <p:spPr>
          <a:xfrm>
            <a:off x="7973568" y="291287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ผู้บริหาร รับทราบ/อนุมัติ</a:t>
            </a:r>
            <a:endParaRPr lang="en-US" sz="1600" dirty="0"/>
          </a:p>
        </p:txBody>
      </p:sp>
      <p:sp>
        <p:nvSpPr>
          <p:cNvPr id="27" name="num-3"/>
          <p:cNvSpPr/>
          <p:nvPr/>
        </p:nvSpPr>
        <p:spPr>
          <a:xfrm>
            <a:off x="7498080" y="337921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3379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335178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แผนกการเงิน อนุมัติ/โอนเงิน + แนบสลิป</a:t>
            </a:r>
            <a:endParaRPr lang="en-US" sz="1600" dirty="0"/>
          </a:p>
        </p:txBody>
      </p:sp>
      <p:sp>
        <p:nvSpPr>
          <p:cNvPr id="30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วันที่ขอใช้มีสีเตือน แดง = ถึงกำหนด · เหลือง = อีก 1–3 วัน · กรองได้ · บัญชีเห็นทุกใบ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เบิกเงินสำรองโครงการ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15544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FM-ACC-003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972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ต้องซื้อของ/อุปกรณ์หน้างานด่วน ไม่ทันรอใบขอสั่งซื้อ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วันที่ต้องการใช้</a:t>
            </a:r>
            <a:r>
              <a:rPr lang="en-US" sz="1700" dirty="0">
                <a:solidFill>
                  <a:schemeClr val="tx1"/>
                </a:solidFill>
              </a:rPr>
              <a:t> — ใช้คำนวณสีเตือน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69464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โครงการ</a:t>
            </a:r>
            <a:r>
              <a:rPr lang="en-US" sz="1700" dirty="0">
                <a:solidFill>
                  <a:schemeClr val="tx1"/>
                </a:solidFill>
              </a:rPr>
              <a:t> (เหมือนทดรองจ่าย รวมงาน O&amp;M)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90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990088"/>
            <a:ext cx="6327648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หมวดหมู่</a:t>
            </a:r>
            <a:r>
              <a:rPr lang="en-US" sz="1700" dirty="0">
                <a:solidFill>
                  <a:schemeClr val="tx1"/>
                </a:solidFill>
              </a:rPr>
              <a:t> — Network / Monitoring / Sensor / ไฟฟ้า / ตู้ไฟฟ้า / เหล็ก / ฮาร์ดแวร์ / ระบบน้ำ / เช่าเครื่องจักร / ค่าแรง / เครื่องมือ / อื่นๆ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7614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67614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ตารางรายการซื้อของ</a:t>
            </a:r>
            <a:r>
              <a:rPr lang="en-US" sz="1700" dirty="0">
                <a:solidFill>
                  <a:schemeClr val="tx1"/>
                </a:solidFill>
              </a:rPr>
              <a:t> — รายละเอียด · จำนวน · ราคา (รวมยอดให้)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9676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096766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เหตุผล</a:t>
            </a:r>
            <a:r>
              <a:rPr lang="en-US" sz="1700" dirty="0">
                <a:solidFill>
                  <a:schemeClr val="tx1"/>
                </a:solidFill>
              </a:rPr>
              <a:t> — เลือก “อื่นๆ ระบุ” แล้วช่องระบุเหตุผลจะโผล่ขึ้นมา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1739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1739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รวมจำนวนเงิน</a:t>
            </a:r>
            <a:r>
              <a:rPr lang="en-US" sz="1700" dirty="0">
                <a:solidFill>
                  <a:schemeClr val="tx1"/>
                </a:solidFill>
              </a:rPr>
              <a:t> ให้ตรงกับตาราง · แนบใบเสนอราคา/รูป</a:t>
            </a:r>
            <a:endParaRPr lang="en-US" sz="1700" dirty="0"/>
          </a:p>
        </p:txBody>
      </p:sp>
      <p:sp>
        <p:nvSpPr>
          <p:cNvPr id="19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21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23" name="Text 21"/>
          <p:cNvSpPr txBox="1"/>
          <p:nvPr/>
        </p:nvSpPr>
        <p:spPr>
          <a:xfrm>
            <a:off x="7973568" y="22402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ผู้รับผิดชอบหลักโครงการ</a:t>
            </a:r>
            <a:endParaRPr lang="en-US" sz="1600" dirty="0"/>
          </a:p>
        </p:txBody>
      </p:sp>
      <p:sp>
        <p:nvSpPr>
          <p:cNvPr id="24" name="num-2"/>
          <p:cNvSpPr/>
          <p:nvPr/>
        </p:nvSpPr>
        <p:spPr>
          <a:xfrm>
            <a:off x="7498080" y="270662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26" name="Text 24"/>
          <p:cNvSpPr txBox="1"/>
          <p:nvPr/>
        </p:nvSpPr>
        <p:spPr>
          <a:xfrm>
            <a:off x="7973568" y="267919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ผู้บริหาร รับทราบ/อนุมัติ</a:t>
            </a:r>
            <a:endParaRPr lang="en-US" sz="1600" dirty="0"/>
          </a:p>
        </p:txBody>
      </p:sp>
      <p:sp>
        <p:nvSpPr>
          <p:cNvPr id="27" name="num-3"/>
          <p:cNvSpPr/>
          <p:nvPr/>
        </p:nvSpPr>
        <p:spPr>
          <a:xfrm>
            <a:off x="7498080" y="314553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311810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การเงิน + แนบสลิป ปิดงาน</a:t>
            </a:r>
            <a:endParaRPr lang="en-US" sz="1600" dirty="0"/>
          </a:p>
        </p:txBody>
      </p:sp>
      <p:sp>
        <p:nvSpPr>
          <p:cNvPr id="30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วันที่ต้องการใช้มีสีเตือนและตัวกรองเหมือนทดรองจ่าย · บัญชีเห็นทุกใบ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ใบขอสั่งซื้อ (PURCHASE REQUISITION)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15544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FM-PUR-004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972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ต้องการให้ฝ่ายจัดซื้อสั่งซื้อวัสดุ อุปกรณ์ หรือบริการ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โครงการ</a:t>
            </a:r>
            <a:r>
              <a:rPr lang="en-US" sz="1700" dirty="0">
                <a:solidFill>
                  <a:schemeClr val="tx1"/>
                </a:solidFill>
              </a:rPr>
              <a:t> (ระบบหาผู้อนุมัติจากโครงการ)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69464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วันที่ต้องการใช้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90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990088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ตารางรายการ</a:t>
            </a:r>
            <a:r>
              <a:rPr lang="en-US" sz="1700" dirty="0">
                <a:solidFill>
                  <a:schemeClr val="tx1"/>
                </a:solidFill>
              </a:rPr>
              <a:t> — DESCRIPTION · QTY · UNIT · REMARK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107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41071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เหตุผล</a:t>
            </a:r>
            <a:r>
              <a:rPr lang="en-US" sz="1700" dirty="0">
                <a:solidFill>
                  <a:schemeClr val="tx1"/>
                </a:solidFill>
              </a:rPr>
              <a:t> · แนบสเปก/ใบเสนอราคา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313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831336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ลายเซ็นผู้ยื่น</a:t>
            </a:r>
            <a:r>
              <a:rPr lang="en-US" sz="1700" dirty="0">
                <a:solidFill>
                  <a:schemeClr val="tx1"/>
                </a:solidFill>
              </a:rPr>
              <a:t> — ไม่เซ็นส่งไม่ได้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51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25196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เลข PR อัตโนมัติ</a:t>
            </a:r>
            <a:r>
              <a:rPr lang="en-US" sz="1700" dirty="0">
                <a:solidFill>
                  <a:schemeClr val="tx1"/>
                </a:solidFill>
              </a:rPr>
              <a:t> ตอนกดส่ง เช่น PR2610175</a:t>
            </a:r>
            <a:endParaRPr lang="en-US" sz="1700" dirty="0"/>
          </a:p>
        </p:txBody>
      </p:sp>
      <p:sp>
        <p:nvSpPr>
          <p:cNvPr id="19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21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23" name="Text 21"/>
          <p:cNvSpPr txBox="1"/>
          <p:nvPr/>
        </p:nvSpPr>
        <p:spPr>
          <a:xfrm>
            <a:off x="7973568" y="22402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ผู้ทบทวน / วิศวกรออกแบบ</a:t>
            </a:r>
            <a:endParaRPr lang="en-US" sz="1600" dirty="0"/>
          </a:p>
        </p:txBody>
      </p:sp>
      <p:sp>
        <p:nvSpPr>
          <p:cNvPr id="24" name="num-2"/>
          <p:cNvSpPr/>
          <p:nvPr/>
        </p:nvSpPr>
        <p:spPr>
          <a:xfrm>
            <a:off x="7498080" y="270662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26" name="Text 24"/>
          <p:cNvSpPr txBox="1"/>
          <p:nvPr/>
        </p:nvSpPr>
        <p:spPr>
          <a:xfrm>
            <a:off x="7973568" y="267919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ผู้จัดการฝ่าย / ผู้จัดการโครงการ</a:t>
            </a:r>
            <a:endParaRPr lang="en-US" sz="1600" dirty="0"/>
          </a:p>
        </p:txBody>
      </p:sp>
      <p:sp>
        <p:nvSpPr>
          <p:cNvPr id="27" name="num-3"/>
          <p:cNvSpPr/>
          <p:nvPr/>
        </p:nvSpPr>
        <p:spPr>
          <a:xfrm>
            <a:off x="7498080" y="314553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311810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ผู้อำนวยการโครงการ (ข้ามได้)</a:t>
            </a:r>
            <a:endParaRPr lang="en-US" sz="1600" dirty="0"/>
          </a:p>
        </p:txBody>
      </p:sp>
      <p:sp>
        <p:nvSpPr>
          <p:cNvPr id="30" name="num-4"/>
          <p:cNvSpPr/>
          <p:nvPr/>
        </p:nvSpPr>
        <p:spPr>
          <a:xfrm>
            <a:off x="7498080" y="35844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32" name="Text 30"/>
          <p:cNvSpPr txBox="1"/>
          <p:nvPr/>
        </p:nvSpPr>
        <p:spPr>
          <a:xfrm>
            <a:off x="7973568" y="355701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ฝ่ายจัดซื้อ — อัปเดตสถานะจัดซื้อ</a:t>
            </a:r>
            <a:endParaRPr lang="en-US" sz="1600" dirty="0"/>
          </a:p>
        </p:txBody>
      </p:sp>
      <p:sp>
        <p:nvSpPr>
          <p:cNvPr id="33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เซ็นทุกขั้นก่อนอนุมัติ · สถานะ: เบิก Store → รับ PR → ใบเสนอราคา → PO → ส่ง Sup → ส่งของแล้ว / Cancel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ค่าแรงผู้รับเหมา / เบิกอุปกรณ์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2363724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2363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ACC-004 · HRM · HSE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958084" y="1097280"/>
            <a:ext cx="8791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เบิกค่าแรงผู้รับเหมาตามงวดงาน · เบิกของใช้สำนักงาน · เบิกอุปกรณ์ความปลอดภัย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ค่าแรงผู้รับเหมา — </a:t>
            </a:r>
            <a:r>
              <a:rPr lang="en-US" sz="1700" dirty="0">
                <a:solidFill>
                  <a:schemeClr val="accent1"/>
                </a:solidFill>
              </a:rPr>
              <a:t>โครงการ / งาน O&amp;M</a:t>
            </a:r>
            <a:r>
              <a:rPr lang="en-US" sz="1700" dirty="0">
                <a:solidFill>
                  <a:schemeClr val="tx1"/>
                </a:solidFill>
              </a:rPr>
              <a:t> · งวดงาน · จำนวนเงิน · ใบส่งงาน/ใบแจ้งหนี้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8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834894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อุปกรณ์สำนักงาน (HR) — </a:t>
            </a:r>
            <a:r>
              <a:rPr lang="en-US" sz="1700" dirty="0">
                <a:solidFill>
                  <a:schemeClr val="accent1"/>
                </a:solidFill>
              </a:rPr>
              <a:t>ตารางรายการ</a:t>
            </a:r>
            <a:r>
              <a:rPr lang="en-US" sz="1700" dirty="0">
                <a:solidFill>
                  <a:schemeClr val="tx1"/>
                </a:solidFill>
              </a:rPr>
              <a:t> ของที่ต้องการ · จำนวน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5551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255518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อุปกรณ์ PPE — รายการ ขนาด จำนวน และโครงการ/หน้างาน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7614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67614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ช่องครบถ้วนของแต่ละฟอร์ม ดูที่ </a:t>
            </a:r>
            <a:r>
              <a:rPr lang="en-US" sz="1700" dirty="0">
                <a:solidFill>
                  <a:schemeClr val="accent1"/>
                </a:solidFill>
              </a:rPr>
              <a:t>วิธีกรอกและเส้นทางอนุมัติของฟอร์มนี้</a:t>
            </a:r>
            <a:endParaRPr lang="en-US" sz="1700" dirty="0"/>
          </a:p>
        </p:txBody>
      </p:sp>
      <p:sp>
        <p:nvSpPr>
          <p:cNvPr id="15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17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22402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ตามโครงการ / ผู้บังคับบัญชา</a:t>
            </a:r>
            <a:endParaRPr lang="en-US" sz="1600" dirty="0"/>
          </a:p>
        </p:txBody>
      </p:sp>
      <p:sp>
        <p:nvSpPr>
          <p:cNvPr id="20" name="num-2"/>
          <p:cNvSpPr/>
          <p:nvPr/>
        </p:nvSpPr>
        <p:spPr>
          <a:xfrm>
            <a:off x="7498080" y="270662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7973568" y="2679192"/>
            <a:ext cx="3639312" cy="61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ฝ่ายเจ้าของฟอร์มดำเนินการ (บัญชี / HR / ความปลอดภัย)</a:t>
            </a:r>
            <a:endParaRPr lang="en-US" sz="1600" dirty="0"/>
          </a:p>
        </p:txBody>
      </p:sp>
      <p:sp>
        <p:nvSpPr>
          <p:cNvPr id="23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ค่าแรงผู้รับเหมา — ฝ่ายบัญชีและการเงินเห็นทุกใบ และเลือกงาน O&amp;M ได้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ขอใช้รถยนต์บริษัทฯ ประจำสำนักงาน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15544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FM-ADM-002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972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ต้องการใช้รถบริษัทไปปฏิบัติงานนอกสถานที่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วันเวลาเริ่มใช้ และวันเวลาสิ้นสุด</a:t>
            </a:r>
            <a:r>
              <a:rPr lang="en-US" sz="1700" dirty="0">
                <a:solidFill>
                  <a:schemeClr val="tx1"/>
                </a:solidFill>
              </a:rPr>
              <a:t> — จองข้ามวันได้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69464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ดู</a:t>
            </a:r>
            <a:r>
              <a:rPr lang="en-US" sz="1700" dirty="0">
                <a:solidFill>
                  <a:schemeClr val="accent1"/>
                </a:solidFill>
              </a:rPr>
              <a:t>ปฏิทินรถ</a:t>
            </a:r>
            <a:r>
              <a:rPr lang="en-US" sz="1700" dirty="0">
                <a:solidFill>
                  <a:schemeClr val="tx1"/>
                </a:solidFill>
              </a:rPr>
              <a:t>ข้างฟอร์มก่อนเลือกเวลา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90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990088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สถานที่ปลายทาง</a:t>
            </a:r>
            <a:r>
              <a:rPr lang="en-US" sz="1700" dirty="0">
                <a:solidFill>
                  <a:schemeClr val="tx1"/>
                </a:solidFill>
              </a:rPr>
              <a:t> — มีปุ่มเปิดแผนที่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107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41071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ผู้ใช้รถ · ผู้ร่วมเดินทาง · วัตถุประสงค์</a:t>
            </a:r>
            <a:endParaRPr lang="en-US" sz="1700" dirty="0"/>
          </a:p>
        </p:txBody>
      </p:sp>
      <p:sp>
        <p:nvSpPr>
          <p:cNvPr id="15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17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2240280"/>
            <a:ext cx="3639312" cy="61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ผู้ดูแลรถ (ฝ่ายประสานงานฯ) — เลือกทะเบียนรถ</a:t>
            </a:r>
            <a:endParaRPr lang="en-US" sz="1600" dirty="0"/>
          </a:p>
        </p:txBody>
      </p:sp>
      <p:sp>
        <p:nvSpPr>
          <p:cNvPr id="20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ระบบกันจองเกินจำนวนรถ · ใช้เสร็จกด คืนรถ รถว่างทันที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ฟอร์มจองคิว Messenger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15544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FM-ADM-006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972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ให้ Messenger ไปส่ง/รับเอกสาร พัสดุ หรือติดต่อหน่วยงานนอกสถานที่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วันที่ขอใช้บริการ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dirty="0">
                <a:solidFill>
                  <a:schemeClr val="accent1"/>
                </a:solidFill>
              </a:rPr>
              <a:t>ช่วงเวลาเริ่ม-สิ้นสุด</a:t>
            </a:r>
            <a:r>
              <a:rPr lang="en-US" sz="1700" dirty="0">
                <a:solidFill>
                  <a:schemeClr val="tx1"/>
                </a:solidFill>
              </a:rPr>
              <a:t> (ทีละครึ่งชั่วโมง)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69464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สถานที่</a:t>
            </a:r>
            <a:r>
              <a:rPr lang="en-US" sz="1700" dirty="0">
                <a:solidFill>
                  <a:schemeClr val="tx1"/>
                </a:solidFill>
              </a:rPr>
              <a:t> ละเอียดพอไปถึงได้โดยไม่ต้องโทรถาม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90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990088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รายละเอียดงาน</a:t>
            </a:r>
            <a:r>
              <a:rPr lang="en-US" sz="1700" dirty="0">
                <a:solidFill>
                  <a:schemeClr val="tx1"/>
                </a:solidFill>
              </a:rPr>
              <a:t> เช่น รับเอกสารธนาคาร ยื่นเอกสารราชการ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107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41071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แนบเอกสารที่ต้องใช้</a:t>
            </a:r>
            <a:endParaRPr lang="en-US" sz="1700" dirty="0"/>
          </a:p>
        </p:txBody>
      </p:sp>
      <p:sp>
        <p:nvSpPr>
          <p:cNvPr id="15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17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22402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ผู้รับผิดชอบงาน Messenger (ฝ่ายประสานงานฯ)</a:t>
            </a:r>
            <a:endParaRPr lang="en-US" sz="1600" dirty="0"/>
          </a:p>
        </p:txBody>
      </p:sp>
      <p:sp>
        <p:nvSpPr>
          <p:cNvPr id="20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เวลาชน → ระบบบอกว่าชนกับใคร เรื่องอะไร ยืนยันแล้วจองซ้อนได้ (สีม่วง)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แบบฟอร์มแจ้งซ่อม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15544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FM-ADM-007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972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อุปกรณ์/คอมพิวเตอร์/อาคารเสีย ต้องการซ่อม เปลี่ยนอะไหล่ ตรวจเช็ค ติดตั้ง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รหัส / ชื่อเครื่องมือ-อุปกรณ์</a:t>
            </a:r>
            <a:r>
              <a:rPr lang="en-US" sz="1700" dirty="0">
                <a:solidFill>
                  <a:schemeClr val="tx1"/>
                </a:solidFill>
              </a:rPr>
              <a:t> (ดูป้ายบนเครื่อง ไม่มีใส่ -)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69464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ประเภทคำขอ</a:t>
            </a:r>
            <a:r>
              <a:rPr lang="en-US" sz="1700" dirty="0">
                <a:solidFill>
                  <a:schemeClr val="tx1"/>
                </a:solidFill>
              </a:rPr>
              <a:t> เลือกได้หลายข้อ · อื่นๆ ต้องระบุเพิ่ม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90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990088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ประเภทงานซ่อม</a:t>
            </a:r>
            <a:r>
              <a:rPr lang="en-US" sz="1700" dirty="0">
                <a:solidFill>
                  <a:schemeClr val="tx1"/>
                </a:solidFill>
              </a:rPr>
              <a:t> — IT / เครื่องมือวัด-ช่าง / อาคาร-สถานที่ / อื่นๆ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107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41071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อาการที่เสีย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dirty="0">
                <a:solidFill>
                  <a:schemeClr val="accent1"/>
                </a:solidFill>
              </a:rPr>
              <a:t>ภาพความเสียหาย</a:t>
            </a:r>
            <a:r>
              <a:rPr lang="en-US" sz="1700" dirty="0">
                <a:solidFill>
                  <a:schemeClr val="tx1"/>
                </a:solidFill>
              </a:rPr>
              <a:t> (บังคับ)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313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831336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โครงการ/หน้างาน (ถ้ามี)</a:t>
            </a:r>
            <a:endParaRPr lang="en-US" sz="1700" dirty="0"/>
          </a:p>
        </p:txBody>
      </p:sp>
      <p:sp>
        <p:nvSpPr>
          <p:cNvPr id="17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19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21" name="Text 19"/>
          <p:cNvSpPr txBox="1"/>
          <p:nvPr/>
        </p:nvSpPr>
        <p:spPr>
          <a:xfrm>
            <a:off x="7973568" y="2240280"/>
            <a:ext cx="3639312" cy="61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ฝ่ายตามประเภทงานซ่อม (IT · จัดซื้อ · เดินระบบ · ประสานงาน)</a:t>
            </a:r>
            <a:endParaRPr lang="en-US" sz="1600" dirty="0"/>
          </a:p>
        </p:txBody>
      </p:sp>
      <p:sp>
        <p:nvSpPr>
          <p:cNvPr id="22" name="num-2"/>
          <p:cNvSpPr/>
          <p:nvPr/>
        </p:nvSpPr>
        <p:spPr>
          <a:xfrm>
            <a:off x="7498080" y="29403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2940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7973568" y="291287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รองกรรมการผู้จัดการด้านการเงิน</a:t>
            </a:r>
            <a:endParaRPr lang="en-US" sz="1600" dirty="0"/>
          </a:p>
        </p:txBody>
      </p:sp>
      <p:sp>
        <p:nvSpPr>
          <p:cNvPr id="25" name="num-3"/>
          <p:cNvSpPr/>
          <p:nvPr/>
        </p:nvSpPr>
        <p:spPr>
          <a:xfrm>
            <a:off x="7498080" y="337921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0" y="3379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335178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กรรมการผู้จัดการ</a:t>
            </a:r>
            <a:endParaRPr lang="en-US" sz="1600" dirty="0"/>
          </a:p>
        </p:txBody>
      </p:sp>
      <p:sp>
        <p:nvSpPr>
          <p:cNvPr id="28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ลำดับที่ 1 ระบบเลือกฝ่ายเองจากประเภทงานซ่อม ไม่ต้องเลือกผู้อนุมัติ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ขอสิทธิ์เข้าถึงระบบ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15544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FM-ADM-001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972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ขอเปิด แก้ไข หรือยกเลิกสิทธิ์ระบบงาน/โฟลเดอร์ ให้ตนเองหรือลูกทีม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ขอสิทธิ์ให้</a:t>
            </a:r>
            <a:r>
              <a:rPr lang="en-US" sz="1700" dirty="0">
                <a:solidFill>
                  <a:schemeClr val="tx1"/>
                </a:solidFill>
              </a:rPr>
              <a:t> ตนเอง หรือลูกทีม (เลือกลูกทีมแล้วมีช่องเลือกชื่อ)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69464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ประเภทคำขอ</a:t>
            </a:r>
            <a:r>
              <a:rPr lang="en-US" sz="1700" dirty="0">
                <a:solidFill>
                  <a:schemeClr val="tx1"/>
                </a:solidFill>
              </a:rPr>
              <a:t> ใหม่ / แก้ไข-เพิ่ม / ยกเลิก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90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990088"/>
            <a:ext cx="6327648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ระบบที่ขอ</a:t>
            </a:r>
            <a:r>
              <a:rPr lang="en-US" sz="1700" dirty="0">
                <a:solidFill>
                  <a:schemeClr val="tx1"/>
                </a:solidFill>
              </a:rPr>
              <a:t> เลือกได้หลายข้อ (M365, SharePoint, Teams, Biosoft, AutoCAD, VPN…)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7614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67614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ระดับสิทธิ์</a:t>
            </a:r>
            <a:r>
              <a:rPr lang="en-US" sz="1700" dirty="0">
                <a:solidFill>
                  <a:schemeClr val="tx1"/>
                </a:solidFill>
              </a:rPr>
              <a:t> และ </a:t>
            </a:r>
            <a:r>
              <a:rPr lang="en-US" sz="1700" dirty="0">
                <a:solidFill>
                  <a:schemeClr val="accent1"/>
                </a:solidFill>
              </a:rPr>
              <a:t>ถาวรหรือชั่วคราว</a:t>
            </a:r>
            <a:r>
              <a:rPr lang="en-US" sz="1700" dirty="0">
                <a:solidFill>
                  <a:schemeClr val="tx1"/>
                </a:solidFill>
              </a:rPr>
              <a:t> (ชั่วคราวต้องใส่วันสิ้นสุด)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9676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096766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เหตุผล / ความจำเป็น</a:t>
            </a:r>
            <a:endParaRPr lang="en-US" sz="1700" dirty="0"/>
          </a:p>
        </p:txBody>
      </p:sp>
      <p:sp>
        <p:nvSpPr>
          <p:cNvPr id="17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19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21" name="Text 19"/>
          <p:cNvSpPr txBox="1"/>
          <p:nvPr/>
        </p:nvSpPr>
        <p:spPr>
          <a:xfrm>
            <a:off x="7973568" y="22402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ผู้บังคับบัญชา</a:t>
            </a:r>
            <a:endParaRPr lang="en-US" sz="1600" dirty="0"/>
          </a:p>
        </p:txBody>
      </p:sp>
      <p:sp>
        <p:nvSpPr>
          <p:cNvPr id="22" name="num-2"/>
          <p:cNvSpPr/>
          <p:nvPr/>
        </p:nvSpPr>
        <p:spPr>
          <a:xfrm>
            <a:off x="7498080" y="270662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7973568" y="267919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ผู้ดูแลระบบ / IT</a:t>
            </a:r>
            <a:endParaRPr lang="en-US" sz="1600" dirty="0"/>
          </a:p>
        </p:txBody>
      </p:sp>
      <p:sp>
        <p:nvSpPr>
          <p:cNvPr id="25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ช่องเปลี่ยนตามประเภทคำขอ — ขอยกเลิกจะไม่ถามระดับสิทธิ์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MEMORANDUM / ลืมลงเวลา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2153412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HRM-001 · HRM-008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747772" y="1097280"/>
            <a:ext cx="90022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ลาเร่งด่วน มาสาย ไม่ได้ลงเวลา ขออนุมัติเรื่องต่าง ๆ · ลืมสแกนเข้า-ออก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MEMORANDUM — </a:t>
            </a:r>
            <a:r>
              <a:rPr lang="en-US" sz="1700" dirty="0">
                <a:solidFill>
                  <a:schemeClr val="accent1"/>
                </a:solidFill>
              </a:rPr>
              <a:t>เรื่อง</a:t>
            </a:r>
            <a:r>
              <a:rPr lang="en-US" sz="1700" dirty="0">
                <a:solidFill>
                  <a:schemeClr val="tx1"/>
                </a:solidFill>
              </a:rPr>
              <a:t> ลาพิเศษ · มาสายเกินห้านาที · ไม่ได้ลงเวลาเข้าหรือออก · ขออนุมัติเรื่อง · อื่น ๆ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8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834894"/>
            <a:ext cx="6327648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ระบุเรื่อง</a:t>
            </a:r>
            <a:r>
              <a:rPr lang="en-US" sz="1700" dirty="0">
                <a:solidFill>
                  <a:schemeClr val="tx1"/>
                </a:solidFill>
              </a:rPr>
              <a:t> โผล่เมื่อเลือกขออนุมัติหรืออื่น ๆ · </a:t>
            </a:r>
            <a:r>
              <a:rPr lang="en-US" sz="1700" dirty="0">
                <a:solidFill>
                  <a:schemeClr val="accent1"/>
                </a:solidFill>
              </a:rPr>
              <a:t>วันที่เกิดเหตุ</a:t>
            </a:r>
            <a:r>
              <a:rPr lang="en-US" sz="1700" dirty="0">
                <a:solidFill>
                  <a:schemeClr val="tx1"/>
                </a:solidFill>
              </a:rPr>
              <a:t> โผล่เมื่อเป็นเรื่องลา สาย หรือลงเวลา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209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520948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เรียน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dirty="0">
                <a:solidFill>
                  <a:schemeClr val="accent1"/>
                </a:solidFill>
              </a:rPr>
              <a:t>เหตุผล</a:t>
            </a:r>
            <a:r>
              <a:rPr lang="en-US" sz="1700" dirty="0">
                <a:solidFill>
                  <a:schemeClr val="tx1"/>
                </a:solidFill>
              </a:rPr>
              <a:t> · แนบใบรับรองแพทย์หรือหลักฐาน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415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4157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ลืมลงเวลา — </a:t>
            </a:r>
            <a:r>
              <a:rPr lang="en-US" sz="1700" dirty="0">
                <a:solidFill>
                  <a:schemeClr val="accent1"/>
                </a:solidFill>
              </a:rPr>
              <a:t>วันที่ · ช่วงที่ลืม · เวลาเริ่มและเลิกงาน · เหตุผล</a:t>
            </a:r>
            <a:endParaRPr lang="en-US" sz="1700" dirty="0"/>
          </a:p>
        </p:txBody>
      </p:sp>
      <p:sp>
        <p:nvSpPr>
          <p:cNvPr id="15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17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22402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ผู้บังคับบัญชา</a:t>
            </a:r>
            <a:endParaRPr lang="en-US" sz="1600" dirty="0"/>
          </a:p>
        </p:txBody>
      </p:sp>
      <p:sp>
        <p:nvSpPr>
          <p:cNvPr id="20" name="num-2"/>
          <p:cNvSpPr/>
          <p:nvPr/>
        </p:nvSpPr>
        <p:spPr>
          <a:xfrm>
            <a:off x="7498080" y="270662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7973568" y="267919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ฝ่ายทรัพยากรบุคคล (MEMORANDUM)</a:t>
            </a:r>
            <a:endParaRPr lang="en-US" sz="1600" dirty="0"/>
          </a:p>
        </p:txBody>
      </p:sp>
      <p:sp>
        <p:nvSpPr>
          <p:cNvPr id="23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MEMORANDUM ส่งออกเป็นเอกสารบันทึกข้อความ PDF พร้อมลายเซ็นได้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ขอจัดหาที่พัก / เบิกสวัสดิการ</a:t>
            </a:r>
            <a:endParaRPr lang="en-US" sz="4050" dirty="0"/>
          </a:p>
        </p:txBody>
      </p:sp>
      <p:sp>
        <p:nvSpPr>
          <p:cNvPr id="3" name="code-pill"/>
          <p:cNvSpPr/>
          <p:nvPr/>
        </p:nvSpPr>
        <p:spPr>
          <a:xfrm>
            <a:off x="457200" y="1143000"/>
            <a:ext cx="2153412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HRM-002 · HRM-006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2747772" y="1097280"/>
            <a:ext cx="90022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accent1"/>
                </a:solidFill>
              </a:rPr>
              <a:t>ใช้เมื่อ  </a:t>
            </a:r>
            <a:r>
              <a:rPr lang="en-US" sz="1750" dirty="0">
                <a:solidFill>
                  <a:schemeClr val="tx1"/>
                </a:solidFill>
              </a:rPr>
              <a:t>ต้องการที่พักใกล้ไซต์งาน · เบิกค่าห้องพัก ที่จอดรถ ค่าส่วนกลาง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ช่องสำคัญที่ต้องกรอก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27648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ขอที่พัก — </a:t>
            </a:r>
            <a:r>
              <a:rPr lang="en-US" sz="1700" dirty="0">
                <a:solidFill>
                  <a:schemeClr val="accent1"/>
                </a:solidFill>
              </a:rPr>
              <a:t>ลักษณะงาน</a:t>
            </a:r>
            <a:r>
              <a:rPr lang="en-US" sz="1700" dirty="0">
                <a:solidFill>
                  <a:schemeClr val="tx1"/>
                </a:solidFill>
              </a:rPr>
              <a:t> ประจำไซต์ · ย้ายระยะยาว · ช่วยระยะสั้น (คำถามถัดไปเปลี่ยนตามข้อนี้)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8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834894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ประจำหรือย้าย — วันเริ่ม · ระยะเวลา · ที่พักเดิม · ไซต์ · ลิงก์แผนที่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5551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255518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ระยะสั้น — ช่วงวันที่ · ไปที่พักระยะสั้นได้ไหม · ไซต์ถัดไป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7614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676142"/>
            <a:ext cx="6327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ยืนยันชื่อผู้บริหาร และติ๊ก </a:t>
            </a:r>
            <a:r>
              <a:rPr lang="en-US" sz="1700" dirty="0">
                <a:solidFill>
                  <a:schemeClr val="accent1"/>
                </a:solidFill>
              </a:rPr>
              <a:t>รับทราบและยืนยันข้อมูล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9676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096766"/>
            <a:ext cx="6327648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สวัสดิการ — </a:t>
            </a:r>
            <a:r>
              <a:rPr lang="en-US" sz="1700" dirty="0">
                <a:solidFill>
                  <a:schemeClr val="accent1"/>
                </a:solidFill>
              </a:rPr>
              <a:t>ประเภท</a:t>
            </a:r>
            <a:r>
              <a:rPr lang="en-US" sz="1700" dirty="0">
                <a:solidFill>
                  <a:schemeClr val="tx1"/>
                </a:solidFill>
              </a:rPr>
              <a:t> (เลือกหลายข้อ) · เดือน · ยอดเงิน · </a:t>
            </a:r>
            <a:r>
              <a:rPr lang="en-US" sz="1700" dirty="0">
                <a:solidFill>
                  <a:schemeClr val="accent1"/>
                </a:solidFill>
              </a:rPr>
              <a:t>ใบเสร็จในนามบริษัท</a:t>
            </a:r>
            <a:r>
              <a:rPr lang="en-US" sz="1700" dirty="0">
                <a:solidFill>
                  <a:schemeClr val="tx1"/>
                </a:solidFill>
              </a:rPr>
              <a:t> (บังคับ)</a:t>
            </a:r>
            <a:endParaRPr lang="en-US" sz="1700" dirty="0"/>
          </a:p>
        </p:txBody>
      </p:sp>
      <p:sp>
        <p:nvSpPr>
          <p:cNvPr id="17" name="route-box"/>
          <p:cNvSpPr/>
          <p:nvPr/>
        </p:nvSpPr>
        <p:spPr>
          <a:xfrm>
            <a:off x="7315200" y="173736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ลำดับการอนุมัติ</a:t>
            </a:r>
            <a:endParaRPr lang="en-US" sz="1900" dirty="0"/>
          </a:p>
        </p:txBody>
      </p:sp>
      <p:sp>
        <p:nvSpPr>
          <p:cNvPr id="19" name="num-1"/>
          <p:cNvSpPr/>
          <p:nvPr/>
        </p:nvSpPr>
        <p:spPr>
          <a:xfrm>
            <a:off x="7498080" y="22677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21" name="Text 19"/>
          <p:cNvSpPr txBox="1"/>
          <p:nvPr/>
        </p:nvSpPr>
        <p:spPr>
          <a:xfrm>
            <a:off x="7973568" y="22402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ผู้บังคับบัญชา</a:t>
            </a:r>
            <a:endParaRPr lang="en-US" sz="1600" dirty="0"/>
          </a:p>
        </p:txBody>
      </p:sp>
      <p:sp>
        <p:nvSpPr>
          <p:cNvPr id="22" name="num-2"/>
          <p:cNvSpPr/>
          <p:nvPr/>
        </p:nvSpPr>
        <p:spPr>
          <a:xfrm>
            <a:off x="7498080" y="270662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7973568" y="267919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ฝ่ายทรัพยากรบุคคล</a:t>
            </a:r>
            <a:endParaRPr lang="en-US" sz="1600" dirty="0"/>
          </a:p>
        </p:txBody>
      </p:sp>
      <p:sp>
        <p:nvSpPr>
          <p:cNvPr id="25" name="num-3"/>
          <p:cNvSpPr/>
          <p:nvPr/>
        </p:nvSpPr>
        <p:spPr>
          <a:xfrm>
            <a:off x="7498080" y="314553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311810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การเงิน (สวัสดิการ)</a:t>
            </a:r>
            <a:endParaRPr lang="en-US" sz="1600" dirty="0"/>
          </a:p>
        </p:txBody>
      </p:sp>
      <p:sp>
        <p:nvSpPr>
          <p:cNvPr id="28" name="callout-tip"/>
          <p:cNvSpPr/>
          <p:nvPr/>
        </p:nvSpPr>
        <p:spPr>
          <a:xfrm>
            <a:off x="7315200" y="48463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9792" y="484632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กรอกข้อแรกให้ถูกก่อน ช่องที่เหลือจะขึ้นตามเงื่อนไข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แบบฟอร์มอื่น ๆ และฟอร์มใหม่</a:t>
            </a:r>
            <a:endParaRPr lang="en-US" sz="4050" dirty="0"/>
          </a:p>
        </p:txBody>
      </p:sp>
      <p:sp>
        <p:nvSpPr>
          <p:cNvPr id="3" name="fo-0"/>
          <p:cNvSpPr/>
          <p:nvPr/>
        </p:nvSpPr>
        <p:spPr>
          <a:xfrm>
            <a:off x="457200" y="1325880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PPG e-Service ขอแบบ (↗)</a:t>
            </a:r>
            <a:endParaRPr lang="en-US" sz="205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2588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เปิดระบบภายนอกของฝ่ายเขียนแบบในแท็บใหม่ · คู่มือ SD-DWG-002</a:t>
            </a:r>
            <a:endParaRPr lang="en-US" sz="1900" dirty="0"/>
          </a:p>
        </p:txBody>
      </p:sp>
      <p:sp>
        <p:nvSpPr>
          <p:cNvPr id="6" name="fo-1"/>
          <p:cNvSpPr/>
          <p:nvPr/>
        </p:nvSpPr>
        <p:spPr>
          <a:xfrm>
            <a:off x="457200" y="2240280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4028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ประเมินผลบุคลากร / ทดลองงาน</a:t>
            </a:r>
            <a:endParaRPr lang="en-US" sz="20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24028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ใช้เมนู “ประเมินผลบุคลากร” (FM-HRM-004)</a:t>
            </a:r>
            <a:endParaRPr lang="en-US" sz="1900" dirty="0"/>
          </a:p>
        </p:txBody>
      </p:sp>
      <p:sp>
        <p:nvSpPr>
          <p:cNvPr id="9" name="fo-2"/>
          <p:cNvSpPr/>
          <p:nvPr/>
        </p:nvSpPr>
        <p:spPr>
          <a:xfrm>
            <a:off x="457200" y="3154680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จองห้องประชุม</a:t>
            </a:r>
            <a:endParaRPr lang="en-US" sz="2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5468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ใช้เมนู “จองห้องประชุม” นัดเข้าปฏิทิน Outlook</a:t>
            </a:r>
            <a:endParaRPr lang="en-US" sz="1900" dirty="0"/>
          </a:p>
        </p:txBody>
      </p:sp>
      <p:sp>
        <p:nvSpPr>
          <p:cNvPr id="12" name="fo-3"/>
          <p:cNvSpPr/>
          <p:nvPr/>
        </p:nvSpPr>
        <p:spPr>
          <a:xfrm>
            <a:off x="457200" y="4069080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06908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ฟอร์มที่ผู้ดูแลเพิ่มภายหลัง</a:t>
            </a:r>
            <a:endParaRPr lang="en-US" sz="2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06908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ขึ้นในหน้าแบบฟอร์มและ 📘 คู่มือทุกแบบฟอร์มทันที</a:t>
            </a:r>
            <a:endParaRPr lang="en-US" sz="1900" dirty="0"/>
          </a:p>
        </p:txBody>
      </p:sp>
      <p:sp>
        <p:nvSpPr>
          <p:cNvPr id="15" name="fo-4"/>
          <p:cNvSpPr/>
          <p:nvPr/>
        </p:nvSpPr>
        <p:spPr>
          <a:xfrm>
            <a:off x="457200" y="4983480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98348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ทุกฟอร์มมีเหมือนกัน</a:t>
            </a:r>
            <a:endParaRPr lang="en-US" sz="20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498348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ข้อมูลผู้ยื่นเติมให้ · เลขที่เอกสารอัตโนมัติ · แก้ไขและยื่นใหม่ · ยกเลิกเองได้</a:t>
            </a:r>
            <a:endParaRPr lang="en-US" sz="1900" dirty="0"/>
          </a:p>
        </p:txBody>
      </p:sp>
      <p:sp>
        <p:nvSpPr>
          <p:cNvPr id="18" name="callout-tip"/>
          <p:cNvSpPr/>
          <p:nvPr/>
        </p:nvSpPr>
        <p:spPr>
          <a:xfrm>
            <a:off x="457200" y="5943600"/>
            <a:ext cx="11274552" cy="411480"/>
          </a:xfrm>
          <a:prstGeom prst="roundRect">
            <a:avLst>
              <a:gd name="adj" fmla="val 17778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5943600"/>
            <a:ext cx="10945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ไม่แน่ใจฟอร์มไหน → </a:t>
            </a:r>
            <a:r>
              <a:rPr lang="en-US" sz="1900" b="1" dirty="0">
                <a:solidFill>
                  <a:schemeClr val="tx2"/>
                </a:solidFill>
              </a:rPr>
              <a:t>📘 คู่มือทุกแบบฟอร์ม</a:t>
            </a:r>
            <a:r>
              <a:rPr lang="en-US" sz="1900" dirty="0">
                <a:solidFill>
                  <a:schemeClr val="tx1"/>
                </a:solidFill>
              </a:rPr>
              <a:t> ค้นหาชื่อได้เลย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ติดตามสถานะ: ค้นหา + ชื่อโครงการ</a:t>
            </a:r>
            <a:endParaRPr lang="en-US" sz="4050" dirty="0"/>
          </a:p>
        </p:txBody>
      </p:sp>
      <p:sp>
        <p:nvSpPr>
          <p:cNvPr id="3" name="frame-114-search-project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14-search-project" descr="114-search-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พิมพ์ใน </a:t>
            </a:r>
            <a:r>
              <a:rPr lang="en-US" sz="1950" b="1" dirty="0">
                <a:solidFill>
                  <a:schemeClr val="tx2"/>
                </a:solidFill>
              </a:rPr>
              <a:t>ช่องค้นหา</a:t>
            </a:r>
            <a:r>
              <a:rPr lang="en-US" sz="1950" dirty="0">
                <a:solidFill>
                  <a:schemeClr val="tx1"/>
                </a:solidFill>
              </a:rPr>
              <a:t> — ค้นทุกแบบฟอร์มพร้อมกัน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225590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2559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228469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ขึ้น </a:t>
            </a:r>
            <a:r>
              <a:rPr lang="en-US" sz="1950" b="1" dirty="0">
                <a:solidFill>
                  <a:schemeClr val="tx2"/>
                </a:solidFill>
              </a:rPr>
              <a:t>“พบ x จาก y รายการ”</a:t>
            </a:r>
            <a:r>
              <a:rPr lang="en-US" sz="1950" dirty="0">
                <a:solidFill>
                  <a:schemeClr val="tx1"/>
                </a:solidFill>
              </a:rPr>
              <a:t> ตัวเลขบนแท็บเป็นจำนวนที่พบ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31127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1127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3085338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🏗 ชื่อโครงการ</a:t>
            </a:r>
            <a:r>
              <a:rPr lang="en-US" sz="1950" dirty="0">
                <a:solidFill>
                  <a:schemeClr val="tx1"/>
                </a:solidFill>
              </a:rPr>
              <a:t> ต่อจากชื่อแบบฟอร์ม (รวมที่พิมพ์เอง)</a:t>
            </a:r>
            <a:endParaRPr lang="en-US" sz="1950" dirty="0"/>
          </a:p>
        </p:txBody>
      </p:sp>
      <p:sp>
        <p:nvSpPr>
          <p:cNvPr id="14" name="callout-tip"/>
          <p:cNvSpPr/>
          <p:nvPr/>
        </p:nvSpPr>
        <p:spPr>
          <a:xfrm>
            <a:off x="7589520" y="4206240"/>
            <a:ext cx="4160520" cy="1965960"/>
          </a:xfrm>
          <a:prstGeom prst="roundRect">
            <a:avLst>
              <a:gd name="adj" fmla="val 3721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4206240"/>
            <a:ext cx="38313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ค้นได้: </a:t>
            </a:r>
            <a:r>
              <a:rPr lang="en-US" sz="1900" b="1" dirty="0">
                <a:solidFill>
                  <a:schemeClr val="tx2"/>
                </a:solidFill>
              </a:rPr>
              <a:t>ชื่อโครงการ · ชื่อพนักงาน · เลขที่ · หัวข้อ · เลข PR · ทะเบียนรถ</a:t>
            </a:r>
            <a:r>
              <a:rPr lang="en-US" sz="1900" dirty="0">
                <a:solidFill>
                  <a:schemeClr val="tx1"/>
                </a:solidFill>
              </a:rPr>
              <a:t> · หลายคำเว้นวรรค = ตรงทุกคำ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วันที่ต้องใช้เงิน: ผู้บริหารเห็นใบด่วนทันที</a:t>
            </a:r>
            <a:endParaRPr lang="en-US" sz="4050" dirty="0"/>
          </a:p>
        </p:txBody>
      </p:sp>
      <p:sp>
        <p:nvSpPr>
          <p:cNvPr id="3" name="frame-112-status-acc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12-status-acc" descr="112-status-ac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eed-0"/>
          <p:cNvSpPr/>
          <p:nvPr/>
        </p:nvSpPr>
        <p:spPr>
          <a:xfrm>
            <a:off x="7589520" y="132588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DE8E7"/>
          </a:solidFill>
          <a:ln w="12700">
            <a:solidFill>
              <a:srgbClr val="FDE8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tx2"/>
                </a:solidFill>
              </a:rPr>
              <a:t>🔴 ถึงกำหนดแล้ว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ถึงวันใช้เงินแล้ว / เลยกำหนด — อนุมัติด่วน</a:t>
            </a:r>
            <a:endParaRPr lang="en-US" sz="1750" dirty="0"/>
          </a:p>
        </p:txBody>
      </p:sp>
      <p:sp>
        <p:nvSpPr>
          <p:cNvPr id="7" name="need-1"/>
          <p:cNvSpPr/>
          <p:nvPr/>
        </p:nvSpPr>
        <p:spPr>
          <a:xfrm>
            <a:off x="7589520" y="2350008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2350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tx2"/>
                </a:solidFill>
              </a:rPr>
              <a:t>🟡 ใกล้ถึง (1–3 วัน)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อีก 1–3 วันจะถึงวันใช้เงิน</a:t>
            </a:r>
            <a:endParaRPr lang="en-US" sz="1750" dirty="0"/>
          </a:p>
        </p:txBody>
      </p:sp>
      <p:sp>
        <p:nvSpPr>
          <p:cNvPr id="9" name="need-2"/>
          <p:cNvSpPr/>
          <p:nvPr/>
        </p:nvSpPr>
        <p:spPr>
          <a:xfrm>
            <a:off x="7589520" y="3374136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337413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chemeClr val="tx2"/>
                </a:solidFill>
              </a:rPr>
              <a:t>⚪ ยังมีเวลา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อีกเกิน 3 วัน</a:t>
            </a:r>
            <a:endParaRPr lang="en-US" sz="1750" dirty="0"/>
          </a:p>
        </p:txBody>
      </p:sp>
      <p:sp>
        <p:nvSpPr>
          <p:cNvPr id="11" name="callout-note"/>
          <p:cNvSpPr/>
          <p:nvPr/>
        </p:nvSpPr>
        <p:spPr>
          <a:xfrm>
            <a:off x="7589520" y="452628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54112" y="4526280"/>
            <a:ext cx="38313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r>
              <a:rPr lang="en-US" sz="1900" dirty="0">
                <a:solidFill>
                  <a:schemeClr val="tx1"/>
                </a:solidFill>
              </a:rPr>
              <a:t>เฉพาะ</a:t>
            </a:r>
            <a:r>
              <a:rPr lang="en-US" sz="1900" b="1" dirty="0">
                <a:solidFill>
                  <a:schemeClr val="tx2"/>
                </a:solidFill>
              </a:rPr>
              <a:t>เบิกเงินสำรองโครงการ / ทดรองจ่าย</a:t>
            </a:r>
            <a:r>
              <a:rPr lang="en-US" sz="1900" dirty="0">
                <a:solidFill>
                  <a:schemeClr val="tx1"/>
                </a:solidFill>
              </a:rPr>
              <a:t> · นับเฉพาะใบที่ยังไม่อนุมัติ · </a:t>
            </a:r>
            <a:r>
              <a:rPr lang="en-US" sz="1900" b="1" dirty="0">
                <a:solidFill>
                  <a:schemeClr val="tx2"/>
                </a:solidFill>
              </a:rPr>
              <a:t>กดปุ่มสีเพื่อกรอง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ช่องโครงการ: สำนักงาน / O&amp;M / พิมพ์เอง</a:t>
            </a:r>
            <a:endParaRPr lang="en-US" sz="4050" dirty="0"/>
          </a:p>
        </p:txBody>
      </p:sp>
      <p:sp>
        <p:nvSpPr>
          <p:cNvPr id="3" name="frame-111-office-project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11-office-project" descr="111-office-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pj-0"/>
          <p:cNvSpPr/>
          <p:nvPr/>
        </p:nvSpPr>
        <p:spPr>
          <a:xfrm>
            <a:off x="7589520" y="1325880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32588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ชื่อโครงการจากทะเบียน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ทีมโครงการอนุมัติ</a:t>
            </a:r>
            <a:endParaRPr lang="en-US" sz="1600" dirty="0"/>
          </a:p>
        </p:txBody>
      </p:sp>
      <p:sp>
        <p:nvSpPr>
          <p:cNvPr id="7" name="pj-1"/>
          <p:cNvSpPr/>
          <p:nvPr/>
        </p:nvSpPr>
        <p:spPr>
          <a:xfrm>
            <a:off x="7589520" y="2112264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211226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สำนักงานใหญ่ / สำนักงานชลบุรี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ผู้บังคับบัญชาอนุมัติ</a:t>
            </a:r>
            <a:endParaRPr lang="en-US" sz="1600" dirty="0"/>
          </a:p>
        </p:txBody>
      </p:sp>
      <p:sp>
        <p:nvSpPr>
          <p:cNvPr id="9" name="pj-2"/>
          <p:cNvSpPr/>
          <p:nvPr/>
        </p:nvSpPr>
        <p:spPr>
          <a:xfrm>
            <a:off x="7589520" y="2898648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89864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งาน O&amp;M + ไซต์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ผู้บังคับบัญชาอนุมัติ</a:t>
            </a:r>
            <a:endParaRPr lang="en-US" sz="1600" dirty="0"/>
          </a:p>
        </p:txBody>
      </p:sp>
      <p:sp>
        <p:nvSpPr>
          <p:cNvPr id="11" name="pj-3"/>
          <p:cNvSpPr/>
          <p:nvPr/>
        </p:nvSpPr>
        <p:spPr>
          <a:xfrm>
            <a:off x="7589520" y="3685032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368503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ไม่เกี่ยวกับโครงการ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ผู้บังคับบัญชาอนุมัติ</a:t>
            </a:r>
            <a:endParaRPr lang="en-US" sz="1600" dirty="0"/>
          </a:p>
        </p:txBody>
      </p:sp>
      <p:sp>
        <p:nvSpPr>
          <p:cNvPr id="13" name="pj-4"/>
          <p:cNvSpPr/>
          <p:nvPr/>
        </p:nvSpPr>
        <p:spPr>
          <a:xfrm>
            <a:off x="7589520" y="4471416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26680" y="447141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ช่องพิมพ์ชื่อโครงการเอง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โครงการใหม่ที่ยังไม่อยู่ในทะเบียน</a:t>
            </a:r>
            <a:endParaRPr lang="en-US" sz="1600" dirty="0"/>
          </a:p>
        </p:txBody>
      </p:sp>
      <p:sp>
        <p:nvSpPr>
          <p:cNvPr id="15" name="callout-tip"/>
          <p:cNvSpPr/>
          <p:nvPr/>
        </p:nvSpPr>
        <p:spPr>
          <a:xfrm>
            <a:off x="7589520" y="5349240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5349240"/>
            <a:ext cx="3831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r>
              <a:rPr lang="en-US" sz="1900" dirty="0">
                <a:solidFill>
                  <a:schemeClr val="tx1"/>
                </a:solidFill>
              </a:rPr>
              <a:t>ข้อความใต้ช่องบอกล่วงหน้าว่าคำขอจะไปหาใคร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กดเมนูแล้วขึ้นทันที และอื่น ๆ</a:t>
            </a:r>
            <a:endParaRPr lang="en-US" sz="4050" dirty="0"/>
          </a:p>
        </p:txBody>
      </p:sp>
      <p:sp>
        <p:nvSpPr>
          <p:cNvPr id="3" name="frame-115-home-forms"/>
          <p:cNvSpPr/>
          <p:nvPr/>
        </p:nvSpPr>
        <p:spPr>
          <a:xfrm>
            <a:off x="420624" y="1859375"/>
            <a:ext cx="3913632" cy="3733610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15-home-forms" descr="115-home-for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5951"/>
            <a:ext cx="3840480" cy="3660458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466344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6344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5138928" y="1371600"/>
            <a:ext cx="661111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ทุกเมนูเปิดได้ในไม่ถึงครึ่งวินาที</a:t>
            </a:r>
            <a:r>
              <a:rPr lang="en-US" sz="2050" dirty="0">
                <a:solidFill>
                  <a:schemeClr val="tx1"/>
                </a:solidFill>
              </a:rPr>
              <a:t> — ระบบโหลดข้อมูลรอไว้ แล้วอัปเดตเองเบื้องหลัง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4663440" y="236080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23608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5138928" y="2333371"/>
            <a:ext cx="661111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ระหว่าง</a:t>
            </a:r>
            <a:r>
              <a:rPr lang="en-US" sz="2050" b="1" dirty="0">
                <a:solidFill>
                  <a:schemeClr val="tx2"/>
                </a:solidFill>
              </a:rPr>
              <a:t>พิมพ์/กรอก</a:t>
            </a:r>
            <a:r>
              <a:rPr lang="en-US" sz="2050" dirty="0">
                <a:solidFill>
                  <a:schemeClr val="tx1"/>
                </a:solidFill>
              </a:rPr>
              <a:t> หรือเปิดหน้าต่างคำขอ หน้า</a:t>
            </a:r>
            <a:r>
              <a:rPr lang="en-US" sz="2050" b="1" dirty="0">
                <a:solidFill>
                  <a:schemeClr val="tx2"/>
                </a:solidFill>
              </a:rPr>
              <a:t>ไม่</a:t>
            </a:r>
            <a:r>
              <a:rPr lang="en-US" sz="2050" dirty="0">
                <a:solidFill>
                  <a:schemeClr val="tx1"/>
                </a:solidFill>
              </a:rPr>
              <a:t>อัปเดตทับ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4663440" y="299713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299713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5138928" y="2969705"/>
            <a:ext cx="661111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ออกเลขที่ · เลข PR · ตรวจคิว/รถชน · ตรวจก่อนอนุมัติ </a:t>
            </a:r>
            <a:r>
              <a:rPr lang="en-US" sz="2050" b="1" dirty="0">
                <a:solidFill>
                  <a:schemeClr val="tx2"/>
                </a:solidFill>
              </a:rPr>
              <a:t>ยังตรวจสดทุกครั้ง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4663440" y="395890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39589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5138928" y="3931476"/>
            <a:ext cx="661111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แบบฟอร์มที่ใช้บ่อย</a:t>
            </a:r>
            <a:r>
              <a:rPr lang="en-US" sz="2050" dirty="0">
                <a:solidFill>
                  <a:schemeClr val="tx1"/>
                </a:solidFill>
              </a:rPr>
              <a:t> หน้าแรก กดแล้วเปิดฟอร์มนั้นทันที</a:t>
            </a:r>
            <a:endParaRPr lang="en-US" sz="2050" dirty="0"/>
          </a:p>
        </p:txBody>
      </p:sp>
      <p:sp>
        <p:nvSpPr>
          <p:cNvPr id="17" name="num-5"/>
          <p:cNvSpPr/>
          <p:nvPr/>
        </p:nvSpPr>
        <p:spPr>
          <a:xfrm>
            <a:off x="4663440" y="459524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459524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5138928" y="4567809"/>
            <a:ext cx="661111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เอกสาร/คู่มือ</a:t>
            </a:r>
            <a:r>
              <a:rPr lang="en-US" sz="2050" dirty="0">
                <a:solidFill>
                  <a:schemeClr val="tx1"/>
                </a:solidFill>
              </a:rPr>
              <a:t> เรียงตามลำดับที่ผู้ดูแลจัด</a:t>
            </a:r>
            <a:endParaRPr lang="en-US" sz="2050" dirty="0"/>
          </a:p>
        </p:txBody>
      </p:sp>
      <p:sp>
        <p:nvSpPr>
          <p:cNvPr id="20" name="callout-warn"/>
          <p:cNvSpPr/>
          <p:nvPr/>
        </p:nvSpPr>
        <p:spPr>
          <a:xfrm>
            <a:off x="4663440" y="5440680"/>
            <a:ext cx="7086600" cy="731520"/>
          </a:xfrm>
          <a:prstGeom prst="roundRect">
            <a:avLst>
              <a:gd name="adj" fmla="val 10000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28032" y="5440680"/>
            <a:ext cx="6757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r>
              <a:rPr lang="en-US" sz="1900" dirty="0">
                <a:solidFill>
                  <a:schemeClr val="tx1"/>
                </a:solidFill>
              </a:rPr>
              <a:t>ไม่เห็นของใหม่ → กด </a:t>
            </a:r>
            <a:r>
              <a:rPr lang="en-US" sz="1900" b="1" dirty="0">
                <a:solidFill>
                  <a:schemeClr val="tx2"/>
                </a:solidFill>
              </a:rPr>
              <a:t>Ctrl + F5</a:t>
            </a:r>
            <a:r>
              <a:rPr lang="en-US" sz="1900" dirty="0">
                <a:solidFill>
                  <a:schemeClr val="tx1"/>
                </a:solidFill>
              </a:rPr>
              <a:t> หนึ่งครั้ง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8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ฝึกปฏิบัติและทดสอบ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แบบฝึก 3 ชุด · ปัญหาที่พบบ่อย · แบบทดสอบ 5 ข้อ</a:t>
            </a:r>
            <a:endParaRPr lang="en-US" sz="24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แบบฝึกปฏิบัติ 3 ชุด</a:t>
            </a:r>
            <a:endParaRPr lang="en-US" sz="4050" dirty="0"/>
          </a:p>
        </p:txBody>
      </p:sp>
      <p:sp>
        <p:nvSpPr>
          <p:cNvPr id="3" name="ex-1"/>
          <p:cNvSpPr/>
          <p:nvPr/>
        </p:nvSpPr>
        <p:spPr>
          <a:xfrm>
            <a:off x="45720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chemeClr val="bg1"/>
                </a:solidFill>
              </a:rPr>
              <a:t>1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chemeClr val="tx2"/>
                </a:solidFill>
              </a:rPr>
              <a:t>ยื่นคำขอ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ยื่น Memo บันทึกข้อความภายใน เรื่อง “ทดสอบการใช้งานระบบ – ชื่อคุณ” แนบรูป 1 รูป ลงลายเซ็น จดเลขที่คำขอ</a:t>
            </a:r>
            <a:endParaRPr lang="en-US" sz="2050" dirty="0"/>
          </a:p>
        </p:txBody>
      </p:sp>
      <p:sp>
        <p:nvSpPr>
          <p:cNvPr id="8" name="ex-2"/>
          <p:cNvSpPr/>
          <p:nvPr/>
        </p:nvSpPr>
        <p:spPr>
          <a:xfrm>
            <a:off x="425196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chemeClr val="bg1"/>
                </a:solidFill>
              </a:rPr>
              <a:t>2</a:t>
            </a:r>
            <a:endParaRPr lang="en-US" sz="3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chemeClr val="tx2"/>
                </a:solidFill>
              </a:rPr>
              <a:t>ติดตามและแก้ไข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ผู้สอนส่งกลับแก้ไข → อ่านเหตุผล แก้ชื่อเรื่องเป็น “(แก้ไขแล้ว)” ยื่นใหม่ → ส่งออกเป็น PDF</a:t>
            </a:r>
            <a:endParaRPr lang="en-US" sz="2050" dirty="0"/>
          </a:p>
        </p:txBody>
      </p:sp>
      <p:sp>
        <p:nvSpPr>
          <p:cNvPr id="13" name="ex-3"/>
          <p:cNvSpPr/>
          <p:nvPr/>
        </p:nvSpPr>
        <p:spPr>
          <a:xfrm>
            <a:off x="804672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chemeClr val="bg1"/>
                </a:solidFill>
              </a:rPr>
              <a:t>3</a:t>
            </a:r>
            <a:endParaRPr lang="en-US" sz="3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chemeClr val="tx2"/>
                </a:solidFill>
              </a:rPr>
              <a:t>ค้นหาข้อมูล</a:t>
            </a:r>
            <a:endParaRPr lang="en-US" sz="25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หาเบอร์ต่อ HR · หาหัวหน้าแผนกตัวเองในผังองค์กร · เปิดนโยบาย PDPA บอกวันที่ประกาศ</a:t>
            </a:r>
            <a:endParaRPr lang="en-US" sz="2050" dirty="0"/>
          </a:p>
        </p:txBody>
      </p:sp>
      <p:sp>
        <p:nvSpPr>
          <p:cNvPr id="18" name="callout-warn"/>
          <p:cNvSpPr/>
          <p:nvPr/>
        </p:nvSpPr>
        <p:spPr>
          <a:xfrm>
            <a:off x="457200" y="544068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5440680"/>
            <a:ext cx="1094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r>
              <a:rPr lang="en-US" sz="1900" dirty="0">
                <a:solidFill>
                  <a:schemeClr val="tx1"/>
                </a:solidFill>
              </a:rPr>
              <a:t>ผู้สอน: หลังอบรม </a:t>
            </a:r>
            <a:r>
              <a:rPr lang="en-US" sz="1900" b="1" dirty="0">
                <a:solidFill>
                  <a:schemeClr val="tx2"/>
                </a:solidFill>
              </a:rPr>
              <a:t>ยกเลิกคำขอทดสอบ</a:t>
            </a:r>
            <a:r>
              <a:rPr lang="en-US" sz="1900" dirty="0">
                <a:solidFill>
                  <a:schemeClr val="tx1"/>
                </a:solidFill>
              </a:rPr>
              <a:t> ทุกใบ เพื่อไม่ให้ปนกับรายงานจริง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ปัญหาที่พบบ่อยและวิธีแก้</a:t>
            </a:r>
            <a:endParaRPr lang="en-US" sz="4050" dirty="0"/>
          </a:p>
        </p:txBody>
      </p:sp>
      <p:sp>
        <p:nvSpPr>
          <p:cNvPr id="3" name="faq-0"/>
          <p:cNvSpPr/>
          <p:nvPr/>
        </p:nvSpPr>
        <p:spPr>
          <a:xfrm>
            <a:off x="457200" y="1325880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หน้าเว็บไม่อัปเดต ไม่เห็นปุ่มใหม่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กด Ctrl + F5 · มือถือปิดแท็บแล้วเปิดใหม่</a:t>
            </a:r>
            <a:endParaRPr lang="en-US" sz="2150" dirty="0"/>
          </a:p>
        </p:txBody>
      </p:sp>
      <p:sp>
        <p:nvSpPr>
          <p:cNvPr id="5" name="faq-1"/>
          <p:cNvSpPr/>
          <p:nvPr/>
        </p:nvSpPr>
        <p:spPr>
          <a:xfrm>
            <a:off x="6172200" y="1325880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325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ส่งคำขอไม่ได้ ขึ้นข้อความแดง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ข้อความบอกว่า “ยังขาด” ช่องไหน กรอกช่องที่มี * ให้ครบ</a:t>
            </a:r>
            <a:endParaRPr lang="en-US" sz="2150" dirty="0"/>
          </a:p>
        </p:txBody>
      </p:sp>
      <p:sp>
        <p:nvSpPr>
          <p:cNvPr id="7" name="faq-2"/>
          <p:cNvSpPr/>
          <p:nvPr/>
        </p:nvSpPr>
        <p:spPr>
          <a:xfrm>
            <a:off x="457200" y="2898648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9864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คำขอค้างที่ผู้อนุมัติหลายวัน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ดูชื่อในเส้นทางอนุมัติ แล้วติดต่อผู้อนุมัติโดยตรง</a:t>
            </a:r>
            <a:endParaRPr lang="en-US" sz="2150" dirty="0"/>
          </a:p>
        </p:txBody>
      </p:sp>
      <p:sp>
        <p:nvSpPr>
          <p:cNvPr id="9" name="faq-3"/>
          <p:cNvSpPr/>
          <p:nvPr/>
        </p:nvSpPr>
        <p:spPr>
          <a:xfrm>
            <a:off x="6172200" y="2898648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89864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คำขอไปหาผู้อนุมัติผิดคน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ข้อมูลหัวหน้าในทะเบียนไม่ถูก แจ้ง HR พร้อมเลขที่คำขอ</a:t>
            </a:r>
            <a:endParaRPr lang="en-US" sz="2150" dirty="0"/>
          </a:p>
        </p:txBody>
      </p:sp>
      <p:sp>
        <p:nvSpPr>
          <p:cNvPr id="11" name="faq-4"/>
          <p:cNvSpPr/>
          <p:nvPr/>
        </p:nvSpPr>
        <p:spPr>
          <a:xfrm>
            <a:off x="457200" y="4471416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471416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อนุมัติใน Teams แล้วเว็บไม่เปลี่ยน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รอไม่เกิน 10 นาที แล้วอนุมัติในเว็บแทน</a:t>
            </a:r>
            <a:endParaRPr lang="en-US" sz="2150" dirty="0"/>
          </a:p>
        </p:txBody>
      </p:sp>
      <p:sp>
        <p:nvSpPr>
          <p:cNvPr id="13" name="faq-5"/>
          <p:cNvSpPr/>
          <p:nvPr/>
        </p:nvSpPr>
        <p:spPr>
          <a:xfrm>
            <a:off x="6172200" y="4471416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471416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ถูกออกจากระบบเอง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ไม่ได้ใช้งาน 60 นาที เข้าสู่ระบบใหม่ได้ทันที</a:t>
            </a:r>
            <a:endParaRPr lang="en-US" sz="2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แบบทดสอบท้ายการอบรม</a:t>
            </a:r>
            <a:endParaRPr lang="en-US" sz="4050" dirty="0"/>
          </a:p>
        </p:txBody>
      </p:sp>
      <p:sp>
        <p:nvSpPr>
          <p:cNvPr id="3" name="num-1"/>
          <p:cNvSpPr/>
          <p:nvPr/>
        </p:nvSpPr>
        <p:spPr>
          <a:xfrm>
            <a:off x="457200" y="144475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417320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เข้าสู่ระบบต้องใช้บัญชีใด</a:t>
            </a:r>
            <a:endParaRPr lang="en-US" sz="2450" dirty="0"/>
          </a:p>
        </p:txBody>
      </p:sp>
      <p:sp>
        <p:nvSpPr>
          <p:cNvPr id="6" name="num-2"/>
          <p:cNvSpPr/>
          <p:nvPr/>
        </p:nvSpPr>
        <p:spPr>
          <a:xfrm>
            <a:off x="457200" y="221773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1773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190306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ตัวเลขแดงบนเมนู “ติดตามสถานะ” หมายถึงอะไร</a:t>
            </a:r>
            <a:endParaRPr lang="en-US" sz="2450" dirty="0"/>
          </a:p>
        </p:txBody>
      </p:sp>
      <p:sp>
        <p:nvSpPr>
          <p:cNvPr id="9" name="num-3"/>
          <p:cNvSpPr/>
          <p:nvPr/>
        </p:nvSpPr>
        <p:spPr>
          <a:xfrm>
            <a:off x="457200" y="299072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9072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963291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คำขอถูก “ส่งกลับแก้ไข” ต้องทำอย่างไร</a:t>
            </a:r>
            <a:endParaRPr lang="en-US" sz="2450" dirty="0"/>
          </a:p>
        </p:txBody>
      </p:sp>
      <p:sp>
        <p:nvSpPr>
          <p:cNvPr id="12" name="num-4"/>
          <p:cNvSpPr/>
          <p:nvPr/>
        </p:nvSpPr>
        <p:spPr>
          <a:xfrm>
            <a:off x="457200" y="3763709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637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736277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ผู้อนุมัติอนุมัติได้ทางใดบ้าง</a:t>
            </a:r>
            <a:endParaRPr lang="en-US" sz="2450" dirty="0"/>
          </a:p>
        </p:txBody>
      </p:sp>
      <p:sp>
        <p:nvSpPr>
          <p:cNvPr id="15" name="num-5"/>
          <p:cNvSpPr/>
          <p:nvPr/>
        </p:nvSpPr>
        <p:spPr>
          <a:xfrm>
            <a:off x="457200" y="453669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5366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509262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การเงินแนบสลิปได้กี่วิธี อะไรบ้าง</a:t>
            </a:r>
            <a:endParaRPr lang="en-US" sz="2450" dirty="0"/>
          </a:p>
        </p:txBody>
      </p:sp>
      <p:sp>
        <p:nvSpPr>
          <p:cNvPr id="18" name="quiz-card"/>
          <p:cNvSpPr/>
          <p:nvPr/>
        </p:nvSpPr>
        <p:spPr>
          <a:xfrm>
            <a:off x="7680960" y="1417320"/>
            <a:ext cx="4069080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1417320"/>
            <a:ext cx="3474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B9CDE6"/>
                </a:solidFill>
              </a:rPr>
              <a:t>12 ข้อเต็ม</a:t>
            </a:r>
            <a:endParaRPr lang="en-US" sz="2050" dirty="0"/>
          </a:p>
          <a:p>
            <a:pPr indent="0" marL="0">
              <a:buNone/>
            </a:pPr>
            <a:r>
              <a:rPr lang="en-US" sz="2950" b="1" dirty="0">
                <a:solidFill>
                  <a:schemeClr val="bg1"/>
                </a:solidFill>
              </a:rPr>
              <a:t>อยู่ในคู่มือบทที่ 20</a:t>
            </a:r>
            <a:endParaRPr lang="en-US" sz="20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 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chemeClr val="bg1"/>
                </a:solidFill>
              </a:rPr>
              <a:t>เกณฑ์ผ่าน 10 ข้อ · มีเฉลยท้ายบท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731520" y="82296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Prime Power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87552"/>
            <a:ext cx="2834640" cy="62834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ขอบคุณครับ / ค่ะ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มีคำถาม ติดต่อผู้ดูแลระบบได้ตลอด</a:t>
            </a:r>
            <a:endParaRPr lang="en-US" sz="2450" dirty="0"/>
          </a:p>
        </p:txBody>
      </p:sp>
      <p:sp>
        <p:nvSpPr>
          <p:cNvPr id="6" name="close-0"/>
          <p:cNvSpPr/>
          <p:nvPr/>
        </p:nvSpPr>
        <p:spPr>
          <a:xfrm>
            <a:off x="73152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คู่มือฉบับเต็ม</a:t>
            </a:r>
            <a:endParaRPr lang="en-US" sz="1600" dirty="0"/>
          </a:p>
          <a:p>
            <a:pPr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หน้าแรก → คู่มือการใช้งาน</a:t>
            </a:r>
            <a:endParaRPr lang="en-US" sz="1600" dirty="0"/>
          </a:p>
        </p:txBody>
      </p:sp>
      <p:sp>
        <p:nvSpPr>
          <p:cNvPr id="8" name="close-1"/>
          <p:cNvSpPr/>
          <p:nvPr/>
        </p:nvSpPr>
        <p:spPr>
          <a:xfrm>
            <a:off x="434340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ผู้ดูแลระบบ</a:t>
            </a:r>
            <a:endParaRPr lang="en-US" sz="1600" dirty="0"/>
          </a:p>
          <a:p>
            <a:pPr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ต่อ 216 · it@primepower.co.th</a:t>
            </a:r>
            <a:endParaRPr lang="en-US" sz="1600" dirty="0"/>
          </a:p>
        </p:txBody>
      </p:sp>
      <p:sp>
        <p:nvSpPr>
          <p:cNvPr id="10" name="close-2"/>
          <p:cNvSpPr/>
          <p:nvPr/>
        </p:nvSpPr>
        <p:spPr>
          <a:xfrm>
            <a:off x="795528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เวลาให้บริการ</a:t>
            </a:r>
            <a:endParaRPr lang="en-US" sz="1600" dirty="0"/>
          </a:p>
          <a:p>
            <a:pPr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จันทร์–ศุกร์ 08:30–17:30 น.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e Power Intranet">
  <a:themeElements>
    <a:clrScheme name="Prime Power Intranet">
      <a:dk1>
        <a:srgbClr val="1D2733"/>
      </a:dk1>
      <a:lt1>
        <a:srgbClr val="FFFFFF"/>
      </a:lt1>
      <a:dk2>
        <a:srgbClr val="00397A"/>
      </a:dk2>
      <a:lt2>
        <a:srgbClr val="F2F5F8"/>
      </a:lt2>
      <a:accent1>
        <a:srgbClr val="0067B8"/>
      </a:accent1>
      <a:accent2>
        <a:srgbClr val="00A94F"/>
      </a:accent2>
      <a:accent3>
        <a:srgbClr val="E8590C"/>
      </a:accent3>
      <a:accent4>
        <a:srgbClr val="4A9DE0"/>
      </a:accent4>
      <a:accent5>
        <a:srgbClr val="5C6A7A"/>
      </a:accent5>
      <a:accent6>
        <a:srgbClr val="F5B700"/>
      </a:accent6>
      <a:hlink>
        <a:srgbClr val="0067B8"/>
      </a:hlink>
      <a:folHlink>
        <a:srgbClr val="00397A"/>
      </a:folHlink>
    </a:clrScheme>
    <a:fontScheme name="Prime Power Intranet">
      <a:majorFont>
        <a:latin typeface="TH SarabunP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H SarabunP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Prime Power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อบรมการใช้งานระบบ Intranet Prime Power Group</dc:title>
  <dc:subject>PptxGenJS Presentation</dc:subject>
  <dc:creator>Prime Power Group</dc:creator>
  <cp:lastModifiedBy>Prime Power Group</cp:lastModifiedBy>
  <cp:revision>1</cp:revision>
  <dcterms:created xsi:type="dcterms:W3CDTF">2026-10-22T01:36:38Z</dcterms:created>
  <dcterms:modified xsi:type="dcterms:W3CDTF">2026-10-22T01:36:38Z</dcterms:modified>
</cp:coreProperties>
</file>